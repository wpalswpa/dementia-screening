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aveSubsetFonts="1" autoCompressPictures="0">
  <p:sldMasterIdLst>
    <p:sldMasterId id="2147483662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81" y="48"/>
      </p:cViewPr>
      <p:guideLst>
        <p:guide orient="horz" pos="2158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0F89C1C7-3DCD-1040-A9CF-14679D8B5DDD}" type="datetime1">
              <a:rPr lang="en-US"/>
              <a:pPr lvl="0">
                <a:defRPr/>
              </a:pPr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BB5E49A5-4136-284D-997B-48E1D791AD67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안녕하세요, 찾아조입니다. 저희는 병원 검사 없이 웨어러블 생활 기록만으로 치매 위험 신호를 걸러내는 스크리닝 서비스를 만들었습니다.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치매(알츠하이머병)는 단순 노화가 아니라 실제 사망원인 6위 질환입니다. 당뇨병, 고혈압보다 높습니다.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다른 만성질환은 관리가 되며 증가세가 둔화되는 동안, 알츠하이머병 사망률만 10년 새 175% 급증했습니다. 왜 하필 지금, 왜 하필 치매인가에 대한 답입니다.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저희도 처음에 의외였고, 그래서 숨기지 않고 그대로 보여드립니다. 이 반전이 분석의 방향을 바꿨습니다.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질문 대비: 정확도가 베이스라인보다 낮은 이유 — 무조건 정상 찍는 모델은 위험군을 한 명도 못 잡습니다. 스크리닝 도구로는 무의미합니다.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게이트 질문 대비: 검증의 목적은 무엇을 주장해도 되는지 정하는 것이었고, 정확히 그렇게 작동했습니다. 검증 결과가 실제로 서비스 문구를 바꿨습니다.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[적재 상세 — 구체적으로 어떻게 저장되냐는 질문 대비]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dirty="0" err="1">
                <a:solidFill>
                  <a:srgbClr val="FFFFFF"/>
                </a:solidFill>
                <a:latin typeface="맑은 고딕"/>
              </a:rPr>
              <a:t>치매</a:t>
            </a:r>
            <a:r>
              <a:rPr sz="4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맑은 고딕"/>
              </a:rPr>
              <a:t>위험</a:t>
            </a:r>
            <a:r>
              <a:rPr sz="4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맑은 고딕"/>
              </a:rPr>
              <a:t>조기</a:t>
            </a:r>
            <a:r>
              <a:rPr sz="4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맑은 고딕"/>
              </a:rPr>
              <a:t>스크리닝</a:t>
            </a:r>
            <a:r>
              <a:rPr sz="4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맑은 고딕"/>
              </a:rPr>
              <a:t>서비스</a:t>
            </a:r>
            <a:endParaRPr sz="4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BFD4F0"/>
                </a:solidFill>
                <a:latin typeface="맑은 고딕"/>
              </a:rPr>
              <a:t>웨어러블 생활 기록만으로, 병원에 가볼 이유를 먼저 알려주는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dirty="0">
                <a:solidFill>
                  <a:srgbClr val="FFFF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팀 </a:t>
            </a:r>
            <a:r>
              <a:rPr sz="2400" b="1" dirty="0" err="1">
                <a:solidFill>
                  <a:srgbClr val="FFFF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찾아조</a:t>
            </a:r>
            <a:endParaRPr sz="2400" b="1" dirty="0">
              <a:solidFill>
                <a:srgbClr val="FFFFFF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발표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01  문제의식 — 왜 치매인가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dirty="0" err="1">
                <a:solidFill>
                  <a:srgbClr val="666666"/>
                </a:solidFill>
                <a:latin typeface="맑은 고딕"/>
              </a:rPr>
              <a:t>다른</a:t>
            </a:r>
            <a:r>
              <a:rPr sz="16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666666"/>
                </a:solidFill>
                <a:latin typeface="맑은 고딕"/>
              </a:rPr>
              <a:t>만성질환과</a:t>
            </a:r>
            <a:r>
              <a:rPr sz="16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666666"/>
                </a:solidFill>
                <a:latin typeface="맑은 고딕"/>
              </a:rPr>
              <a:t>비교해도</a:t>
            </a:r>
            <a:r>
              <a:rPr sz="16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666666"/>
                </a:solidFill>
                <a:latin typeface="맑은 고딕"/>
              </a:rPr>
              <a:t>유독</a:t>
            </a:r>
            <a:r>
              <a:rPr sz="16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666666"/>
                </a:solidFill>
                <a:latin typeface="맑은 고딕"/>
              </a:rPr>
              <a:t>심각한</a:t>
            </a:r>
            <a:r>
              <a:rPr sz="16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666666"/>
                </a:solidFill>
                <a:latin typeface="맑은 고딕"/>
              </a:rPr>
              <a:t>질환</a:t>
            </a:r>
            <a:endParaRPr sz="1600" b="1" dirty="0">
              <a:solidFill>
                <a:srgbClr val="666666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02  데이터와 분석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AI Hub 웨어러블 라이프로그 174명, Q1~Q5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03  분석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핵심 발견: 활동량이 아니라 '패턴의 불규칙함'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04  검증 — 스스로에게 던진 두 가지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치매를 빼도 남는가 / 우연은 아닌가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05  서비스 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업로드 → 위험 점수 → 치매안심센터 지도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202020"/>
                </a:solidFill>
                <a:latin typeface="맑은 고딕"/>
              </a:rPr>
              <a:t>06 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결론과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한계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,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확장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방향</a:t>
            </a:r>
            <a:endParaRPr sz="2000" b="1" dirty="0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30" name="TextBox Team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찾아조  |  이제민(팀장·총괄) · 조성기(전처리 및 모델링) · 박용민(데이터 수집) · 정상천(통계 및 시각화)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치매는 국내 사망원인 6위 — 당뇨병보다 높다</a:t>
            </a:r>
          </a:p>
        </p:txBody>
      </p:sp>
      <p:pic>
        <p:nvPicPr>
          <p:cNvPr id="5" name="Picture 4" descr="ppt_3_death_r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지난 10년, 주요 만성질환 중 유일하게 급증 — +175%</a:t>
            </a:r>
          </a:p>
        </p:txBody>
      </p:sp>
      <p:pic>
        <p:nvPicPr>
          <p:cNvPr id="5" name="Picture 4" descr="ppt_4_chang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가장 오래, 가장 비싸게 관리해야 하는 질환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dirty="0">
                <a:solidFill>
                  <a:srgbClr val="FF0000"/>
                </a:solidFill>
                <a:latin typeface="맑은 고딕"/>
              </a:rPr>
              <a:t>1인당 연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내원일수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1위(37일) · 1인당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진료비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374만 원 —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당뇨병의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4~6배</a:t>
            </a:r>
          </a:p>
        </p:txBody>
      </p:sp>
      <p:pic>
        <p:nvPicPr>
          <p:cNvPr id="8" name="Picture 7" descr="ppt_5_visit_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331" y="1645920"/>
            <a:ext cx="5016137" cy="4389120"/>
          </a:xfrm>
          <a:prstGeom prst="rect">
            <a:avLst/>
          </a:prstGeom>
        </p:spPr>
      </p:pic>
      <p:pic>
        <p:nvPicPr>
          <p:cNvPr id="9" name="Picture 8" descr="ppt_5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491" y="1645920"/>
            <a:ext cx="501613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  <a:endParaRPr sz="16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환자는 늘고, 위험은 균등하지 않다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pic>
        <p:nvPicPr>
          <p:cNvPr id="5" name="Picture 4" descr="07_risk_factors_by_demographic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07393" y="1169670"/>
            <a:ext cx="6376909" cy="48558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/>
            </a:pPr>
            <a:r>
              <a:rPr sz="2000" b="1">
                <a:solidFill>
                  <a:srgbClr val="ff0000"/>
                </a:solidFill>
                <a:latin typeface="맑은 고딕"/>
              </a:rPr>
              <a:t>병원 검진이 어려운 </a:t>
            </a:r>
            <a:r>
              <a:rPr lang="ko-KR" altLang="en-US" sz="2000" b="1">
                <a:solidFill>
                  <a:srgbClr val="ff0000"/>
                </a:solidFill>
                <a:latin typeface="맑은 고딕"/>
              </a:rPr>
              <a:t>환경</a:t>
            </a:r>
            <a:r>
              <a:rPr sz="2000" b="1">
                <a:solidFill>
                  <a:srgbClr val="ff0000"/>
                </a:solidFill>
                <a:latin typeface="맑은 고딕"/>
              </a:rPr>
              <a:t>일수록 위험이 높은 역설</a:t>
            </a:r>
            <a:endParaRPr sz="2000" b="1">
              <a:solidFill>
                <a:srgbClr val="ff0000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6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  <a:endParaRPr sz="16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우리의 접근 — 병원에 가기 전, 생활 기록으로 먼저 </a:t>
            </a:r>
            <a:r>
              <a:rPr lang="ko-KR" altLang="en-US" sz="3000" b="1">
                <a:solidFill>
                  <a:srgbClr val="104281"/>
                </a:solidFill>
                <a:latin typeface="맑은 고딕"/>
              </a:rPr>
              <a:t>찾는다</a:t>
            </a:r>
            <a:endParaRPr lang="ko-KR" altLang="en-US"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202020"/>
                </a:solidFill>
                <a:latin typeface="맑은 고딕"/>
              </a:rPr>
              <a:t>경도인지장애(MCI) — 기억력은 떨어졌지만 아직 혼자 일상생활이 가능한, 치매 바로 전 단계</a:t>
            </a:r>
            <a:endParaRPr sz="23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23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202020"/>
                </a:solidFill>
                <a:latin typeface="맑은 고딕"/>
              </a:rPr>
              <a:t>이 단계에서 발견해야 진행을 늦출 수 있다 (연 10~15%가 치매로 진행)</a:t>
            </a:r>
            <a:endParaRPr sz="23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23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202020"/>
                </a:solidFill>
                <a:latin typeface="맑은 고딕"/>
              </a:rPr>
              <a:t>그러나 병원 검진이 어려운 사람일수록 발견이 늦다</a:t>
            </a:r>
            <a:endParaRPr sz="23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19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104281"/>
                </a:solidFill>
                <a:latin typeface="맑은 고딕"/>
              </a:rPr>
              <a:t>→ 웨어러블이 자동으로 쌓는 활동·수면 기록만으로 위험 신호를 </a:t>
            </a:r>
            <a:r>
              <a:rPr lang="ko-KR" altLang="en-US" sz="2300" b="1">
                <a:solidFill>
                  <a:srgbClr val="104281"/>
                </a:solidFill>
                <a:latin typeface="맑은 고딕"/>
              </a:rPr>
              <a:t>잡아</a:t>
            </a:r>
            <a:r>
              <a:rPr sz="2300" b="1">
                <a:solidFill>
                  <a:srgbClr val="104281"/>
                </a:solidFill>
                <a:latin typeface="맑은 고딕"/>
              </a:rPr>
              <a:t>내,</a:t>
            </a:r>
            <a:endParaRPr sz="2300" b="1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104281"/>
                </a:solidFill>
                <a:latin typeface="맑은 고딕"/>
              </a:rPr>
              <a:t>   "병원에 가볼 이유가 있는지"를 먼저 알려주는 스크리닝 도구</a:t>
            </a:r>
            <a:endParaRPr sz="2300" b="1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19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ff0000"/>
                </a:solidFill>
                <a:latin typeface="맑은 고딕"/>
              </a:rPr>
              <a:t>진단이 아니라 스크리닝 — 진단·치료는 전적으로 의료기관의 영역</a:t>
            </a:r>
            <a:endParaRPr sz="2000" b="1">
              <a:solidFill>
                <a:srgbClr val="ff000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7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AI Hub 치매 고위험군 웨어러블 라이프로그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052348"/>
              </p:ext>
            </p:extLst>
          </p:nvPr>
        </p:nvGraphicFramePr>
        <p:xfrm>
          <a:off x="822960" y="1648487"/>
          <a:ext cx="10515600" cy="4363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2655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 dirty="0" err="1">
                          <a:solidFill>
                            <a:srgbClr val="104281"/>
                          </a:solidFill>
                          <a:latin typeface="맑은 고딕"/>
                        </a:rPr>
                        <a:t>수집</a:t>
                      </a:r>
                      <a:r>
                        <a:rPr sz="2100" b="1" dirty="0">
                          <a:solidFill>
                            <a:srgbClr val="104281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104281"/>
                          </a:solidFill>
                          <a:latin typeface="맑은 고딕"/>
                        </a:rPr>
                        <a:t>도구</a:t>
                      </a:r>
                      <a:endParaRPr sz="2100" b="1" dirty="0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64592" marT="128016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>
                          <a:solidFill>
                            <a:srgbClr val="202020"/>
                          </a:solidFill>
                          <a:latin typeface="맑은 고딕"/>
                        </a:rPr>
                        <a:t>Oura ring(반지형 웨어러블) — 일 단위 활동·수면 자동 기록</a:t>
                      </a:r>
                    </a:p>
                  </a:txBody>
                  <a:tcPr marL="164592" marT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2655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>
                          <a:solidFill>
                            <a:srgbClr val="104281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164592" marT="128016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174명 ×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사람당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28~118일(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평균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66일) = 11,499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사람×일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기록</a:t>
                      </a:r>
                      <a:endParaRPr sz="2100" b="1" dirty="0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64592" marT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2655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>
                          <a:solidFill>
                            <a:srgbClr val="104281"/>
                          </a:solidFill>
                          <a:latin typeface="맑은 고딕"/>
                        </a:rPr>
                        <a:t>진단 라벨</a:t>
                      </a:r>
                    </a:p>
                  </a:txBody>
                  <a:tcPr marL="164592" marT="128016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정상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(CN) 111명 ·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경도인지장애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(MCI) 51명 ·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치매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(Dem) 12명 </a:t>
                      </a:r>
                    </a:p>
                    <a:p>
                      <a:pPr lvl="0" algn="ctr">
                        <a:defRPr/>
                      </a:pP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—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의사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진단</a:t>
                      </a:r>
                      <a:endParaRPr sz="2100" b="1" dirty="0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64592" marT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655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>
                          <a:solidFill>
                            <a:srgbClr val="104281"/>
                          </a:solidFill>
                          <a:latin typeface="맑은 고딕"/>
                        </a:rPr>
                        <a:t>분류 대상</a:t>
                      </a:r>
                    </a:p>
                  </a:txBody>
                  <a:tcPr marL="164592" marT="128016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정상군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111명  vs 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위험군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(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경도인지장애+치매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) 63명</a:t>
                      </a:r>
                    </a:p>
                  </a:txBody>
                  <a:tcPr marL="164592" marT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2655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>
                          <a:solidFill>
                            <a:srgbClr val="104281"/>
                          </a:solidFill>
                          <a:latin typeface="맑은 고딕"/>
                        </a:rPr>
                        <a:t>입력 제외</a:t>
                      </a:r>
                    </a:p>
                  </a:txBody>
                  <a:tcPr marL="164592" marT="128016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MMSE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검사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점수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—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진단에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이미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쓰인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정답이므로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제외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</a:p>
                    <a:p>
                      <a:pPr lvl="0" algn="ctr">
                        <a:defRPr/>
                      </a:pP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(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순환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논리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 </a:t>
                      </a:r>
                      <a:r>
                        <a:rPr sz="2100" b="1" dirty="0" err="1">
                          <a:solidFill>
                            <a:srgbClr val="202020"/>
                          </a:solidFill>
                          <a:latin typeface="맑은 고딕"/>
                        </a:rPr>
                        <a:t>방지</a:t>
                      </a:r>
                      <a:r>
                        <a:rPr sz="21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64592" marT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하루 기록 11,499개를 '사람 단위 지표' 44개로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54450"/>
            <a:ext cx="10859368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200" b="1" dirty="0">
                <a:solidFill>
                  <a:srgbClr val="202020"/>
                </a:solidFill>
                <a:latin typeface="맑은 고딕"/>
              </a:rPr>
              <a:t>①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신뢰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필터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—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반지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미착용이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긴 날(180분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이상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)은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그날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기록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전체를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제외</a:t>
            </a:r>
            <a:endParaRPr sz="22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22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200" b="1" dirty="0">
                <a:solidFill>
                  <a:srgbClr val="202020"/>
                </a:solidFill>
                <a:latin typeface="맑은 고딕"/>
              </a:rPr>
              <a:t>②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매칭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—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활동·수면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기록을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사람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기준으로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진단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결과와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연결</a:t>
            </a:r>
            <a:r>
              <a:rPr lang="en-US"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(174명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전원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확인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)</a:t>
            </a:r>
          </a:p>
          <a:p>
            <a:pPr algn="l">
              <a:spcAft>
                <a:spcPts val="600"/>
              </a:spcAft>
              <a:defRPr/>
            </a:pPr>
            <a:endParaRPr sz="22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200" b="1" dirty="0">
                <a:solidFill>
                  <a:srgbClr val="202020"/>
                </a:solidFill>
                <a:latin typeface="맑은 고딕"/>
              </a:rPr>
              <a:t>③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요약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—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사람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1명당 28~118일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기록을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지표별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평균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(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수준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) </a:t>
            </a:r>
            <a:endParaRPr lang="en-US" sz="22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lang="en-US" sz="2200" b="1" dirty="0">
                <a:solidFill>
                  <a:srgbClr val="202020"/>
                </a:solidFill>
                <a:latin typeface="맑은 고딕"/>
              </a:rPr>
              <a:t>											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+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표준편차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(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들쭉날쭉함</a:t>
            </a:r>
            <a:r>
              <a:rPr sz="2200" b="1" dirty="0">
                <a:solidFill>
                  <a:srgbClr val="202020"/>
                </a:solidFill>
                <a:latin typeface="맑은 고딕"/>
              </a:rPr>
              <a:t>)로 </a:t>
            </a:r>
            <a:r>
              <a:rPr sz="2200" b="1" dirty="0" err="1">
                <a:solidFill>
                  <a:srgbClr val="202020"/>
                </a:solidFill>
                <a:latin typeface="맑은 고딕"/>
              </a:rPr>
              <a:t>압축</a:t>
            </a:r>
            <a:endParaRPr sz="22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lang="en-US" sz="2200" b="1" dirty="0">
                <a:solidFill>
                  <a:srgbClr val="104281"/>
                </a:solidFill>
                <a:latin typeface="맑은 고딕"/>
              </a:rPr>
              <a:t>	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→ 174명 × 44개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지표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테이블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완성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endParaRPr lang="en-US" sz="2200" b="1" dirty="0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lang="en-US" sz="2200" b="1" dirty="0">
                <a:solidFill>
                  <a:srgbClr val="104281"/>
                </a:solidFill>
                <a:latin typeface="맑은 고딕"/>
              </a:rPr>
              <a:t>						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—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이후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모든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분석·모델·서비스가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이 표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하나에서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출발</a:t>
            </a:r>
            <a:endParaRPr sz="2200" b="1" dirty="0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FF0000"/>
                </a:solidFill>
                <a:latin typeface="맑은 고딕"/>
              </a:rPr>
              <a:t>전처리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기준은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전부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코드로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고정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—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같은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원본을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넣으면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누가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실행해도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같은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표가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나온다</a:t>
            </a:r>
            <a:endParaRPr sz="2000" b="1" dirty="0">
              <a:solidFill>
                <a:srgbClr val="FF000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02. 데이터와 분석 질문</a:t>
            </a:r>
            <a:endParaRPr sz="16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Q1~Q5 — 검증을 통과해야 서비스로 간다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10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1737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A78D6"/>
                </a:solidFill>
                <a:latin typeface="맑은 고딕"/>
              </a:rPr>
              <a:t>Q1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1755648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02020"/>
                </a:solidFill>
                <a:latin typeface="맑은 고딕"/>
              </a:rPr>
              <a:t>정상/경도인지장애/치매 그룹별로 활동량과 수면 패턴은 어떻게 다른가?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51460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A78D6"/>
                </a:solidFill>
                <a:latin typeface="맑은 고딕"/>
              </a:rPr>
              <a:t>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532888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02020"/>
                </a:solidFill>
                <a:latin typeface="맑은 고딕"/>
              </a:rPr>
              <a:t>병원 검사(MMSE) 없이 웨어러블 기록만으로 위험군 여부를 걸러낼 수 있는가?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2918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A78D6"/>
                </a:solidFill>
                <a:latin typeface="맑은 고딕"/>
              </a:rPr>
              <a:t>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310128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02020"/>
                </a:solidFill>
                <a:latin typeface="맑은 고딕"/>
              </a:rPr>
              <a:t>웨어러블 지표 중 위험군 판별에 가장 크게 기여하는 지표는 무엇인가?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0690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A78D6"/>
                </a:solidFill>
                <a:latin typeface="맑은 고딕"/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087368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02020"/>
                </a:solidFill>
                <a:latin typeface="맑은 고딕"/>
              </a:rPr>
              <a:t>Q2·Q3의 신호는 치매를 제외한 정상군-경도인지장애군 비교에서도 유지되는가?   ← 검증 게이트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463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A78D6"/>
                </a:solidFill>
                <a:latin typeface="맑은 고딕"/>
              </a:rPr>
              <a:t>Q5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864607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02020"/>
                </a:solidFill>
                <a:latin typeface="맑은 고딕"/>
              </a:rPr>
              <a:t>Q2에서 얻는 성능 개선은 우연이 아니라 통계적으로 의미 있는 수준인가?   ← 검증 게이트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66666"/>
                </a:solidFill>
                <a:latin typeface="맑은 고딕"/>
              </a:rPr>
              <a:t>계획서 원칙: Q4·Q5 검증 결과에 따라 서비스가 주장할 수 있는 범위를 정한다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첫 번째 반전 — 걸음수는 위험군이 오히려 많다</a:t>
            </a:r>
          </a:p>
        </p:txBody>
      </p:sp>
      <p:pic>
        <p:nvPicPr>
          <p:cNvPr id="5" name="Picture 4" descr="01_activity_by_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64208"/>
            <a:ext cx="5669280" cy="45354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일평균 걸음수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C44E52"/>
                </a:solidFill>
                <a:latin typeface="맑은 고딕"/>
              </a:rPr>
              <a:t>정상 10,635  &lt;  경도인지장애 11,383</a:t>
            </a:r>
          </a:p>
          <a:p>
            <a:pPr algn="l">
              <a:spcAft>
                <a:spcPts val="600"/>
              </a:spcAft>
            </a:pPr>
            <a:endParaRPr sz="2100" b="1">
              <a:solidFill>
                <a:srgbClr val="C44E52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"활동량이 줄면 위험군"이라는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단순한 가설은 성립하지 않았다</a:t>
            </a:r>
          </a:p>
          <a:p>
            <a:pPr algn="l">
              <a:spcAft>
                <a:spcPts val="600"/>
              </a:spcAft>
            </a:pPr>
            <a:endParaRPr sz="19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→ 평균이 아니라,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   "날마다 얼마나 들쭉날쭉한가"로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   시선을 돌리게 된 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핵심 신호는 '생활 패턴의 불규칙함'이었다</a:t>
            </a:r>
          </a:p>
        </p:txBody>
      </p:sp>
      <p:pic>
        <p:nvPicPr>
          <p:cNvPr id="5" name="Picture 4" descr="04_feature_importanc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666666"/>
                </a:solidFill>
                <a:latin typeface="맑은 고딕"/>
              </a:rPr>
              <a:t>50번 반복 검증에서 가장 안정적으로 뽑힌 지표</a:t>
            </a:r>
          </a:p>
          <a:p>
            <a:pPr algn="l">
              <a:spcAft>
                <a:spcPts val="600"/>
              </a:spcAft>
              <a:defRPr/>
            </a:pPr>
            <a:endParaRPr sz="17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1위  저강도 활동 시간의 변동성 (50/50회)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2위  수면 중 뒤척임의 변동성 (48/50회)</a:t>
            </a:r>
          </a:p>
          <a:p>
            <a:pPr algn="l">
              <a:spcAft>
                <a:spcPts val="600"/>
              </a:spcAft>
              <a:defRPr/>
            </a:pPr>
            <a:endParaRPr sz="17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인지기능이 흔들리면, 매일 비슷하게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자고 움직이는 '일상 루틴 유지 능력'이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먼저 무너진다는 해석과 일치 (상관관계)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모델 성능 — 데이터를 50번 다르게 나눠 반복 시험한 평균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223743"/>
              </p:ext>
            </p:extLst>
          </p:nvPr>
        </p:nvGraphicFramePr>
        <p:xfrm>
          <a:off x="731520" y="1645920"/>
          <a:ext cx="1059320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6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71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7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7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dirty="0"/>
                    </a:p>
                  </a:txBody>
                  <a:tcPr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위험군 재현율</a:t>
                      </a:r>
                    </a:p>
                  </a:txBody>
                  <a:tcPr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AUC</a:t>
                      </a:r>
                    </a:p>
                  </a:txBody>
                  <a:tcPr anchor="ctr">
                    <a:solidFill>
                      <a:srgbClr val="1042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202020"/>
                          </a:solidFill>
                          <a:latin typeface="맑은 고딕"/>
                        </a:rPr>
                        <a:t>무조건 "정상" 예측 (베이스라인)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63.8%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202020"/>
                          </a:solidFill>
                          <a:latin typeface="맑은 고딕"/>
                        </a:rPr>
                        <a:t>0%  (전원 놓침)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202020"/>
                          </a:solidFill>
                          <a:latin typeface="맑은 고딕"/>
                        </a:rPr>
                        <a:t>0.5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202020"/>
                          </a:solidFill>
                          <a:latin typeface="맑은 고딕"/>
                        </a:rPr>
                        <a:t>RandomForest (교체 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58.0%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 dirty="0">
                          <a:solidFill>
                            <a:srgbClr val="202020"/>
                          </a:solidFill>
                          <a:latin typeface="맑은 고딕"/>
                        </a:rPr>
                        <a:t>38.7%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202020"/>
                          </a:solidFill>
                          <a:latin typeface="맑은 고딕"/>
                        </a:rPr>
                        <a:t>0.549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C44E52"/>
                          </a:solidFill>
                          <a:latin typeface="맑은 고딕"/>
                        </a:rPr>
                        <a:t>로지스틱 회귀 (최종)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>
                          <a:solidFill>
                            <a:srgbClr val="C44E52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 dirty="0">
                          <a:solidFill>
                            <a:srgbClr val="C44E52"/>
                          </a:solidFill>
                          <a:latin typeface="맑은 고딕"/>
                        </a:rPr>
                        <a:t>52.7%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defRPr/>
                      </a:pPr>
                      <a:r>
                        <a:rPr sz="1600" b="1" dirty="0">
                          <a:solidFill>
                            <a:srgbClr val="C44E52"/>
                          </a:solidFill>
                          <a:latin typeface="맑은 고딕"/>
                        </a:rPr>
                        <a:t>0.601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519405"/>
            <a:ext cx="10698480" cy="147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/>
            </a:pPr>
            <a:r>
              <a:rPr sz="2100" b="1">
                <a:solidFill>
                  <a:srgbClr val="104281"/>
                </a:solidFill>
                <a:latin typeface="맑은 고딕"/>
              </a:rPr>
              <a:t>스크리닝의 선택: 정확도 3.6%p를 내주고, 위험군의 절반 이상(52.7%)을 잡는다</a:t>
            </a:r>
          </a:p>
          <a:p>
            <a:pPr>
              <a:spcAft>
                <a:spcPts val="500"/>
              </a:spcAft>
              <a:defRPr/>
            </a:pPr>
            <a:r>
              <a:rPr sz="1900" b="1">
                <a:solidFill>
                  <a:srgbClr val="202020"/>
                </a:solidFill>
                <a:latin typeface="맑은 고딕"/>
              </a:rPr>
              <a:t>· 위험군을 놓치면 병원 갈 기회 상실 — 정상인 안내는 무료 검진 한 번</a:t>
            </a:r>
          </a:p>
          <a:p>
            <a:pPr>
              <a:spcAft>
                <a:spcPts val="500"/>
              </a:spcAft>
              <a:defRPr/>
            </a:pPr>
            <a:r>
              <a:rPr sz="1900" b="1">
                <a:solidFill>
                  <a:srgbClr val="202020"/>
                </a:solidFill>
                <a:latin typeface="맑은 고딕"/>
              </a:rPr>
              <a:t>· 주 지표는 임계값에 안 묶이는 AUC (의료 스크리닝의 관례)</a:t>
            </a:r>
          </a:p>
          <a:p>
            <a:pPr>
              <a:spcAft>
                <a:spcPts val="500"/>
              </a:spcAft>
              <a:defRPr/>
            </a:pPr>
            <a:r>
              <a:rPr sz="1900" b="1">
                <a:solidFill>
                  <a:srgbClr val="202020"/>
                </a:solidFill>
                <a:latin typeface="맑은 고딕"/>
              </a:rPr>
              <a:t>· 소표본에선 단순한 로지스틱 회귀가 랜덤포레스트보다 안정적 — 3종 비교로 확인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04. 검증</a:t>
            </a:r>
            <a:endParaRPr sz="16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Q</a:t>
            </a:r>
            <a:r>
              <a:rPr lang="en-US" altLang="ko-KR" sz="3000" b="1">
                <a:solidFill>
                  <a:srgbClr val="104281"/>
                </a:solidFill>
                <a:latin typeface="맑은 고딕"/>
              </a:rPr>
              <a:t>4</a:t>
            </a:r>
            <a:r>
              <a:rPr sz="3000" b="1">
                <a:solidFill>
                  <a:srgbClr val="104281"/>
                </a:solidFill>
                <a:latin typeface="맑은 고딕"/>
              </a:rPr>
              <a:t> — 치매 12명을 빼도 신호가 남는가?  →  아니오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875347"/>
            <a:ext cx="10845478" cy="3809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100" b="1">
                <a:solidFill>
                  <a:srgbClr val="202020"/>
                </a:solidFill>
                <a:latin typeface="맑은 고딕"/>
              </a:rPr>
              <a:t>치매를 완전히 제외하고 정상 111명 vs 경도인지장애 51명만으로 재검증</a:t>
            </a:r>
            <a:endParaRPr sz="21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기존 44개 지표 → 정확도 55.3% (전부 "정상"이라 답하는 기준선 68.5%에도 미달)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시계열 지표 추가 → 여전히 미달   · 모델을 바꿔도 → 동일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200" b="1">
                <a:solidFill>
                  <a:srgbClr val="c44e52"/>
                </a:solidFill>
                <a:latin typeface="맑은 고딕"/>
              </a:rPr>
              <a:t>세 번 시도, 같은 결론: 경도인지장애 '단독' 조기 신호는 현재 데이터로는 못 찾았다</a:t>
            </a:r>
            <a:endParaRPr sz="2200" b="1">
              <a:solidFill>
                <a:srgbClr val="c44e52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200" b="1">
                <a:solidFill>
                  <a:srgbClr val="104281"/>
                </a:solidFill>
                <a:latin typeface="맑은 고딕"/>
              </a:rPr>
              <a:t>검증이 실제로 한 일 — 서비스 주장 범위를 바꿨다</a:t>
            </a:r>
            <a:endParaRPr sz="2200" b="1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"경도인지장애를 조기 진단한다"  →  사용 금지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"위험군(경도인지장애+치매)을 걸러 검진으로 안내한다"  →  이 범위만 주장</a:t>
            </a:r>
            <a:endParaRPr sz="2000" b="1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14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04. 검증</a:t>
            </a:r>
            <a:endParaRPr sz="16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689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Q</a:t>
            </a:r>
            <a:r>
              <a:rPr lang="en-US" altLang="ko-KR" sz="3000" b="1">
                <a:solidFill>
                  <a:srgbClr val="104281"/>
                </a:solidFill>
                <a:latin typeface="맑은 고딕"/>
              </a:rPr>
              <a:t>5</a:t>
            </a:r>
            <a:r>
              <a:rPr sz="3000" b="1">
                <a:solidFill>
                  <a:srgbClr val="104281"/>
                </a:solidFill>
                <a:latin typeface="맑은 고딕"/>
              </a:rPr>
              <a:t> — 우연은 아닌가?  →  구분 능력은 진짜다 (우연일 확률 0.6%)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pic>
        <p:nvPicPr>
          <p:cNvPr id="5" name="Picture 4" descr="11_permutation_test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666666"/>
                </a:solidFill>
                <a:latin typeface="맑은 고딕"/>
              </a:rPr>
              <a:t>정답(진단 결과)을 일부러 뒤섞은 가짜 데이터 500개와 비교</a:t>
            </a:r>
            <a:endParaRPr b="1">
              <a:solidFill>
                <a:srgbClr val="666666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1700" b="1">
              <a:solidFill>
                <a:srgbClr val="666666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100" b="1">
                <a:solidFill>
                  <a:srgbClr val="104281"/>
                </a:solidFill>
                <a:latin typeface="맑은 고딕"/>
              </a:rPr>
              <a:t>정확도  p = 0.006</a:t>
            </a:r>
            <a:endParaRPr sz="2100" b="1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202020"/>
                </a:solidFill>
                <a:latin typeface="맑은 고딕"/>
              </a:rPr>
              <a:t>→ 우연히 나올 확률 0.6%. 통과</a:t>
            </a: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17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100" b="1">
                <a:solidFill>
                  <a:srgbClr val="c44e52"/>
                </a:solidFill>
                <a:latin typeface="맑은 고딕"/>
              </a:rPr>
              <a:t>재현율  p = 0.132</a:t>
            </a:r>
            <a:endParaRPr sz="2100" b="1">
              <a:solidFill>
                <a:srgbClr val="c44e52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202020"/>
                </a:solidFill>
                <a:latin typeface="맑은 고딕"/>
              </a:rPr>
              <a:t>→ 통계적으로 단정 불가.</a:t>
            </a: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202020"/>
                </a:solidFill>
                <a:latin typeface="맑은 고딕"/>
              </a:rPr>
              <a:t>→ 그래서 "52.7%를 잡아낸다"고</a:t>
            </a: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202020"/>
                </a:solidFill>
                <a:latin typeface="맑은 고딕"/>
              </a:rPr>
              <a:t>   수치를 못박지 않는다</a:t>
            </a:r>
            <a:endParaRPr b="1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/>
            </a:pPr>
            <a:r>
              <a:rPr sz="2000" b="1">
                <a:solidFill>
                  <a:srgbClr val="ff0000"/>
                </a:solidFill>
                <a:latin typeface="맑은 고딕"/>
              </a:rPr>
              <a:t>숫자를 좋게 만드는 대신, 말할 수 있는 것과 없는 것을 정확히 갈랐습니다</a:t>
            </a:r>
            <a:endParaRPr sz="2000" b="1">
              <a:solidFill>
                <a:srgbClr val="ff0000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15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 dirty="0">
                <a:solidFill>
                  <a:srgbClr val="104281"/>
                </a:solidFill>
                <a:latin typeface="맑은 고딕"/>
              </a:rPr>
              <a:t>웹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스크리닝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서비스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(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FastAPI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) —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업로드에서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안내까지</a:t>
            </a:r>
            <a:endParaRPr sz="30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 dirty="0">
                <a:solidFill>
                  <a:srgbClr val="104281"/>
                </a:solidFill>
                <a:latin typeface="맑은 고딕"/>
              </a:rPr>
              <a:t>① 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생활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기록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CSV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업로드</a:t>
            </a:r>
            <a:endParaRPr sz="23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202020"/>
                </a:solidFill>
                <a:latin typeface="맑은 고딕"/>
              </a:rPr>
              <a:t>웨어러블에서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내려받은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기록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파일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·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유효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기록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</a:p>
          <a:p>
            <a:pPr algn="l">
              <a:spcAft>
                <a:spcPts val="600"/>
              </a:spcAft>
              <a:defRPr/>
            </a:pPr>
            <a:r>
              <a:rPr sz="2000" b="1" dirty="0">
                <a:solidFill>
                  <a:srgbClr val="202020"/>
                </a:solidFill>
                <a:latin typeface="맑은 고딕"/>
              </a:rPr>
              <a:t>14일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미만이면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판정하지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않음</a:t>
            </a:r>
            <a:endParaRPr sz="2000" b="1" dirty="0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2520000"/>
            <a:ext cx="4754880" cy="437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 dirty="0">
                <a:solidFill>
                  <a:srgbClr val="104281"/>
                </a:solidFill>
                <a:latin typeface="맑은 고딕"/>
              </a:rPr>
              <a:t>② 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위험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점수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산출</a:t>
            </a:r>
            <a:endParaRPr sz="23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120640" y="2520000"/>
            <a:ext cx="667512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202020"/>
                </a:solidFill>
                <a:latin typeface="맑은 고딕"/>
              </a:rPr>
              <a:t>학습과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동일한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지표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계산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</a:p>
          <a:p>
            <a:pPr algn="l">
              <a:spcAft>
                <a:spcPts val="600"/>
              </a:spcAft>
              <a:defRPr/>
            </a:pPr>
            <a:r>
              <a:rPr lang="en-US" sz="2000" b="1" dirty="0">
                <a:solidFill>
                  <a:srgbClr val="202020"/>
                </a:solidFill>
                <a:latin typeface="맑은 고딕"/>
              </a:rPr>
              <a:t>		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→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검증된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모델로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예측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(0~1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점수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 dirty="0">
                <a:solidFill>
                  <a:srgbClr val="104281"/>
                </a:solidFill>
                <a:latin typeface="맑은 고딕"/>
              </a:rPr>
              <a:t>③ 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판단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근거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제시</a:t>
            </a:r>
            <a:endParaRPr sz="23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202020"/>
                </a:solidFill>
                <a:latin typeface="맑은 고딕"/>
              </a:rPr>
              <a:t>정상군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평균과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가장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크게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다른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지표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3가지를</a:t>
            </a:r>
            <a:r>
              <a:rPr lang="en-US"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그래프로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비교</a:t>
            </a:r>
            <a:endParaRPr sz="2000" b="1" dirty="0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176000"/>
            <a:ext cx="4754880" cy="440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 dirty="0">
                <a:solidFill>
                  <a:srgbClr val="104281"/>
                </a:solidFill>
                <a:latin typeface="맑은 고딕"/>
              </a:rPr>
              <a:t>④ 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치매안심센터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연결</a:t>
            </a:r>
            <a:endParaRPr sz="23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20640" y="4176000"/>
            <a:ext cx="667512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202020"/>
                </a:solidFill>
                <a:latin typeface="맑은 고딕"/>
              </a:rPr>
              <a:t>공공데이터포털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전국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317곳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연동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</a:p>
          <a:p>
            <a:pPr algn="l">
              <a:spcAft>
                <a:spcPts val="600"/>
              </a:spcAft>
              <a:defRPr/>
            </a:pPr>
            <a:r>
              <a:rPr lang="en-US" sz="2000" b="1" dirty="0">
                <a:solidFill>
                  <a:srgbClr val="202020"/>
                </a:solidFill>
                <a:latin typeface="맑은 고딕"/>
              </a:rPr>
              <a:t>		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— 내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위치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기준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가까운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순,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지도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표시</a:t>
            </a:r>
            <a:endParaRPr sz="2000" b="1" dirty="0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" y="5004000"/>
            <a:ext cx="4754880" cy="437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 dirty="0">
                <a:solidFill>
                  <a:srgbClr val="104281"/>
                </a:solidFill>
                <a:latin typeface="맑은 고딕"/>
              </a:rPr>
              <a:t>⑤ 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한계</a:t>
            </a:r>
            <a:r>
              <a:rPr sz="23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104281"/>
                </a:solidFill>
                <a:latin typeface="맑은 고딕"/>
              </a:rPr>
              <a:t>고지</a:t>
            </a:r>
            <a:endParaRPr sz="23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20640" y="5004000"/>
            <a:ext cx="667512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000" b="1" dirty="0">
                <a:solidFill>
                  <a:srgbClr val="202020"/>
                </a:solidFill>
                <a:latin typeface="맑은 고딕"/>
              </a:rPr>
              <a:t>"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진단이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아닌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참고용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·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표본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174명" </a:t>
            </a:r>
          </a:p>
          <a:p>
            <a:pPr algn="l">
              <a:spcAft>
                <a:spcPts val="600"/>
              </a:spcAft>
              <a:defRPr/>
            </a:pPr>
            <a:r>
              <a:rPr lang="en-US" sz="2000" b="1" dirty="0">
                <a:solidFill>
                  <a:srgbClr val="202020"/>
                </a:solidFill>
                <a:latin typeface="맑은 고딕"/>
              </a:rPr>
              <a:t>		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—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모든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결과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화면에</a:t>
            </a:r>
            <a:r>
              <a:rPr sz="20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02020"/>
                </a:solidFill>
                <a:latin typeface="맑은 고딕"/>
              </a:rPr>
              <a:t>명시</a:t>
            </a:r>
            <a:endParaRPr sz="2000" b="1" dirty="0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4400" y="6192000"/>
            <a:ext cx="110075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FF0000"/>
                </a:solidFill>
                <a:latin typeface="맑은 고딕"/>
              </a:rPr>
              <a:t>모델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파일만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갈아끼우면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서비스가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그대로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새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모델을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쓰는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구조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—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데이터가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좋아지면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즉시</a:t>
            </a:r>
            <a:r>
              <a:rPr sz="20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FF0000"/>
                </a:solidFill>
                <a:latin typeface="맑은 고딕"/>
              </a:rPr>
              <a:t>반영</a:t>
            </a:r>
            <a:endParaRPr sz="2000" b="1" dirty="0">
              <a:solidFill>
                <a:srgbClr val="FF0000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시연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75157"/>
            <a:ext cx="1060704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500" b="1" dirty="0">
                <a:solidFill>
                  <a:srgbClr val="202020"/>
                </a:solidFill>
                <a:latin typeface="맑은 고딕"/>
              </a:rPr>
              <a:t>1. 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정상군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샘플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업로드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 → 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위험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점수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0.29, "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뚜렷한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위험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신호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없음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"</a:t>
            </a:r>
          </a:p>
          <a:p>
            <a:pPr algn="l">
              <a:spcAft>
                <a:spcPts val="600"/>
              </a:spcAft>
              <a:defRPr/>
            </a:pPr>
            <a:endParaRPr sz="20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500" b="1" dirty="0">
                <a:solidFill>
                  <a:srgbClr val="202020"/>
                </a:solidFill>
                <a:latin typeface="맑은 고딕"/>
              </a:rPr>
              <a:t>2. 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위험군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샘플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업로드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 → 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위험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점수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0.644, "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위험군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추정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"</a:t>
            </a:r>
          </a:p>
          <a:p>
            <a:pPr algn="l">
              <a:spcAft>
                <a:spcPts val="600"/>
              </a:spcAft>
              <a:defRPr/>
            </a:pPr>
            <a:r>
              <a:rPr sz="2100" b="1" dirty="0">
                <a:solidFill>
                  <a:srgbClr val="666666"/>
                </a:solidFill>
                <a:latin typeface="맑은 고딕"/>
              </a:rPr>
              <a:t>    </a:t>
            </a:r>
            <a:r>
              <a:rPr lang="en-US" sz="2100" b="1" dirty="0">
                <a:solidFill>
                  <a:srgbClr val="666666"/>
                </a:solidFill>
                <a:latin typeface="맑은 고딕"/>
              </a:rPr>
              <a:t>		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 ·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근거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: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활동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/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수면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변동성이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정상군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평균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대비</a:t>
            </a:r>
            <a:r>
              <a:rPr sz="21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666666"/>
                </a:solidFill>
                <a:latin typeface="맑은 고딕"/>
              </a:rPr>
              <a:t>높음</a:t>
            </a:r>
            <a:endParaRPr sz="2100" b="1" dirty="0">
              <a:solidFill>
                <a:srgbClr val="666666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20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500" b="1" dirty="0">
                <a:solidFill>
                  <a:srgbClr val="202020"/>
                </a:solidFill>
                <a:latin typeface="맑은 고딕"/>
              </a:rPr>
              <a:t>3.  "내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위치에서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가까운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센터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찾기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"  </a:t>
            </a:r>
          </a:p>
          <a:p>
            <a:pPr algn="l">
              <a:spcAft>
                <a:spcPts val="600"/>
              </a:spcAft>
              <a:defRPr/>
            </a:pPr>
            <a:r>
              <a:rPr lang="en-US" sz="2500" b="1" dirty="0">
                <a:solidFill>
                  <a:srgbClr val="202020"/>
                </a:solidFill>
                <a:latin typeface="맑은 고딕"/>
              </a:rPr>
              <a:t>		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→ 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지도에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가까운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치매안심센터</a:t>
            </a:r>
            <a:r>
              <a:rPr sz="2500" b="1" dirty="0">
                <a:solidFill>
                  <a:srgbClr val="202020"/>
                </a:solidFill>
                <a:latin typeface="맑은 고딕"/>
              </a:rPr>
              <a:t> 5곳 + </a:t>
            </a:r>
            <a:r>
              <a:rPr sz="2500" b="1" dirty="0" err="1">
                <a:solidFill>
                  <a:srgbClr val="202020"/>
                </a:solidFill>
                <a:latin typeface="맑은 고딕"/>
              </a:rPr>
              <a:t>전화번호</a:t>
            </a:r>
            <a:endParaRPr sz="25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sz="20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 dirty="0" err="1">
                <a:solidFill>
                  <a:srgbClr val="666666"/>
                </a:solidFill>
                <a:latin typeface="맑은 고딕"/>
              </a:rPr>
              <a:t>다음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두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페이지가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실제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서비스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화면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endParaRPr lang="en-US" sz="2000" b="1" dirty="0">
              <a:solidFill>
                <a:srgbClr val="666666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lang="en-US" sz="2000" b="1" dirty="0">
                <a:solidFill>
                  <a:srgbClr val="666666"/>
                </a:solidFill>
                <a:latin typeface="맑은 고딕"/>
              </a:rPr>
              <a:t>				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—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발표에서는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라이브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시연을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우선하고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,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시연이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어려우면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화면으로</a:t>
            </a:r>
            <a:r>
              <a:rPr sz="2000" b="1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666666"/>
                </a:solidFill>
                <a:latin typeface="맑은 고딕"/>
              </a:rPr>
              <a:t>대체</a:t>
            </a:r>
            <a:endParaRPr sz="2000" b="1" dirty="0">
              <a:solidFill>
                <a:srgbClr val="666666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시연 화면 ① — 업로드 → 위험 점수 → 판단 근거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710314" y="1645920"/>
            <a:ext cx="5550942" cy="411480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581296" y="1645920"/>
            <a:ext cx="4900389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시연 화면 ② — 내 기록 추이 → 치매안심센터 안내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1221553" y="1645920"/>
            <a:ext cx="4744601" cy="438912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331914" y="1645920"/>
            <a:ext cx="4638532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 dirty="0" err="1">
                <a:solidFill>
                  <a:srgbClr val="104281"/>
                </a:solidFill>
                <a:latin typeface="맑은 고딕"/>
              </a:rPr>
              <a:t>업로드는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사라지지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않는다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—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적재·재학습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파이프라인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56000"/>
            <a:ext cx="3108960" cy="421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200" b="1" dirty="0">
                <a:solidFill>
                  <a:srgbClr val="104281"/>
                </a:solidFill>
                <a:latin typeface="맑은 고딕"/>
              </a:rPr>
              <a:t>① 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업로드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자동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적재</a:t>
            </a:r>
            <a:endParaRPr sz="22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40000" y="1656000"/>
            <a:ext cx="7589520" cy="717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b="1" dirty="0" err="1">
                <a:solidFill>
                  <a:srgbClr val="202020"/>
                </a:solidFill>
                <a:latin typeface="맑은 고딕"/>
              </a:rPr>
              <a:t>예측과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동시에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DB에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익명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저장</a:t>
            </a:r>
            <a:r>
              <a:rPr lang="en-US" b="1" dirty="0">
                <a:solidFill>
                  <a:srgbClr val="202020"/>
                </a:solidFill>
                <a:latin typeface="맑은 고딕"/>
              </a:rPr>
              <a:t>	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— 일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단위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기록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+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예측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결과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</a:p>
          <a:p>
            <a:pPr algn="l">
              <a:spcAft>
                <a:spcPts val="600"/>
              </a:spcAft>
              <a:defRPr/>
            </a:pPr>
            <a:r>
              <a:rPr lang="en-US" b="1" dirty="0">
                <a:solidFill>
                  <a:srgbClr val="202020"/>
                </a:solidFill>
                <a:latin typeface="맑은 고딕"/>
              </a:rPr>
              <a:t>							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(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개인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식별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정보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없음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20000"/>
            <a:ext cx="3108960" cy="424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200" b="1" dirty="0">
                <a:solidFill>
                  <a:srgbClr val="104281"/>
                </a:solidFill>
                <a:latin typeface="맑은 고딕"/>
              </a:rPr>
              <a:t>② 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검진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결과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연결</a:t>
            </a:r>
            <a:endParaRPr sz="22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40000" y="2520000"/>
            <a:ext cx="758952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b="1" dirty="0" err="1">
                <a:solidFill>
                  <a:srgbClr val="202020"/>
                </a:solidFill>
                <a:latin typeface="맑은 고딕"/>
              </a:rPr>
              <a:t>위험군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안내를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받고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검진한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사용자의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확진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결과를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기관이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입력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</a:p>
          <a:p>
            <a:pPr algn="l">
              <a:spcAft>
                <a:spcPts val="600"/>
              </a:spcAft>
              <a:defRPr/>
            </a:pPr>
            <a:r>
              <a:rPr lang="en-US" b="1" dirty="0">
                <a:solidFill>
                  <a:srgbClr val="202020"/>
                </a:solidFill>
                <a:latin typeface="맑은 고딕"/>
              </a:rPr>
              <a:t>							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(API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구현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4000"/>
            <a:ext cx="310896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200" b="1">
                <a:solidFill>
                  <a:srgbClr val="104281"/>
                </a:solidFill>
                <a:latin typeface="맑은 고딕"/>
              </a:rPr>
              <a:t>③  재학습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0000" y="3384000"/>
            <a:ext cx="758952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b="1" dirty="0" err="1">
                <a:solidFill>
                  <a:srgbClr val="202020"/>
                </a:solidFill>
                <a:latin typeface="맑은 고딕"/>
              </a:rPr>
              <a:t>확진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라벨이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붙은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데이터만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기존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174명과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결합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</a:p>
          <a:p>
            <a:pPr algn="l">
              <a:spcAft>
                <a:spcPts val="600"/>
              </a:spcAft>
              <a:defRPr/>
            </a:pPr>
            <a:r>
              <a:rPr lang="en-US" b="1" dirty="0">
                <a:solidFill>
                  <a:srgbClr val="202020"/>
                </a:solidFill>
                <a:latin typeface="맑은 고딕"/>
              </a:rPr>
              <a:t>							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—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같은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무누수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검증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절차로</a:t>
            </a:r>
            <a:r>
              <a:rPr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b="1" dirty="0" err="1">
                <a:solidFill>
                  <a:srgbClr val="202020"/>
                </a:solidFill>
                <a:latin typeface="맑은 고딕"/>
              </a:rPr>
              <a:t>재학습</a:t>
            </a:r>
            <a:endParaRPr b="1" dirty="0">
              <a:solidFill>
                <a:srgbClr val="20202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248000"/>
            <a:ext cx="3108960" cy="422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200" b="1" dirty="0">
                <a:solidFill>
                  <a:srgbClr val="104281"/>
                </a:solidFill>
                <a:latin typeface="맑은 고딕"/>
              </a:rPr>
              <a:t>④ 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모델</a:t>
            </a:r>
            <a:r>
              <a:rPr sz="22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104281"/>
                </a:solidFill>
                <a:latin typeface="맑은 고딕"/>
              </a:rPr>
              <a:t>교체</a:t>
            </a:r>
            <a:endParaRPr sz="22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140000" y="4248000"/>
            <a:ext cx="7589520" cy="366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b="1">
                <a:solidFill>
                  <a:srgbClr val="202020"/>
                </a:solidFill>
                <a:latin typeface="맑은 고딕"/>
              </a:rPr>
              <a:t>기존 모델 자동 백업 후 교체 → 서비스 재시작만 하면 새 모델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741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700" b="1" dirty="0" err="1">
                <a:solidFill>
                  <a:srgbClr val="202020"/>
                </a:solidFill>
                <a:latin typeface="맑은 고딕"/>
              </a:rPr>
              <a:t>원칙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: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확진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라벨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없는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데이터는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학습에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쓰지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않는다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—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모델이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자기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예측을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정답처럼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배우는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오염</a:t>
            </a:r>
            <a:r>
              <a:rPr sz="1700" b="1" dirty="0">
                <a:solidFill>
                  <a:srgbClr val="20202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202020"/>
                </a:solidFill>
                <a:latin typeface="맑은 고딕"/>
              </a:rPr>
              <a:t>방지</a:t>
            </a:r>
            <a:endParaRPr sz="1700" b="1" dirty="0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100" b="1" dirty="0">
                <a:solidFill>
                  <a:srgbClr val="2A78D6"/>
                </a:solidFill>
                <a:latin typeface="맑은 고딕"/>
              </a:rPr>
              <a:t>"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지금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 174명이라는 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한계는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, 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서비스가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돌수록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스스로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풀리는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 </a:t>
            </a:r>
            <a:r>
              <a:rPr sz="2100" b="1" dirty="0" err="1">
                <a:solidFill>
                  <a:srgbClr val="2A78D6"/>
                </a:solidFill>
                <a:latin typeface="맑은 고딕"/>
              </a:rPr>
              <a:t>구조입니다</a:t>
            </a:r>
            <a:r>
              <a:rPr sz="2100" b="1" dirty="0">
                <a:solidFill>
                  <a:srgbClr val="2A78D6"/>
                </a:solidFill>
                <a:latin typeface="맑은 고딕"/>
              </a:rPr>
              <a:t>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06. 결론 및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 dirty="0">
                <a:solidFill>
                  <a:srgbClr val="104281"/>
                </a:solidFill>
                <a:latin typeface="맑은 고딕"/>
              </a:rPr>
              <a:t>5일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동안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만든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것은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숫자가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아니라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,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믿을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수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있는</a:t>
            </a:r>
            <a:r>
              <a:rPr sz="3000" b="1" dirty="0">
                <a:solidFill>
                  <a:srgbClr val="104281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04281"/>
                </a:solidFill>
                <a:latin typeface="맑은 고딕"/>
              </a:rPr>
              <a:t>절차입니다</a:t>
            </a:r>
            <a:endParaRPr sz="3000" b="1" dirty="0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607040" cy="4545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200" b="1">
                <a:solidFill>
                  <a:srgbClr val="2A78D6"/>
                </a:solidFill>
                <a:latin typeface="맑은 고딕"/>
              </a:rPr>
              <a:t>확인한 것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활동량 평균이 아니라 "생활 패턴의 불규칙함"이 위험군을 가른다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그 구분 능력은 우연이 아니다 (우연일 확률 0.6%)</a:t>
            </a: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200" b="1">
                <a:solidFill>
                  <a:srgbClr val="2A78D6"/>
                </a:solidFill>
                <a:latin typeface="맑은 고딕"/>
              </a:rPr>
              <a:t>한계 — 숨기지 않고 명시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표본 174명(치매 12명), 한 지역(광주)·한 시기 데이터 — 일반화에는 더 큰 데이터 필요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경도인지장애 단독 조기 신호는 미확인 · 재현율 수치는 통계적으로 미확정</a:t>
            </a: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200" b="1">
                <a:solidFill>
                  <a:srgbClr val="2A78D6"/>
                </a:solidFill>
                <a:latin typeface="맑은 고딕"/>
              </a:rPr>
              <a:t>그래서 진짜 산출물은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104281"/>
                </a:solidFill>
                <a:latin typeface="맑은 고딕"/>
              </a:rPr>
              <a:t>· "시험 문제를 미리 본 셈"인 데이터 누수 실수를 스스로 찾아 고치고, 우연 여부까지 검증한 분석 절차</a:t>
            </a: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104281"/>
                </a:solidFill>
                <a:latin typeface="맑은 고딕"/>
              </a:rPr>
              <a:t>· 병원·기관의 정식 데이터가 들어오면 코드 수정 없이 그대로 재학습·재검증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2a78d6"/>
                </a:solidFill>
                <a:latin typeface="맑은 고딕"/>
              </a:rPr>
              <a:t>06. 결론 및 확장</a:t>
            </a:r>
            <a:endParaRPr sz="16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</a:rPr>
              <a:t>스크리닝에서 끝나지 않는다 — 2단계 로드맵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104281"/>
                </a:solidFill>
                <a:latin typeface="맑은 고딕"/>
              </a:rPr>
              <a:t>1단계 (이번 구현)  —  스크리닝</a:t>
            </a:r>
            <a:endParaRPr sz="2300" b="1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생활 기록 업로드 → 위험 신호 확인 → 치매안심센터 연결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300" b="1">
                <a:solidFill>
                  <a:srgbClr val="104281"/>
                </a:solidFill>
                <a:latin typeface="맑은 고딕"/>
              </a:rPr>
              <a:t>2단계 (사업 확장 방향)  —  웨어러블 연계 모니터링</a:t>
            </a:r>
            <a:endParaRPr sz="2300" b="1">
              <a:solidFill>
                <a:srgbClr val="104281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위험군 판정자가 웨어러블을 계속 착용, 악화 시점을 놓치지 않고 재안내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데이터 적재·재학습 루프는 이번에 구현 완료 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lang="en-US" sz="2000" b="1">
                <a:solidFill>
                  <a:srgbClr val="202020"/>
                </a:solidFill>
                <a:latin typeface="맑은 고딕"/>
              </a:rPr>
              <a:t>			</a:t>
            </a:r>
            <a:r>
              <a:rPr sz="2000" b="1">
                <a:solidFill>
                  <a:srgbClr val="202020"/>
                </a:solidFill>
                <a:latin typeface="맑은 고딕"/>
              </a:rPr>
              <a:t>— 검진 결과가 연결될수록 모델이 계속 좋아지는 구조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202020"/>
                </a:solidFill>
                <a:latin typeface="맑은 고딕"/>
              </a:rPr>
              <a:t>· 요양기관·치매안심센터 제휴, 개인/기관용 구독형 대시보드</a:t>
            </a:r>
            <a:endParaRPr sz="2000"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endParaRPr b="1">
              <a:solidFill>
                <a:srgbClr val="202020"/>
              </a:solidFill>
              <a:latin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2000" b="1">
                <a:solidFill>
                  <a:srgbClr val="ff0000"/>
                </a:solidFill>
                <a:latin typeface="맑은 고딕"/>
              </a:rPr>
              <a:t>필요한 것: 더 큰 정식 데이터 · 나이/성별/학력 정보 · 실제 발병 여부를 따라가는 추적 검증</a:t>
            </a:r>
            <a:endParaRPr sz="2000" b="1">
              <a:solidFill>
                <a:srgbClr val="ff000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</a:rPr>
              <a:t>22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/>
            </a:pPr>
            <a:r>
              <a:rPr sz="7400" b="1">
                <a:solidFill>
                  <a:srgbClr val="ffffff"/>
                </a:solidFill>
                <a:latin typeface="맑은 고딕"/>
              </a:rPr>
              <a:t>감사합니다</a:t>
            </a:r>
            <a:endParaRPr sz="74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/>
            </a:pPr>
            <a:r>
              <a:rPr sz="2800" b="1">
                <a:solidFill>
                  <a:srgbClr val="bfd4f0"/>
                </a:solidFill>
                <a:latin typeface="맑은 고딕"/>
              </a:rPr>
              <a:t>Q&amp;A  |  팀 찾아조</a:t>
            </a:r>
            <a:endParaRPr sz="2800" b="1">
              <a:solidFill>
                <a:srgbClr val="bfd4f0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2037</ep:Words>
  <ep:PresentationFormat>와이드스크린</ep:PresentationFormat>
  <ep:Paragraphs>257</ep:Paragraphs>
  <ep:Slides>23</ep:Slides>
  <ep:Notes>9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ep:HeadingPairs>
  <ep:TitlesOfParts>
    <vt:vector size="24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fid0109</cp:lastModifiedBy>
  <dcterms:modified xsi:type="dcterms:W3CDTF">2026-08-18T07:10:10.925</dcterms:modified>
  <cp:revision>9</cp:revision>
  <cp:version>1000.0000.01</cp:version>
</cp:coreProperties>
</file>