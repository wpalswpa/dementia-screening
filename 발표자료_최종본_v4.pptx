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aveSubsetFonts="1" autoCompressPictures="0">
  <p:sldMasterIdLst>
    <p:sldMasterId id="2147483662" r:id="rId1"/>
  </p:sldMasterIdLst>
  <p:notesMasterIdLst>
    <p:notesMasterId r:id="rId2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showPr showNarration="1">
    <p:present/>
    <p:sldAll/>
    <p:penClr>
      <a:prstClr val="red"/>
    </p:penClr>
    <p:extLst>
      <p:ext uri="{2FDB2607-1784-4EEB-B798-7EB5836EED8A}">
        <p14:showMediaCtrls xmlns:p14="http://schemas.microsoft.com/office/powerpoint/2010/main" val="1"/>
      </p:ext>
    </p:extLst>
  </p:showPr>
</p:presentationPr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p="http://schemas.openxmlformats.org/presentationml/2006/main" def="{5C22544A-7EE6-4342-B048-85BDC9FD1C3A}"/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0" d="100"/>
          <a:sy n="100" d="100"/>
        </p:scale>
        <p:origin x="581" y="48"/>
      </p:cViewPr>
      <p:guideLst>
        <p:guide orient="horz" pos="2158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 idx="0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 lvl="0">
              <a:defRPr/>
            </a:pPr>
            <a:fld id="{0F89C1C7-3DCD-1040-A9CF-14679D8B5DDD}" type="datetime1">
              <a:rPr lang="en-US"/>
              <a:pPr lvl="0">
                <a:defRPr/>
              </a:pPr>
              <a:t>8/18/2026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anchor="ctr"/>
          <a:lstStyle/>
          <a:p>
            <a:pPr lvl="0">
              <a:defRPr/>
            </a:pPr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pPr lvl="0">
              <a:defRPr/>
            </a:pPr>
            <a:r>
              <a:rPr lang="en-US"/>
              <a:t>Click to edit Master text styles</a:t>
            </a:r>
            <a:endParaRPr lang="en-US"/>
          </a:p>
          <a:p>
            <a:pPr lvl="1">
              <a:defRPr/>
            </a:pPr>
            <a:r>
              <a:rPr lang="en-US"/>
              <a:t>Second level</a:t>
            </a:r>
            <a:endParaRPr lang="en-US"/>
          </a:p>
          <a:p>
            <a:pPr lvl="2">
              <a:defRPr/>
            </a:pPr>
            <a:r>
              <a:rPr lang="en-US"/>
              <a:t>Third level</a:t>
            </a:r>
            <a:endParaRPr lang="en-US"/>
          </a:p>
          <a:p>
            <a:pPr lvl="3">
              <a:defRPr/>
            </a:pPr>
            <a:r>
              <a:rPr lang="en-US"/>
              <a:t>Fourth level</a:t>
            </a:r>
            <a:endParaRPr lang="en-US"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 lvl="0">
              <a:defRPr/>
            </a:pPr>
            <a:fld id="{BB5E49A5-4136-284D-997B-48E1D791AD67}" type="slidenum">
              <a:rPr lang="en-US"/>
              <a:pPr lvl="0"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안녕하세요, 찾아조입니다. 저희는 병원 검사 없이 웨어러블 생활 기록만으로 치매 위험 신호를 걸러내는 스크리닝 서비스를 만들었습니다.</a:t>
            </a: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  <p:clrMapOvr>
    <a:masterClrMapping/>
  </p:clrMapOvr>
</p:notes>
</file>

<file path=ppt/notesSlides/notesSlide2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치매(알츠하이머병)는 단순 노화가 아니라 실제 사망원인 6위 질환입니다. 당뇨병, 고혈압보다 높습니다.</a:t>
            </a: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  <p:clrMapOvr>
    <a:masterClrMapping/>
  </p:clrMapOvr>
</p:notes>
</file>

<file path=ppt/notesSlides/notesSlide3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다른 만성질환은 관리가 되며 증가세가 둔화되는 동안, 알츠하이머병 사망률만 10년 새 175% 급증했습니다. 왜 하필 지금, 왜 하필 치매인가에 대한 답입니다.</a:t>
            </a: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  <p:clrMapOvr>
    <a:masterClrMapping/>
  </p:clrMapOvr>
</p:notes>
</file>

<file path=ppt/notesSlides/notesSlide4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고령·여성·농촌·독거·저학력일수록 유병률이 높습니다. 정기 검진에 의존하는 현재 체계는 정작 고위험군을 놓치기 쉽습니다. 여기가 저희 프로젝트의 출발점입니다.</a:t>
            </a: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  <p:clrMapOvr>
    <a:masterClrMapping/>
  </p:clrMapOvr>
</p:notes>
</file>

<file path=ppt/notesSlides/notesSlide5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핵심 설계 결정 하나: MMSE 점수는 의사가 진단 라벨을 매길 때 쓴 검사라, 입력에 넣으면 정답을 보고 정답을 맞히는 셈입니다. 병원 검사 없이 걸러낸다는 취지에 맞게 활동·수면 기록만 씁니다.</a:t>
            </a: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  <p:clrMapOvr>
    <a:masterClrMapping/>
  </p:clrMapOvr>
</p:notes>
</file>

<file path=ppt/notesSlides/notesSlide6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저희도 처음에 의외였고, 그래서 숨기지 않고 그대로 보여드립니다. 이 반전이 분석의 방향을 바꿨습니다.</a:t>
            </a: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  <p:clrMapOvr>
    <a:masterClrMapping/>
  </p:clrMapOvr>
</p:notes>
</file>

<file path=ppt/notesSlides/notesSlide7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질문 대비: 정확도가 베이스라인보다 낮은 이유 — 무조건 정상 찍는 모델은 위험군을 한 명도 못 잡습니다. 스크리닝 도구로는 무의미합니다.</a:t>
            </a: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  <p:clrMapOvr>
    <a:masterClrMapping/>
  </p:clrMapOvr>
</p:notes>
</file>

<file path=ppt/notesSlides/notesSlide8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게이트 질문 대비: 검증의 목적은 무엇을 주장해도 되는지 정하는 것이었고, 정확히 그렇게 작동했습니다. 검증 결과가 실제로 서비스 문구를 바꿨습니다.</a:t>
            </a: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  <p:clrMapOvr>
    <a:masterClrMapping/>
  </p:clrMapOvr>
</p:notes>
</file>

<file path=ppt/notesSlides/notesSlide9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상용화 관점 질문 대비: 업로드가 일회성으로 사라지지 않고 DB에 쌓이며, 검진 확진 결과가 연결된 데이터만 재학습에 씁니다. 라벨 없이 학습하면 모델이 자기 예측을 정답처럼 배우는 오염이 생기기 때문입니다. 전체 루프(적재→라벨→재학습→모델 교체)를 실제로 구현하고 테스트까지 마쳤습니다.</a:t>
            </a:r>
            <a:endParaRPr lang="ko-KR" altLang="en-US"/>
          </a:p>
          <a:p>
            <a:pPr lvl="0">
              <a:defRPr/>
            </a:pPr>
            <a:endParaRPr lang="ko-KR" altLang="en-US"/>
          </a:p>
          <a:p>
            <a:pPr lvl="0">
              <a:defRPr/>
            </a:pPr>
            <a:r>
              <a:rPr lang="ko-KR" altLang="en-US"/>
              <a:t>[적재 상세 — 구체적으로 어떻게 저장되냐는 질문 대비]</a:t>
            </a:r>
            <a:endParaRPr lang="ko-KR" altLang="en-US"/>
          </a:p>
          <a:p>
            <a:pPr lvl="0">
              <a:defRPr/>
            </a:pPr>
            <a:r>
              <a:rPr lang="ko-KR" altLang="en-US"/>
              <a:t>예측 API가 응답을 돌려주기 직전에 자동 실행: ① uuid로 무작위 12자리 익명 ID 발급(개인 식별 정보 없음) ② uploads 테이블에 요약 1행(시각/일수/위험점수/판정, 확진 라벨 자리는 NULL로 시작) ③ upload_daily 테이블에 하루 기록=1행씩(58일치면 58행, 날짜/걸음수/수면효율 등 22개 컬럼 원본 그대로) ④ 한 트랜잭션으로 커밋, ID는 응답에 담아 반환(검진 결과 연결 시 사용). DB는 SQLite 파일(data/service.db) 하나 — 설치 불필요. 적재 실패해도 예측 응답은 정상(부가 기능). 확인은 /uploads/stats API 또는 DB 파일 직접 조회.</a:t>
            </a: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notesSlide" Target="../notesSlides/notesSlide4.xml"/><Relationship Id="rId2" Type="http://schemas.openxmlformats.org/officeDocument/2006/relationships/slideLayout" Target="../slideLayouts/slideLayout7.xml"/><Relationship Id="rId3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notesSlide" Target="../notesSlides/notesSlide8.xml"/><Relationship Id="rId2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42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194560"/>
            <a:ext cx="1033272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 dirty="0" err="1">
                <a:solidFill>
                  <a:srgbClr val="FFFFFF"/>
                </a:solidFill>
                <a:latin typeface="맑은 고딕"/>
              </a:rPr>
              <a:t>치매</a:t>
            </a:r>
            <a:r>
              <a:rPr sz="4000" b="1" dirty="0">
                <a:solidFill>
                  <a:srgbClr val="FFFFFF"/>
                </a:solidFill>
                <a:latin typeface="맑은 고딕"/>
              </a:rPr>
              <a:t> </a:t>
            </a:r>
            <a:r>
              <a:rPr sz="4000" b="1" dirty="0" err="1">
                <a:solidFill>
                  <a:srgbClr val="FFFFFF"/>
                </a:solidFill>
                <a:latin typeface="맑은 고딕"/>
              </a:rPr>
              <a:t>위험</a:t>
            </a:r>
            <a:r>
              <a:rPr sz="4000" b="1" dirty="0">
                <a:solidFill>
                  <a:srgbClr val="FFFFFF"/>
                </a:solidFill>
                <a:latin typeface="맑은 고딕"/>
              </a:rPr>
              <a:t> </a:t>
            </a:r>
            <a:r>
              <a:rPr sz="4000" b="1" dirty="0" err="1">
                <a:solidFill>
                  <a:srgbClr val="FFFFFF"/>
                </a:solidFill>
                <a:latin typeface="맑은 고딕"/>
              </a:rPr>
              <a:t>조기</a:t>
            </a:r>
            <a:r>
              <a:rPr sz="4000" b="1" dirty="0">
                <a:solidFill>
                  <a:srgbClr val="FFFFFF"/>
                </a:solidFill>
                <a:latin typeface="맑은 고딕"/>
              </a:rPr>
              <a:t> </a:t>
            </a:r>
            <a:r>
              <a:rPr sz="4000" b="1" dirty="0" err="1">
                <a:solidFill>
                  <a:srgbClr val="FFFFFF"/>
                </a:solidFill>
                <a:latin typeface="맑은 고딕"/>
              </a:rPr>
              <a:t>스크리닝</a:t>
            </a:r>
            <a:r>
              <a:rPr sz="4000" b="1" dirty="0">
                <a:solidFill>
                  <a:srgbClr val="FFFFFF"/>
                </a:solidFill>
                <a:latin typeface="맑은 고딕"/>
              </a:rPr>
              <a:t> </a:t>
            </a:r>
            <a:r>
              <a:rPr sz="4000" b="1" dirty="0" err="1">
                <a:solidFill>
                  <a:srgbClr val="FFFFFF"/>
                </a:solidFill>
                <a:latin typeface="맑은 고딕"/>
              </a:rPr>
              <a:t>서비스</a:t>
            </a:r>
            <a:endParaRPr sz="4000" b="1" dirty="0">
              <a:solidFill>
                <a:srgbClr val="FFFFFF"/>
              </a:solidFill>
              <a:latin typeface="맑은 고딕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14400" y="347472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1">
                <a:solidFill>
                  <a:srgbClr val="BFD4F0"/>
                </a:solidFill>
                <a:latin typeface="맑은 고딕"/>
              </a:rPr>
              <a:t>웨어러블 생활 기록만으로, 병원에 가볼 이유를 먼저 알려주는 서비스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120640"/>
            <a:ext cx="103327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400" b="1" dirty="0">
                <a:solidFill>
                  <a:srgbClr val="FFFFFF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팀 </a:t>
            </a:r>
            <a:r>
              <a:rPr sz="2400" b="1" dirty="0" err="1">
                <a:solidFill>
                  <a:srgbClr val="FFFFFF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찾아조</a:t>
            </a:r>
            <a:endParaRPr sz="2400" b="1" dirty="0">
              <a:solidFill>
                <a:srgbClr val="FFFFFF"/>
              </a:solidFill>
              <a:latin typeface="HY엽서M" panose="02030600000101010101" pitchFamily="18" charset="-127"/>
              <a:ea typeface="HY엽서M" panose="02030600000101010101" pitchFamily="18" charset="-127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42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2A78D6"/>
                </a:solidFill>
                <a:latin typeface="맑은 고딕"/>
              </a:rPr>
              <a:t>CONTENTS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04281"/>
                </a:solidFill>
                <a:latin typeface="맑은 고딕"/>
              </a:rPr>
              <a:t>발표 순서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00020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202020"/>
                </a:solidFill>
                <a:latin typeface="맑은 고딕"/>
              </a:rPr>
              <a:t>01  문제의식 — 왜 치매인가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2384248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dirty="0" err="1">
                <a:solidFill>
                  <a:srgbClr val="666666"/>
                </a:solidFill>
                <a:latin typeface="맑은 고딕"/>
              </a:rPr>
              <a:t>다른</a:t>
            </a:r>
            <a:r>
              <a:rPr sz="1600" b="1" dirty="0">
                <a:solidFill>
                  <a:srgbClr val="666666"/>
                </a:solidFill>
                <a:latin typeface="맑은 고딕"/>
              </a:rPr>
              <a:t> </a:t>
            </a:r>
            <a:r>
              <a:rPr sz="1600" b="1" dirty="0" err="1">
                <a:solidFill>
                  <a:srgbClr val="666666"/>
                </a:solidFill>
                <a:latin typeface="맑은 고딕"/>
              </a:rPr>
              <a:t>만성질환과</a:t>
            </a:r>
            <a:r>
              <a:rPr sz="1600" b="1" dirty="0">
                <a:solidFill>
                  <a:srgbClr val="666666"/>
                </a:solidFill>
                <a:latin typeface="맑은 고딕"/>
              </a:rPr>
              <a:t> </a:t>
            </a:r>
            <a:r>
              <a:rPr sz="1600" b="1" dirty="0" err="1">
                <a:solidFill>
                  <a:srgbClr val="666666"/>
                </a:solidFill>
                <a:latin typeface="맑은 고딕"/>
              </a:rPr>
              <a:t>비교해도</a:t>
            </a:r>
            <a:r>
              <a:rPr sz="1600" b="1" dirty="0">
                <a:solidFill>
                  <a:srgbClr val="666666"/>
                </a:solidFill>
                <a:latin typeface="맑은 고딕"/>
              </a:rPr>
              <a:t> </a:t>
            </a:r>
            <a:r>
              <a:rPr sz="1600" b="1" dirty="0" err="1">
                <a:solidFill>
                  <a:srgbClr val="666666"/>
                </a:solidFill>
                <a:latin typeface="맑은 고딕"/>
              </a:rPr>
              <a:t>유독</a:t>
            </a:r>
            <a:r>
              <a:rPr sz="1600" b="1" dirty="0">
                <a:solidFill>
                  <a:srgbClr val="666666"/>
                </a:solidFill>
                <a:latin typeface="맑은 고딕"/>
              </a:rPr>
              <a:t> </a:t>
            </a:r>
            <a:r>
              <a:rPr sz="1600" b="1" dirty="0" err="1">
                <a:solidFill>
                  <a:srgbClr val="666666"/>
                </a:solidFill>
                <a:latin typeface="맑은 고딕"/>
              </a:rPr>
              <a:t>심각한</a:t>
            </a:r>
            <a:r>
              <a:rPr sz="1600" b="1" dirty="0">
                <a:solidFill>
                  <a:srgbClr val="666666"/>
                </a:solidFill>
                <a:latin typeface="맑은 고딕"/>
              </a:rPr>
              <a:t> </a:t>
            </a:r>
            <a:r>
              <a:rPr sz="1600" b="1" dirty="0" err="1">
                <a:solidFill>
                  <a:srgbClr val="666666"/>
                </a:solidFill>
                <a:latin typeface="맑은 고딕"/>
              </a:rPr>
              <a:t>질환</a:t>
            </a:r>
            <a:endParaRPr sz="1600" b="1" dirty="0">
              <a:solidFill>
                <a:srgbClr val="666666"/>
              </a:solidFill>
              <a:latin typeface="맑은 고딕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97280" y="2804872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202020"/>
                </a:solidFill>
                <a:latin typeface="맑은 고딕"/>
              </a:rPr>
              <a:t>02  데이터와 분석 질문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31889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666666"/>
                </a:solidFill>
                <a:latin typeface="맑은 고딕"/>
              </a:rPr>
              <a:t>AI Hub 웨어러블 라이프로그 174명, Q1~Q5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609544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202020"/>
                </a:solidFill>
                <a:latin typeface="맑은 고딕"/>
              </a:rPr>
              <a:t>03  분석 결과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3993591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666666"/>
                </a:solidFill>
                <a:latin typeface="맑은 고딕"/>
              </a:rPr>
              <a:t>핵심 발견: 활동량이 아니라 '패턴의 불규칙함'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4414215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202020"/>
                </a:solidFill>
                <a:latin typeface="맑은 고딕"/>
              </a:rPr>
              <a:t>04  검증 — 스스로에게 던진 두 가지 질문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00200" y="4798264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666666"/>
                </a:solidFill>
                <a:latin typeface="맑은 고딕"/>
              </a:rPr>
              <a:t>치매를 빼도 남는가 / 우연은 아닌가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5218888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202020"/>
                </a:solidFill>
                <a:latin typeface="맑은 고딕"/>
              </a:rPr>
              <a:t>05  서비스 시연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00200" y="5602936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666666"/>
                </a:solidFill>
                <a:latin typeface="맑은 고딕"/>
              </a:rPr>
              <a:t>업로드 → 위험 점수 → 치매안심센터 지도 안내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6023559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dirty="0">
                <a:solidFill>
                  <a:srgbClr val="202020"/>
                </a:solidFill>
                <a:latin typeface="맑은 고딕"/>
              </a:rPr>
              <a:t>06  </a:t>
            </a:r>
            <a:r>
              <a:rPr sz="2000" b="1" dirty="0" err="1">
                <a:solidFill>
                  <a:srgbClr val="202020"/>
                </a:solidFill>
                <a:latin typeface="맑은 고딕"/>
              </a:rPr>
              <a:t>결론과</a:t>
            </a:r>
            <a:r>
              <a:rPr sz="2000" b="1" dirty="0">
                <a:solidFill>
                  <a:srgbClr val="202020"/>
                </a:solidFill>
                <a:latin typeface="맑은 고딕"/>
              </a:rPr>
              <a:t> </a:t>
            </a:r>
            <a:r>
              <a:rPr sz="2000" b="1" dirty="0" err="1">
                <a:solidFill>
                  <a:srgbClr val="202020"/>
                </a:solidFill>
                <a:latin typeface="맑은 고딕"/>
              </a:rPr>
              <a:t>한계</a:t>
            </a:r>
            <a:r>
              <a:rPr sz="2000" b="1" dirty="0">
                <a:solidFill>
                  <a:srgbClr val="202020"/>
                </a:solidFill>
                <a:latin typeface="맑은 고딕"/>
              </a:rPr>
              <a:t>, </a:t>
            </a:r>
            <a:r>
              <a:rPr sz="2000" b="1" dirty="0" err="1">
                <a:solidFill>
                  <a:srgbClr val="202020"/>
                </a:solidFill>
                <a:latin typeface="맑은 고딕"/>
              </a:rPr>
              <a:t>확장</a:t>
            </a:r>
            <a:r>
              <a:rPr sz="2000" b="1" dirty="0">
                <a:solidFill>
                  <a:srgbClr val="202020"/>
                </a:solidFill>
                <a:latin typeface="맑은 고딕"/>
              </a:rPr>
              <a:t> </a:t>
            </a:r>
            <a:r>
              <a:rPr sz="2000" b="1" dirty="0" err="1">
                <a:solidFill>
                  <a:srgbClr val="202020"/>
                </a:solidFill>
                <a:latin typeface="맑은 고딕"/>
              </a:rPr>
              <a:t>방향</a:t>
            </a:r>
            <a:endParaRPr sz="2000" b="1" dirty="0">
              <a:solidFill>
                <a:srgbClr val="202020"/>
              </a:solidFill>
              <a:latin typeface="맑은 고딕"/>
            </a:endParaRPr>
          </a:p>
        </p:txBody>
      </p:sp>
      <p:sp>
        <p:nvSpPr>
          <p:cNvPr id="30" name="TextBox Team"/>
          <p:cNvSpPr txBox="1"/>
          <p:nvPr/>
        </p:nvSpPr>
        <p:spPr>
          <a:xfrm>
            <a:off x="1097280" y="139065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666666"/>
                </a:solidFill>
                <a:latin typeface="맑은 고딕"/>
              </a:rPr>
              <a:t>찾아조  |  이제민(팀장·총괄) · 조성기(전처리 및 모델링) · 박용민(데이터 수집) · 정상천(통계 및 시각화)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475720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666666"/>
                </a:solidFill>
                <a:latin typeface="맑은 고딕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42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2A78D6"/>
                </a:solidFill>
                <a:latin typeface="맑은 고딕"/>
              </a:rPr>
              <a:t>01. 문제의식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04281"/>
                </a:solidFill>
                <a:latin typeface="맑은 고딕"/>
              </a:rPr>
              <a:t>치매는 국내 사망원인 6위 — 당뇨병보다 높다</a:t>
            </a:r>
          </a:p>
        </p:txBody>
      </p:sp>
      <p:pic>
        <p:nvPicPr>
          <p:cNvPr id="5" name="Picture 4" descr="ppt_3_death_ran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2641" y="1554480"/>
            <a:ext cx="9716237" cy="49377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475720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666666"/>
                </a:solidFill>
                <a:latin typeface="맑은 고딕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42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2A78D6"/>
                </a:solidFill>
                <a:latin typeface="맑은 고딕"/>
              </a:rPr>
              <a:t>01. 문제의식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04281"/>
                </a:solidFill>
                <a:latin typeface="맑은 고딕"/>
              </a:rPr>
              <a:t>지난 10년, 주요 만성질환 중 유일하게 급증 — +175%</a:t>
            </a:r>
          </a:p>
        </p:txBody>
      </p:sp>
      <p:pic>
        <p:nvPicPr>
          <p:cNvPr id="5" name="Picture 4" descr="ppt_4_change_ra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2641" y="1554480"/>
            <a:ext cx="9716237" cy="49377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475720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666666"/>
                </a:solidFill>
                <a:latin typeface="맑은 고딕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42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2A78D6"/>
                </a:solidFill>
                <a:latin typeface="맑은 고딕"/>
              </a:rPr>
              <a:t>01. 문제의식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04281"/>
                </a:solidFill>
                <a:latin typeface="맑은 고딕"/>
              </a:rPr>
              <a:t>가장 오래, 가장 비싸게 관리해야 하는 질환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192000"/>
            <a:ext cx="111556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1" dirty="0">
                <a:solidFill>
                  <a:srgbClr val="FF0000"/>
                </a:solidFill>
                <a:latin typeface="맑은 고딕"/>
              </a:rPr>
              <a:t>1인당 연 </a:t>
            </a:r>
            <a:r>
              <a:rPr sz="2000" b="1" dirty="0" err="1">
                <a:solidFill>
                  <a:srgbClr val="FF0000"/>
                </a:solidFill>
                <a:latin typeface="맑은 고딕"/>
              </a:rPr>
              <a:t>내원일수</a:t>
            </a:r>
            <a:r>
              <a:rPr sz="2000" b="1" dirty="0">
                <a:solidFill>
                  <a:srgbClr val="FF0000"/>
                </a:solidFill>
                <a:latin typeface="맑은 고딕"/>
              </a:rPr>
              <a:t> 1위(37일) · 1인당 </a:t>
            </a:r>
            <a:r>
              <a:rPr sz="2000" b="1" dirty="0" err="1">
                <a:solidFill>
                  <a:srgbClr val="FF0000"/>
                </a:solidFill>
                <a:latin typeface="맑은 고딕"/>
              </a:rPr>
              <a:t>진료비</a:t>
            </a:r>
            <a:r>
              <a:rPr sz="2000" b="1" dirty="0">
                <a:solidFill>
                  <a:srgbClr val="FF0000"/>
                </a:solidFill>
                <a:latin typeface="맑은 고딕"/>
              </a:rPr>
              <a:t> 374만 원 — </a:t>
            </a:r>
            <a:r>
              <a:rPr sz="2000" b="1" dirty="0" err="1">
                <a:solidFill>
                  <a:srgbClr val="FF0000"/>
                </a:solidFill>
                <a:latin typeface="맑은 고딕"/>
              </a:rPr>
              <a:t>당뇨병의</a:t>
            </a:r>
            <a:r>
              <a:rPr sz="2000" b="1" dirty="0">
                <a:solidFill>
                  <a:srgbClr val="FF0000"/>
                </a:solidFill>
                <a:latin typeface="맑은 고딕"/>
              </a:rPr>
              <a:t> 4~6배</a:t>
            </a:r>
          </a:p>
        </p:txBody>
      </p:sp>
      <p:pic>
        <p:nvPicPr>
          <p:cNvPr id="8" name="Picture 7" descr="ppt_5_visit_day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2331" y="1645920"/>
            <a:ext cx="5016137" cy="4389120"/>
          </a:xfrm>
          <a:prstGeom prst="rect">
            <a:avLst/>
          </a:prstGeom>
        </p:spPr>
      </p:pic>
      <p:pic>
        <p:nvPicPr>
          <p:cNvPr id="9" name="Picture 8" descr="ppt_5_co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4491" y="1645920"/>
            <a:ext cx="5016137" cy="43891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1475720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666666"/>
                </a:solidFill>
                <a:latin typeface="맑은 고딕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42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515600" cy="3341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/>
            </a:pPr>
            <a:r>
              <a:rPr sz="1600" b="1">
                <a:solidFill>
                  <a:srgbClr val="2a78d6"/>
                </a:solidFill>
                <a:latin typeface="맑은 고딕"/>
              </a:rPr>
              <a:t>01. 문제의식</a:t>
            </a:r>
            <a:endParaRPr sz="1600" b="1">
              <a:solidFill>
                <a:srgbClr val="2a78d6"/>
              </a:solidFill>
              <a:latin typeface="맑은 고딕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1155680" cy="5478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/>
            </a:pPr>
            <a:r>
              <a:rPr sz="3000" b="1">
                <a:solidFill>
                  <a:srgbClr val="104281"/>
                </a:solidFill>
                <a:latin typeface="맑은 고딕"/>
              </a:rPr>
              <a:t>환자는 늘고, 위험은 균등하지 않다</a:t>
            </a:r>
            <a:endParaRPr sz="3000" b="1">
              <a:solidFill>
                <a:srgbClr val="104281"/>
              </a:solidFill>
              <a:latin typeface="맑은 고딕"/>
            </a:endParaRPr>
          </a:p>
        </p:txBody>
      </p:sp>
      <p:pic>
        <p:nvPicPr>
          <p:cNvPr id="5" name="Picture 4" descr="07_risk_factors_by_demographic.png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907393" y="1169670"/>
            <a:ext cx="6376909" cy="48558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6192000"/>
            <a:ext cx="11155680" cy="3878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/>
            </a:pPr>
            <a:r>
              <a:rPr sz="2000" b="1">
                <a:solidFill>
                  <a:srgbClr val="ff0000"/>
                </a:solidFill>
                <a:latin typeface="맑은 고딕"/>
              </a:rPr>
              <a:t>병원 검진이 어려운 </a:t>
            </a:r>
            <a:r>
              <a:rPr lang="ko-KR" altLang="en-US" sz="2000" b="1">
                <a:solidFill>
                  <a:srgbClr val="ff0000"/>
                </a:solidFill>
                <a:latin typeface="맑은 고딕"/>
              </a:rPr>
              <a:t>환경</a:t>
            </a:r>
            <a:r>
              <a:rPr sz="2000" b="1">
                <a:solidFill>
                  <a:srgbClr val="ff0000"/>
                </a:solidFill>
                <a:latin typeface="맑은 고딕"/>
              </a:rPr>
              <a:t>일수록 위험이 높은 역설</a:t>
            </a:r>
            <a:endParaRPr sz="2000" b="1">
              <a:solidFill>
                <a:srgbClr val="ff0000"/>
              </a:solidFill>
              <a:latin typeface="맑은 고딕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475720" y="6446520"/>
            <a:ext cx="640080" cy="266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  <a:defRPr/>
            </a:pPr>
            <a:r>
              <a:rPr sz="1200" b="0">
                <a:solidFill>
                  <a:srgbClr val="666666"/>
                </a:solidFill>
                <a:latin typeface="맑은 고딕"/>
              </a:rPr>
              <a:t>6</a:t>
            </a:r>
            <a:endParaRPr sz="1200" b="0">
              <a:solidFill>
                <a:srgbClr val="666666"/>
              </a:solidFill>
              <a:latin typeface="맑은 고딕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42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515600" cy="3341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/>
            </a:pPr>
            <a:r>
              <a:rPr sz="1600" b="1">
                <a:solidFill>
                  <a:srgbClr val="2a78d6"/>
                </a:solidFill>
                <a:latin typeface="맑은 고딕"/>
              </a:rPr>
              <a:t>01. 문제의식</a:t>
            </a:r>
            <a:endParaRPr sz="1600" b="1">
              <a:solidFill>
                <a:srgbClr val="2a78d6"/>
              </a:solidFill>
              <a:latin typeface="맑은 고딕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1155680" cy="5478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/>
            </a:pPr>
            <a:r>
              <a:rPr sz="3000" b="1">
                <a:solidFill>
                  <a:srgbClr val="104281"/>
                </a:solidFill>
                <a:latin typeface="맑은 고딕"/>
              </a:rPr>
              <a:t>우리의 접근 — 병원에 가기 전, 생활 기록으로 먼저 </a:t>
            </a:r>
            <a:r>
              <a:rPr lang="ko-KR" altLang="en-US" sz="3000" b="1">
                <a:solidFill>
                  <a:srgbClr val="104281"/>
                </a:solidFill>
                <a:latin typeface="맑은 고딕"/>
              </a:rPr>
              <a:t>찾는다</a:t>
            </a:r>
            <a:endParaRPr lang="ko-KR" altLang="en-US" sz="3000" b="1">
              <a:solidFill>
                <a:srgbClr val="104281"/>
              </a:solidFill>
              <a:latin typeface="맑은 고딕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66647" y="1808009"/>
            <a:ext cx="10058401" cy="44670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/>
            </a:pPr>
            <a:r>
              <a:rPr sz="2300" b="1">
                <a:solidFill>
                  <a:srgbClr val="202020"/>
                </a:solidFill>
                <a:latin typeface="맑은 고딕"/>
              </a:rPr>
              <a:t>경도인지장애(MCI) — 기억력은 떨어졌지만 아직 혼자 일상생활이 가능한, 치매 바로 전 단계</a:t>
            </a:r>
            <a:endParaRPr sz="2300" b="1">
              <a:solidFill>
                <a:srgbClr val="202020"/>
              </a:solidFill>
              <a:latin typeface="맑은 고딕"/>
            </a:endParaRPr>
          </a:p>
          <a:p>
            <a:pPr algn="l">
              <a:spcAft>
                <a:spcPts val="600"/>
              </a:spcAft>
              <a:defRPr/>
            </a:pPr>
            <a:endParaRPr sz="2300" b="1">
              <a:solidFill>
                <a:srgbClr val="202020"/>
              </a:solidFill>
              <a:latin typeface="맑은 고딕"/>
            </a:endParaRPr>
          </a:p>
          <a:p>
            <a:pPr algn="l">
              <a:spcAft>
                <a:spcPts val="600"/>
              </a:spcAft>
              <a:defRPr/>
            </a:pPr>
            <a:r>
              <a:rPr sz="2300" b="1">
                <a:solidFill>
                  <a:srgbClr val="202020"/>
                </a:solidFill>
                <a:latin typeface="맑은 고딕"/>
              </a:rPr>
              <a:t>이 단계에서 발견해야 진행을 늦출 수 있다 (연 10~15%가 치매로 진행)</a:t>
            </a:r>
            <a:endParaRPr sz="2300" b="1">
              <a:solidFill>
                <a:srgbClr val="202020"/>
              </a:solidFill>
              <a:latin typeface="맑은 고딕"/>
            </a:endParaRPr>
          </a:p>
          <a:p>
            <a:pPr algn="l">
              <a:spcAft>
                <a:spcPts val="600"/>
              </a:spcAft>
              <a:defRPr/>
            </a:pPr>
            <a:endParaRPr sz="2300" b="1">
              <a:solidFill>
                <a:srgbClr val="202020"/>
              </a:solidFill>
              <a:latin typeface="맑은 고딕"/>
            </a:endParaRPr>
          </a:p>
          <a:p>
            <a:pPr algn="l">
              <a:spcAft>
                <a:spcPts val="600"/>
              </a:spcAft>
              <a:defRPr/>
            </a:pPr>
            <a:r>
              <a:rPr sz="2300" b="1">
                <a:solidFill>
                  <a:srgbClr val="202020"/>
                </a:solidFill>
                <a:latin typeface="맑은 고딕"/>
              </a:rPr>
              <a:t>그러나 병원 검진이 어려운 사람일수록 발견이 늦다</a:t>
            </a:r>
            <a:endParaRPr sz="2300" b="1">
              <a:solidFill>
                <a:srgbClr val="202020"/>
              </a:solidFill>
              <a:latin typeface="맑은 고딕"/>
            </a:endParaRPr>
          </a:p>
          <a:p>
            <a:pPr algn="l">
              <a:spcAft>
                <a:spcPts val="600"/>
              </a:spcAft>
              <a:defRPr/>
            </a:pPr>
            <a:endParaRPr sz="1900" b="1">
              <a:solidFill>
                <a:srgbClr val="202020"/>
              </a:solidFill>
              <a:latin typeface="맑은 고딕"/>
            </a:endParaRPr>
          </a:p>
          <a:p>
            <a:pPr algn="l">
              <a:spcAft>
                <a:spcPts val="600"/>
              </a:spcAft>
              <a:defRPr/>
            </a:pPr>
            <a:r>
              <a:rPr sz="2300" b="1">
                <a:solidFill>
                  <a:srgbClr val="104281"/>
                </a:solidFill>
                <a:latin typeface="맑은 고딕"/>
              </a:rPr>
              <a:t>→ 웨어러블이 자동으로 쌓는 활동·수면 기록만으로 위험 신호를 </a:t>
            </a:r>
            <a:r>
              <a:rPr lang="ko-KR" altLang="en-US" sz="2300" b="1">
                <a:solidFill>
                  <a:srgbClr val="104281"/>
                </a:solidFill>
                <a:latin typeface="맑은 고딕"/>
              </a:rPr>
              <a:t>잡아</a:t>
            </a:r>
            <a:r>
              <a:rPr sz="2300" b="1">
                <a:solidFill>
                  <a:srgbClr val="104281"/>
                </a:solidFill>
                <a:latin typeface="맑은 고딕"/>
              </a:rPr>
              <a:t>내,</a:t>
            </a:r>
            <a:endParaRPr sz="2300" b="1">
              <a:solidFill>
                <a:srgbClr val="104281"/>
              </a:solidFill>
              <a:latin typeface="맑은 고딕"/>
            </a:endParaRPr>
          </a:p>
          <a:p>
            <a:pPr algn="l">
              <a:spcAft>
                <a:spcPts val="600"/>
              </a:spcAft>
              <a:defRPr/>
            </a:pPr>
            <a:r>
              <a:rPr sz="2300" b="1">
                <a:solidFill>
                  <a:srgbClr val="104281"/>
                </a:solidFill>
                <a:latin typeface="맑은 고딕"/>
              </a:rPr>
              <a:t>   "병원에 가볼 이유가 있는지"를 먼저 알려주는 스크리닝 도구</a:t>
            </a:r>
            <a:endParaRPr sz="2300" b="1">
              <a:solidFill>
                <a:srgbClr val="104281"/>
              </a:solidFill>
              <a:latin typeface="맑은 고딕"/>
            </a:endParaRPr>
          </a:p>
          <a:p>
            <a:pPr algn="l">
              <a:spcAft>
                <a:spcPts val="600"/>
              </a:spcAft>
              <a:defRPr/>
            </a:pPr>
            <a:endParaRPr sz="1900" b="1">
              <a:solidFill>
                <a:srgbClr val="202020"/>
              </a:solidFill>
              <a:latin typeface="맑은 고딕"/>
            </a:endParaRPr>
          </a:p>
          <a:p>
            <a:pPr algn="l">
              <a:spcAft>
                <a:spcPts val="600"/>
              </a:spcAft>
              <a:defRPr/>
            </a:pPr>
            <a:r>
              <a:rPr sz="2000" b="1">
                <a:solidFill>
                  <a:srgbClr val="ff0000"/>
                </a:solidFill>
                <a:latin typeface="맑은 고딕"/>
              </a:rPr>
              <a:t>진단이 아니라 스크리닝 — 진단·치료는 전적으로 의료기관의 영역</a:t>
            </a:r>
            <a:endParaRPr sz="2000" b="1">
              <a:solidFill>
                <a:srgbClr val="ff0000"/>
              </a:solidFill>
              <a:latin typeface="맑은 고딕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475720" y="6446520"/>
            <a:ext cx="640080" cy="266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  <a:defRPr/>
            </a:pPr>
            <a:r>
              <a:rPr sz="1200" b="0">
                <a:solidFill>
                  <a:srgbClr val="666666"/>
                </a:solidFill>
                <a:latin typeface="맑은 고딕"/>
              </a:rPr>
              <a:t>7</a:t>
            </a:r>
            <a:endParaRPr sz="1200" b="0">
              <a:solidFill>
                <a:srgbClr val="666666"/>
              </a:solidFill>
              <a:latin typeface="맑은 고딕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42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515600" cy="3341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/>
            </a:pPr>
            <a:r>
              <a:rPr sz="1600" b="1">
                <a:solidFill>
                  <a:srgbClr val="2A78D6"/>
                </a:solidFill>
                <a:latin typeface="맑은 고딕"/>
              </a:rPr>
              <a:t>02. 데이터와 분석 질문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1155680" cy="5478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/>
            </a:pPr>
            <a:r>
              <a:rPr sz="3000" b="1">
                <a:solidFill>
                  <a:srgbClr val="104281"/>
                </a:solidFill>
                <a:latin typeface="맑은 고딕"/>
              </a:rPr>
              <a:t>AI Hub 치매 고위험군 웨어러블 라이프로그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2052348"/>
              </p:ext>
            </p:extLst>
          </p:nvPr>
        </p:nvGraphicFramePr>
        <p:xfrm>
          <a:off x="822960" y="1648487"/>
          <a:ext cx="10515600" cy="43632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38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72655"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sz="2100" b="1" dirty="0" err="1">
                          <a:solidFill>
                            <a:srgbClr val="104281"/>
                          </a:solidFill>
                          <a:latin typeface="맑은 고딕"/>
                        </a:rPr>
                        <a:t>수집</a:t>
                      </a:r>
                      <a:r>
                        <a:rPr sz="2100" b="1" dirty="0">
                          <a:solidFill>
                            <a:srgbClr val="104281"/>
                          </a:solidFill>
                          <a:latin typeface="맑은 고딕"/>
                        </a:rPr>
                        <a:t> </a:t>
                      </a:r>
                      <a:r>
                        <a:rPr sz="2100" b="1" dirty="0" err="1">
                          <a:solidFill>
                            <a:srgbClr val="104281"/>
                          </a:solidFill>
                          <a:latin typeface="맑은 고딕"/>
                        </a:rPr>
                        <a:t>도구</a:t>
                      </a:r>
                      <a:endParaRPr sz="2100" b="1" dirty="0">
                        <a:solidFill>
                          <a:srgbClr val="104281"/>
                        </a:solidFill>
                        <a:latin typeface="맑은 고딕"/>
                      </a:endParaRPr>
                    </a:p>
                  </a:txBody>
                  <a:tcPr marL="164592" marT="128016"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sz="2100" b="1">
                          <a:solidFill>
                            <a:srgbClr val="202020"/>
                          </a:solidFill>
                          <a:latin typeface="맑은 고딕"/>
                        </a:rPr>
                        <a:t>Oura ring(반지형 웨어러블) — 일 단위 활동·수면 자동 기록</a:t>
                      </a:r>
                    </a:p>
                  </a:txBody>
                  <a:tcPr marL="164592" marT="12801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72655"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sz="2100" b="1">
                          <a:solidFill>
                            <a:srgbClr val="104281"/>
                          </a:solidFill>
                          <a:latin typeface="맑은 고딕"/>
                        </a:rPr>
                        <a:t>규모</a:t>
                      </a:r>
                    </a:p>
                  </a:txBody>
                  <a:tcPr marL="164592" marT="128016"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sz="2100" b="1" dirty="0">
                          <a:solidFill>
                            <a:srgbClr val="202020"/>
                          </a:solidFill>
                          <a:latin typeface="맑은 고딕"/>
                        </a:rPr>
                        <a:t>174명 × </a:t>
                      </a:r>
                      <a:r>
                        <a:rPr sz="2100" b="1" dirty="0" err="1">
                          <a:solidFill>
                            <a:srgbClr val="202020"/>
                          </a:solidFill>
                          <a:latin typeface="맑은 고딕"/>
                        </a:rPr>
                        <a:t>사람당</a:t>
                      </a:r>
                      <a:r>
                        <a:rPr sz="2100" b="1" dirty="0">
                          <a:solidFill>
                            <a:srgbClr val="202020"/>
                          </a:solidFill>
                          <a:latin typeface="맑은 고딕"/>
                        </a:rPr>
                        <a:t> 28~118일(</a:t>
                      </a:r>
                      <a:r>
                        <a:rPr sz="2100" b="1" dirty="0" err="1">
                          <a:solidFill>
                            <a:srgbClr val="202020"/>
                          </a:solidFill>
                          <a:latin typeface="맑은 고딕"/>
                        </a:rPr>
                        <a:t>평균</a:t>
                      </a:r>
                      <a:r>
                        <a:rPr sz="2100" b="1" dirty="0">
                          <a:solidFill>
                            <a:srgbClr val="202020"/>
                          </a:solidFill>
                          <a:latin typeface="맑은 고딕"/>
                        </a:rPr>
                        <a:t> 66일) = 11,499 </a:t>
                      </a:r>
                      <a:r>
                        <a:rPr sz="2100" b="1" dirty="0" err="1">
                          <a:solidFill>
                            <a:srgbClr val="202020"/>
                          </a:solidFill>
                          <a:latin typeface="맑은 고딕"/>
                        </a:rPr>
                        <a:t>사람×일</a:t>
                      </a:r>
                      <a:r>
                        <a:rPr sz="2100" b="1" dirty="0">
                          <a:solidFill>
                            <a:srgbClr val="202020"/>
                          </a:solidFill>
                          <a:latin typeface="맑은 고딕"/>
                        </a:rPr>
                        <a:t> </a:t>
                      </a:r>
                      <a:r>
                        <a:rPr sz="2100" b="1" dirty="0" err="1">
                          <a:solidFill>
                            <a:srgbClr val="202020"/>
                          </a:solidFill>
                          <a:latin typeface="맑은 고딕"/>
                        </a:rPr>
                        <a:t>기록</a:t>
                      </a:r>
                      <a:endParaRPr sz="2100" b="1" dirty="0">
                        <a:solidFill>
                          <a:srgbClr val="202020"/>
                        </a:solidFill>
                        <a:latin typeface="맑은 고딕"/>
                      </a:endParaRPr>
                    </a:p>
                  </a:txBody>
                  <a:tcPr marL="164592" marT="12801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72655"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sz="2100" b="1">
                          <a:solidFill>
                            <a:srgbClr val="104281"/>
                          </a:solidFill>
                          <a:latin typeface="맑은 고딕"/>
                        </a:rPr>
                        <a:t>진단 라벨</a:t>
                      </a:r>
                    </a:p>
                  </a:txBody>
                  <a:tcPr marL="164592" marT="128016"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sz="2100" b="1" dirty="0" err="1">
                          <a:solidFill>
                            <a:srgbClr val="202020"/>
                          </a:solidFill>
                          <a:latin typeface="맑은 고딕"/>
                        </a:rPr>
                        <a:t>정상</a:t>
                      </a:r>
                      <a:r>
                        <a:rPr sz="2100" b="1" dirty="0">
                          <a:solidFill>
                            <a:srgbClr val="202020"/>
                          </a:solidFill>
                          <a:latin typeface="맑은 고딕"/>
                        </a:rPr>
                        <a:t>(CN) 111명 · </a:t>
                      </a:r>
                      <a:r>
                        <a:rPr sz="2100" b="1" dirty="0" err="1">
                          <a:solidFill>
                            <a:srgbClr val="202020"/>
                          </a:solidFill>
                          <a:latin typeface="맑은 고딕"/>
                        </a:rPr>
                        <a:t>경도인지장애</a:t>
                      </a:r>
                      <a:r>
                        <a:rPr sz="2100" b="1" dirty="0">
                          <a:solidFill>
                            <a:srgbClr val="202020"/>
                          </a:solidFill>
                          <a:latin typeface="맑은 고딕"/>
                        </a:rPr>
                        <a:t>(MCI) 51명 · </a:t>
                      </a:r>
                      <a:r>
                        <a:rPr sz="2100" b="1" dirty="0" err="1">
                          <a:solidFill>
                            <a:srgbClr val="202020"/>
                          </a:solidFill>
                          <a:latin typeface="맑은 고딕"/>
                        </a:rPr>
                        <a:t>치매</a:t>
                      </a:r>
                      <a:r>
                        <a:rPr sz="2100" b="1" dirty="0">
                          <a:solidFill>
                            <a:srgbClr val="202020"/>
                          </a:solidFill>
                          <a:latin typeface="맑은 고딕"/>
                        </a:rPr>
                        <a:t>(Dem) 12명 </a:t>
                      </a:r>
                    </a:p>
                    <a:p>
                      <a:pPr lvl="0" algn="ctr">
                        <a:defRPr/>
                      </a:pPr>
                      <a:r>
                        <a:rPr sz="2100" b="1" dirty="0">
                          <a:solidFill>
                            <a:srgbClr val="202020"/>
                          </a:solidFill>
                          <a:latin typeface="맑은 고딕"/>
                        </a:rPr>
                        <a:t>— </a:t>
                      </a:r>
                      <a:r>
                        <a:rPr sz="2100" b="1" dirty="0" err="1">
                          <a:solidFill>
                            <a:srgbClr val="202020"/>
                          </a:solidFill>
                          <a:latin typeface="맑은 고딕"/>
                        </a:rPr>
                        <a:t>의사</a:t>
                      </a:r>
                      <a:r>
                        <a:rPr sz="2100" b="1" dirty="0">
                          <a:solidFill>
                            <a:srgbClr val="202020"/>
                          </a:solidFill>
                          <a:latin typeface="맑은 고딕"/>
                        </a:rPr>
                        <a:t> </a:t>
                      </a:r>
                      <a:r>
                        <a:rPr sz="2100" b="1" dirty="0" err="1">
                          <a:solidFill>
                            <a:srgbClr val="202020"/>
                          </a:solidFill>
                          <a:latin typeface="맑은 고딕"/>
                        </a:rPr>
                        <a:t>진단</a:t>
                      </a:r>
                      <a:endParaRPr sz="2100" b="1" dirty="0">
                        <a:solidFill>
                          <a:srgbClr val="202020"/>
                        </a:solidFill>
                        <a:latin typeface="맑은 고딕"/>
                      </a:endParaRPr>
                    </a:p>
                  </a:txBody>
                  <a:tcPr marL="164592" marT="12801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72655"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sz="2100" b="1">
                          <a:solidFill>
                            <a:srgbClr val="104281"/>
                          </a:solidFill>
                          <a:latin typeface="맑은 고딕"/>
                        </a:rPr>
                        <a:t>분류 대상</a:t>
                      </a:r>
                    </a:p>
                  </a:txBody>
                  <a:tcPr marL="164592" marT="128016"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sz="2100" b="1" dirty="0" err="1">
                          <a:solidFill>
                            <a:srgbClr val="202020"/>
                          </a:solidFill>
                          <a:latin typeface="맑은 고딕"/>
                        </a:rPr>
                        <a:t>정상군</a:t>
                      </a:r>
                      <a:r>
                        <a:rPr sz="2100" b="1" dirty="0">
                          <a:solidFill>
                            <a:srgbClr val="202020"/>
                          </a:solidFill>
                          <a:latin typeface="맑은 고딕"/>
                        </a:rPr>
                        <a:t> 111명  vs  </a:t>
                      </a:r>
                      <a:r>
                        <a:rPr sz="2100" b="1" dirty="0" err="1">
                          <a:solidFill>
                            <a:srgbClr val="202020"/>
                          </a:solidFill>
                          <a:latin typeface="맑은 고딕"/>
                        </a:rPr>
                        <a:t>위험군</a:t>
                      </a:r>
                      <a:r>
                        <a:rPr sz="2100" b="1" dirty="0">
                          <a:solidFill>
                            <a:srgbClr val="202020"/>
                          </a:solidFill>
                          <a:latin typeface="맑은 고딕"/>
                        </a:rPr>
                        <a:t>(</a:t>
                      </a:r>
                      <a:r>
                        <a:rPr sz="2100" b="1" dirty="0" err="1">
                          <a:solidFill>
                            <a:srgbClr val="202020"/>
                          </a:solidFill>
                          <a:latin typeface="맑은 고딕"/>
                        </a:rPr>
                        <a:t>경도인지장애+치매</a:t>
                      </a:r>
                      <a:r>
                        <a:rPr sz="2100" b="1" dirty="0">
                          <a:solidFill>
                            <a:srgbClr val="202020"/>
                          </a:solidFill>
                          <a:latin typeface="맑은 고딕"/>
                        </a:rPr>
                        <a:t>) 63명</a:t>
                      </a:r>
                    </a:p>
                  </a:txBody>
                  <a:tcPr marL="164592" marT="12801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72655"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sz="2100" b="1">
                          <a:solidFill>
                            <a:srgbClr val="104281"/>
                          </a:solidFill>
                          <a:latin typeface="맑은 고딕"/>
                        </a:rPr>
                        <a:t>입력 제외</a:t>
                      </a:r>
                    </a:p>
                  </a:txBody>
                  <a:tcPr marL="164592" marT="128016"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sz="2100" b="1" dirty="0">
                          <a:solidFill>
                            <a:srgbClr val="202020"/>
                          </a:solidFill>
                          <a:latin typeface="맑은 고딕"/>
                        </a:rPr>
                        <a:t>MMSE </a:t>
                      </a:r>
                      <a:r>
                        <a:rPr sz="2100" b="1" dirty="0" err="1">
                          <a:solidFill>
                            <a:srgbClr val="202020"/>
                          </a:solidFill>
                          <a:latin typeface="맑은 고딕"/>
                        </a:rPr>
                        <a:t>검사</a:t>
                      </a:r>
                      <a:r>
                        <a:rPr sz="2100" b="1" dirty="0">
                          <a:solidFill>
                            <a:srgbClr val="202020"/>
                          </a:solidFill>
                          <a:latin typeface="맑은 고딕"/>
                        </a:rPr>
                        <a:t> </a:t>
                      </a:r>
                      <a:r>
                        <a:rPr sz="2100" b="1" dirty="0" err="1">
                          <a:solidFill>
                            <a:srgbClr val="202020"/>
                          </a:solidFill>
                          <a:latin typeface="맑은 고딕"/>
                        </a:rPr>
                        <a:t>점수</a:t>
                      </a:r>
                      <a:r>
                        <a:rPr sz="2100" b="1" dirty="0">
                          <a:solidFill>
                            <a:srgbClr val="202020"/>
                          </a:solidFill>
                          <a:latin typeface="맑은 고딕"/>
                        </a:rPr>
                        <a:t> — </a:t>
                      </a:r>
                      <a:r>
                        <a:rPr sz="2100" b="1" dirty="0" err="1">
                          <a:solidFill>
                            <a:srgbClr val="202020"/>
                          </a:solidFill>
                          <a:latin typeface="맑은 고딕"/>
                        </a:rPr>
                        <a:t>진단에</a:t>
                      </a:r>
                      <a:r>
                        <a:rPr sz="2100" b="1" dirty="0">
                          <a:solidFill>
                            <a:srgbClr val="202020"/>
                          </a:solidFill>
                          <a:latin typeface="맑은 고딕"/>
                        </a:rPr>
                        <a:t> </a:t>
                      </a:r>
                      <a:r>
                        <a:rPr sz="2100" b="1" dirty="0" err="1">
                          <a:solidFill>
                            <a:srgbClr val="202020"/>
                          </a:solidFill>
                          <a:latin typeface="맑은 고딕"/>
                        </a:rPr>
                        <a:t>이미</a:t>
                      </a:r>
                      <a:r>
                        <a:rPr sz="2100" b="1" dirty="0">
                          <a:solidFill>
                            <a:srgbClr val="202020"/>
                          </a:solidFill>
                          <a:latin typeface="맑은 고딕"/>
                        </a:rPr>
                        <a:t> </a:t>
                      </a:r>
                      <a:r>
                        <a:rPr sz="2100" b="1" dirty="0" err="1">
                          <a:solidFill>
                            <a:srgbClr val="202020"/>
                          </a:solidFill>
                          <a:latin typeface="맑은 고딕"/>
                        </a:rPr>
                        <a:t>쓰인</a:t>
                      </a:r>
                      <a:r>
                        <a:rPr sz="2100" b="1" dirty="0">
                          <a:solidFill>
                            <a:srgbClr val="202020"/>
                          </a:solidFill>
                          <a:latin typeface="맑은 고딕"/>
                        </a:rPr>
                        <a:t> </a:t>
                      </a:r>
                      <a:r>
                        <a:rPr sz="2100" b="1" dirty="0" err="1">
                          <a:solidFill>
                            <a:srgbClr val="202020"/>
                          </a:solidFill>
                          <a:latin typeface="맑은 고딕"/>
                        </a:rPr>
                        <a:t>정답이므로</a:t>
                      </a:r>
                      <a:r>
                        <a:rPr sz="2100" b="1" dirty="0">
                          <a:solidFill>
                            <a:srgbClr val="202020"/>
                          </a:solidFill>
                          <a:latin typeface="맑은 고딕"/>
                        </a:rPr>
                        <a:t> </a:t>
                      </a:r>
                      <a:r>
                        <a:rPr sz="2100" b="1" dirty="0" err="1">
                          <a:solidFill>
                            <a:srgbClr val="202020"/>
                          </a:solidFill>
                          <a:latin typeface="맑은 고딕"/>
                        </a:rPr>
                        <a:t>제외</a:t>
                      </a:r>
                      <a:r>
                        <a:rPr sz="2100" b="1" dirty="0">
                          <a:solidFill>
                            <a:srgbClr val="202020"/>
                          </a:solidFill>
                          <a:latin typeface="맑은 고딕"/>
                        </a:rPr>
                        <a:t> </a:t>
                      </a:r>
                    </a:p>
                    <a:p>
                      <a:pPr lvl="0" algn="ctr">
                        <a:defRPr/>
                      </a:pPr>
                      <a:r>
                        <a:rPr sz="2100" b="1" dirty="0">
                          <a:solidFill>
                            <a:srgbClr val="202020"/>
                          </a:solidFill>
                          <a:latin typeface="맑은 고딕"/>
                        </a:rPr>
                        <a:t>(</a:t>
                      </a:r>
                      <a:r>
                        <a:rPr sz="2100" b="1" dirty="0" err="1">
                          <a:solidFill>
                            <a:srgbClr val="202020"/>
                          </a:solidFill>
                          <a:latin typeface="맑은 고딕"/>
                        </a:rPr>
                        <a:t>순환</a:t>
                      </a:r>
                      <a:r>
                        <a:rPr sz="2100" b="1" dirty="0">
                          <a:solidFill>
                            <a:srgbClr val="202020"/>
                          </a:solidFill>
                          <a:latin typeface="맑은 고딕"/>
                        </a:rPr>
                        <a:t> </a:t>
                      </a:r>
                      <a:r>
                        <a:rPr sz="2100" b="1" dirty="0" err="1">
                          <a:solidFill>
                            <a:srgbClr val="202020"/>
                          </a:solidFill>
                          <a:latin typeface="맑은 고딕"/>
                        </a:rPr>
                        <a:t>논리</a:t>
                      </a:r>
                      <a:r>
                        <a:rPr sz="2100" b="1" dirty="0">
                          <a:solidFill>
                            <a:srgbClr val="202020"/>
                          </a:solidFill>
                          <a:latin typeface="맑은 고딕"/>
                        </a:rPr>
                        <a:t> </a:t>
                      </a:r>
                      <a:r>
                        <a:rPr sz="2100" b="1" dirty="0" err="1">
                          <a:solidFill>
                            <a:srgbClr val="202020"/>
                          </a:solidFill>
                          <a:latin typeface="맑은 고딕"/>
                        </a:rPr>
                        <a:t>방지</a:t>
                      </a:r>
                      <a:r>
                        <a:rPr sz="2100" b="1" dirty="0">
                          <a:solidFill>
                            <a:srgbClr val="202020"/>
                          </a:solidFill>
                          <a:latin typeface="맑은 고딕"/>
                        </a:rPr>
                        <a:t>)</a:t>
                      </a:r>
                    </a:p>
                  </a:txBody>
                  <a:tcPr marL="164592" marT="12801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1475720" y="6446520"/>
            <a:ext cx="640080" cy="266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  <a:defRPr/>
            </a:pPr>
            <a:r>
              <a:rPr sz="1200" b="0">
                <a:solidFill>
                  <a:srgbClr val="666666"/>
                </a:solidFill>
                <a:latin typeface="맑은 고딕"/>
              </a:rPr>
              <a:t>8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42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515600" cy="3341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/>
            </a:pPr>
            <a:r>
              <a:rPr sz="1600" b="1">
                <a:solidFill>
                  <a:srgbClr val="2A78D6"/>
                </a:solidFill>
                <a:latin typeface="맑은 고딕"/>
              </a:rPr>
              <a:t>02. 데이터와 분석 질문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1155680" cy="5478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/>
            </a:pPr>
            <a:r>
              <a:rPr sz="3000" b="1">
                <a:solidFill>
                  <a:srgbClr val="104281"/>
                </a:solidFill>
                <a:latin typeface="맑은 고딕"/>
              </a:rPr>
              <a:t>하루 기록 11,499개를 '사람 단위 지표' 44개로 요약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654450"/>
            <a:ext cx="10859368" cy="44165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/>
            </a:pPr>
            <a:r>
              <a:rPr sz="2200" b="1" dirty="0">
                <a:solidFill>
                  <a:srgbClr val="202020"/>
                </a:solidFill>
                <a:latin typeface="맑은 고딕"/>
              </a:rPr>
              <a:t>① </a:t>
            </a:r>
            <a:r>
              <a:rPr sz="2200" b="1" dirty="0" err="1">
                <a:solidFill>
                  <a:srgbClr val="202020"/>
                </a:solidFill>
                <a:latin typeface="맑은 고딕"/>
              </a:rPr>
              <a:t>신뢰</a:t>
            </a:r>
            <a:r>
              <a:rPr sz="2200" b="1" dirty="0">
                <a:solidFill>
                  <a:srgbClr val="202020"/>
                </a:solidFill>
                <a:latin typeface="맑은 고딕"/>
              </a:rPr>
              <a:t> </a:t>
            </a:r>
            <a:r>
              <a:rPr sz="2200" b="1" dirty="0" err="1">
                <a:solidFill>
                  <a:srgbClr val="202020"/>
                </a:solidFill>
                <a:latin typeface="맑은 고딕"/>
              </a:rPr>
              <a:t>필터</a:t>
            </a:r>
            <a:r>
              <a:rPr sz="2200" b="1" dirty="0">
                <a:solidFill>
                  <a:srgbClr val="202020"/>
                </a:solidFill>
                <a:latin typeface="맑은 고딕"/>
              </a:rPr>
              <a:t> — </a:t>
            </a:r>
            <a:r>
              <a:rPr sz="2200" b="1" dirty="0" err="1">
                <a:solidFill>
                  <a:srgbClr val="202020"/>
                </a:solidFill>
                <a:latin typeface="맑은 고딕"/>
              </a:rPr>
              <a:t>반지</a:t>
            </a:r>
            <a:r>
              <a:rPr sz="2200" b="1" dirty="0">
                <a:solidFill>
                  <a:srgbClr val="202020"/>
                </a:solidFill>
                <a:latin typeface="맑은 고딕"/>
              </a:rPr>
              <a:t> </a:t>
            </a:r>
            <a:r>
              <a:rPr sz="2200" b="1" dirty="0" err="1">
                <a:solidFill>
                  <a:srgbClr val="202020"/>
                </a:solidFill>
                <a:latin typeface="맑은 고딕"/>
              </a:rPr>
              <a:t>미착용이</a:t>
            </a:r>
            <a:r>
              <a:rPr sz="2200" b="1" dirty="0">
                <a:solidFill>
                  <a:srgbClr val="202020"/>
                </a:solidFill>
                <a:latin typeface="맑은 고딕"/>
              </a:rPr>
              <a:t> 긴 날(180분 </a:t>
            </a:r>
            <a:r>
              <a:rPr sz="2200" b="1" dirty="0" err="1">
                <a:solidFill>
                  <a:srgbClr val="202020"/>
                </a:solidFill>
                <a:latin typeface="맑은 고딕"/>
              </a:rPr>
              <a:t>이상</a:t>
            </a:r>
            <a:r>
              <a:rPr sz="2200" b="1" dirty="0">
                <a:solidFill>
                  <a:srgbClr val="202020"/>
                </a:solidFill>
                <a:latin typeface="맑은 고딕"/>
              </a:rPr>
              <a:t>)은 </a:t>
            </a:r>
            <a:r>
              <a:rPr sz="2200" b="1" dirty="0" err="1">
                <a:solidFill>
                  <a:srgbClr val="202020"/>
                </a:solidFill>
                <a:latin typeface="맑은 고딕"/>
              </a:rPr>
              <a:t>그날</a:t>
            </a:r>
            <a:r>
              <a:rPr sz="2200" b="1" dirty="0">
                <a:solidFill>
                  <a:srgbClr val="202020"/>
                </a:solidFill>
                <a:latin typeface="맑은 고딕"/>
              </a:rPr>
              <a:t> </a:t>
            </a:r>
            <a:r>
              <a:rPr sz="2200" b="1" dirty="0" err="1">
                <a:solidFill>
                  <a:srgbClr val="202020"/>
                </a:solidFill>
                <a:latin typeface="맑은 고딕"/>
              </a:rPr>
              <a:t>기록</a:t>
            </a:r>
            <a:r>
              <a:rPr sz="2200" b="1" dirty="0">
                <a:solidFill>
                  <a:srgbClr val="202020"/>
                </a:solidFill>
                <a:latin typeface="맑은 고딕"/>
              </a:rPr>
              <a:t> </a:t>
            </a:r>
            <a:r>
              <a:rPr sz="2200" b="1" dirty="0" err="1">
                <a:solidFill>
                  <a:srgbClr val="202020"/>
                </a:solidFill>
                <a:latin typeface="맑은 고딕"/>
              </a:rPr>
              <a:t>전체를</a:t>
            </a:r>
            <a:r>
              <a:rPr sz="2200" b="1" dirty="0">
                <a:solidFill>
                  <a:srgbClr val="202020"/>
                </a:solidFill>
                <a:latin typeface="맑은 고딕"/>
              </a:rPr>
              <a:t> </a:t>
            </a:r>
            <a:r>
              <a:rPr sz="2200" b="1" dirty="0" err="1">
                <a:solidFill>
                  <a:srgbClr val="202020"/>
                </a:solidFill>
                <a:latin typeface="맑은 고딕"/>
              </a:rPr>
              <a:t>제외</a:t>
            </a:r>
            <a:endParaRPr sz="2200" b="1" dirty="0">
              <a:solidFill>
                <a:srgbClr val="202020"/>
              </a:solidFill>
              <a:latin typeface="맑은 고딕"/>
            </a:endParaRPr>
          </a:p>
          <a:p>
            <a:pPr algn="l">
              <a:spcAft>
                <a:spcPts val="600"/>
              </a:spcAft>
              <a:defRPr/>
            </a:pPr>
            <a:endParaRPr sz="2200" b="1" dirty="0">
              <a:solidFill>
                <a:srgbClr val="202020"/>
              </a:solidFill>
              <a:latin typeface="맑은 고딕"/>
            </a:endParaRPr>
          </a:p>
          <a:p>
            <a:pPr algn="l">
              <a:spcAft>
                <a:spcPts val="600"/>
              </a:spcAft>
              <a:defRPr/>
            </a:pPr>
            <a:r>
              <a:rPr sz="2200" b="1" dirty="0">
                <a:solidFill>
                  <a:srgbClr val="202020"/>
                </a:solidFill>
                <a:latin typeface="맑은 고딕"/>
              </a:rPr>
              <a:t>② </a:t>
            </a:r>
            <a:r>
              <a:rPr sz="2200" b="1" dirty="0" err="1">
                <a:solidFill>
                  <a:srgbClr val="202020"/>
                </a:solidFill>
                <a:latin typeface="맑은 고딕"/>
              </a:rPr>
              <a:t>매칭</a:t>
            </a:r>
            <a:r>
              <a:rPr sz="2200" b="1" dirty="0">
                <a:solidFill>
                  <a:srgbClr val="202020"/>
                </a:solidFill>
                <a:latin typeface="맑은 고딕"/>
              </a:rPr>
              <a:t> — </a:t>
            </a:r>
            <a:r>
              <a:rPr sz="2200" b="1" dirty="0" err="1">
                <a:solidFill>
                  <a:srgbClr val="202020"/>
                </a:solidFill>
                <a:latin typeface="맑은 고딕"/>
              </a:rPr>
              <a:t>활동·수면</a:t>
            </a:r>
            <a:r>
              <a:rPr sz="2200" b="1" dirty="0">
                <a:solidFill>
                  <a:srgbClr val="202020"/>
                </a:solidFill>
                <a:latin typeface="맑은 고딕"/>
              </a:rPr>
              <a:t> </a:t>
            </a:r>
            <a:r>
              <a:rPr sz="2200" b="1" dirty="0" err="1">
                <a:solidFill>
                  <a:srgbClr val="202020"/>
                </a:solidFill>
                <a:latin typeface="맑은 고딕"/>
              </a:rPr>
              <a:t>기록을</a:t>
            </a:r>
            <a:r>
              <a:rPr sz="2200" b="1" dirty="0">
                <a:solidFill>
                  <a:srgbClr val="202020"/>
                </a:solidFill>
                <a:latin typeface="맑은 고딕"/>
              </a:rPr>
              <a:t> </a:t>
            </a:r>
            <a:r>
              <a:rPr sz="2200" b="1" dirty="0" err="1">
                <a:solidFill>
                  <a:srgbClr val="202020"/>
                </a:solidFill>
                <a:latin typeface="맑은 고딕"/>
              </a:rPr>
              <a:t>사람</a:t>
            </a:r>
            <a:r>
              <a:rPr sz="2200" b="1" dirty="0">
                <a:solidFill>
                  <a:srgbClr val="202020"/>
                </a:solidFill>
                <a:latin typeface="맑은 고딕"/>
              </a:rPr>
              <a:t> </a:t>
            </a:r>
            <a:r>
              <a:rPr sz="2200" b="1" dirty="0" err="1">
                <a:solidFill>
                  <a:srgbClr val="202020"/>
                </a:solidFill>
                <a:latin typeface="맑은 고딕"/>
              </a:rPr>
              <a:t>기준으로</a:t>
            </a:r>
            <a:r>
              <a:rPr sz="2200" b="1" dirty="0">
                <a:solidFill>
                  <a:srgbClr val="202020"/>
                </a:solidFill>
                <a:latin typeface="맑은 고딕"/>
              </a:rPr>
              <a:t> </a:t>
            </a:r>
            <a:r>
              <a:rPr sz="2200" b="1" dirty="0" err="1">
                <a:solidFill>
                  <a:srgbClr val="202020"/>
                </a:solidFill>
                <a:latin typeface="맑은 고딕"/>
              </a:rPr>
              <a:t>진단</a:t>
            </a:r>
            <a:r>
              <a:rPr sz="2200" b="1" dirty="0">
                <a:solidFill>
                  <a:srgbClr val="202020"/>
                </a:solidFill>
                <a:latin typeface="맑은 고딕"/>
              </a:rPr>
              <a:t> </a:t>
            </a:r>
            <a:r>
              <a:rPr sz="2200" b="1" dirty="0" err="1">
                <a:solidFill>
                  <a:srgbClr val="202020"/>
                </a:solidFill>
                <a:latin typeface="맑은 고딕"/>
              </a:rPr>
              <a:t>결과와</a:t>
            </a:r>
            <a:r>
              <a:rPr sz="2200" b="1" dirty="0">
                <a:solidFill>
                  <a:srgbClr val="202020"/>
                </a:solidFill>
                <a:latin typeface="맑은 고딕"/>
              </a:rPr>
              <a:t> </a:t>
            </a:r>
            <a:r>
              <a:rPr sz="2200" b="1" dirty="0" err="1">
                <a:solidFill>
                  <a:srgbClr val="202020"/>
                </a:solidFill>
                <a:latin typeface="맑은 고딕"/>
              </a:rPr>
              <a:t>연결</a:t>
            </a:r>
            <a:r>
              <a:rPr lang="en-US" sz="2200" b="1" dirty="0">
                <a:solidFill>
                  <a:srgbClr val="202020"/>
                </a:solidFill>
                <a:latin typeface="맑은 고딕"/>
              </a:rPr>
              <a:t> </a:t>
            </a:r>
            <a:r>
              <a:rPr sz="2200" b="1" dirty="0">
                <a:solidFill>
                  <a:srgbClr val="202020"/>
                </a:solidFill>
                <a:latin typeface="맑은 고딕"/>
              </a:rPr>
              <a:t>(174명 </a:t>
            </a:r>
            <a:r>
              <a:rPr sz="2200" b="1" dirty="0" err="1">
                <a:solidFill>
                  <a:srgbClr val="202020"/>
                </a:solidFill>
                <a:latin typeface="맑은 고딕"/>
              </a:rPr>
              <a:t>전원</a:t>
            </a:r>
            <a:r>
              <a:rPr sz="2200" b="1" dirty="0">
                <a:solidFill>
                  <a:srgbClr val="202020"/>
                </a:solidFill>
                <a:latin typeface="맑은 고딕"/>
              </a:rPr>
              <a:t> </a:t>
            </a:r>
            <a:r>
              <a:rPr sz="2200" b="1" dirty="0" err="1">
                <a:solidFill>
                  <a:srgbClr val="202020"/>
                </a:solidFill>
                <a:latin typeface="맑은 고딕"/>
              </a:rPr>
              <a:t>확인</a:t>
            </a:r>
            <a:r>
              <a:rPr sz="2200" b="1" dirty="0">
                <a:solidFill>
                  <a:srgbClr val="202020"/>
                </a:solidFill>
                <a:latin typeface="맑은 고딕"/>
              </a:rPr>
              <a:t>)</a:t>
            </a:r>
          </a:p>
          <a:p>
            <a:pPr algn="l">
              <a:spcAft>
                <a:spcPts val="600"/>
              </a:spcAft>
              <a:defRPr/>
            </a:pPr>
            <a:endParaRPr sz="2200" b="1" dirty="0">
              <a:solidFill>
                <a:srgbClr val="202020"/>
              </a:solidFill>
              <a:latin typeface="맑은 고딕"/>
            </a:endParaRPr>
          </a:p>
          <a:p>
            <a:pPr algn="l">
              <a:spcAft>
                <a:spcPts val="600"/>
              </a:spcAft>
              <a:defRPr/>
            </a:pPr>
            <a:r>
              <a:rPr sz="2200" b="1" dirty="0">
                <a:solidFill>
                  <a:srgbClr val="202020"/>
                </a:solidFill>
                <a:latin typeface="맑은 고딕"/>
              </a:rPr>
              <a:t>③ </a:t>
            </a:r>
            <a:r>
              <a:rPr sz="2200" b="1" dirty="0" err="1">
                <a:solidFill>
                  <a:srgbClr val="202020"/>
                </a:solidFill>
                <a:latin typeface="맑은 고딕"/>
              </a:rPr>
              <a:t>요약</a:t>
            </a:r>
            <a:r>
              <a:rPr sz="2200" b="1" dirty="0">
                <a:solidFill>
                  <a:srgbClr val="202020"/>
                </a:solidFill>
                <a:latin typeface="맑은 고딕"/>
              </a:rPr>
              <a:t> — </a:t>
            </a:r>
            <a:r>
              <a:rPr sz="2200" b="1" dirty="0" err="1">
                <a:solidFill>
                  <a:srgbClr val="202020"/>
                </a:solidFill>
                <a:latin typeface="맑은 고딕"/>
              </a:rPr>
              <a:t>사람</a:t>
            </a:r>
            <a:r>
              <a:rPr sz="2200" b="1" dirty="0">
                <a:solidFill>
                  <a:srgbClr val="202020"/>
                </a:solidFill>
                <a:latin typeface="맑은 고딕"/>
              </a:rPr>
              <a:t> 1명당 28~118일 </a:t>
            </a:r>
            <a:r>
              <a:rPr sz="2200" b="1" dirty="0" err="1">
                <a:solidFill>
                  <a:srgbClr val="202020"/>
                </a:solidFill>
                <a:latin typeface="맑은 고딕"/>
              </a:rPr>
              <a:t>기록을</a:t>
            </a:r>
            <a:r>
              <a:rPr sz="2200" b="1" dirty="0">
                <a:solidFill>
                  <a:srgbClr val="202020"/>
                </a:solidFill>
                <a:latin typeface="맑은 고딕"/>
              </a:rPr>
              <a:t> </a:t>
            </a:r>
            <a:r>
              <a:rPr sz="2200" b="1" dirty="0" err="1">
                <a:solidFill>
                  <a:srgbClr val="202020"/>
                </a:solidFill>
                <a:latin typeface="맑은 고딕"/>
              </a:rPr>
              <a:t>지표별</a:t>
            </a:r>
            <a:r>
              <a:rPr sz="2200" b="1" dirty="0">
                <a:solidFill>
                  <a:srgbClr val="202020"/>
                </a:solidFill>
                <a:latin typeface="맑은 고딕"/>
              </a:rPr>
              <a:t> </a:t>
            </a:r>
            <a:r>
              <a:rPr sz="2200" b="1" dirty="0" err="1">
                <a:solidFill>
                  <a:srgbClr val="202020"/>
                </a:solidFill>
                <a:latin typeface="맑은 고딕"/>
              </a:rPr>
              <a:t>평균</a:t>
            </a:r>
            <a:r>
              <a:rPr sz="2200" b="1" dirty="0">
                <a:solidFill>
                  <a:srgbClr val="202020"/>
                </a:solidFill>
                <a:latin typeface="맑은 고딕"/>
              </a:rPr>
              <a:t>(</a:t>
            </a:r>
            <a:r>
              <a:rPr sz="2200" b="1" dirty="0" err="1">
                <a:solidFill>
                  <a:srgbClr val="202020"/>
                </a:solidFill>
                <a:latin typeface="맑은 고딕"/>
              </a:rPr>
              <a:t>수준</a:t>
            </a:r>
            <a:r>
              <a:rPr sz="2200" b="1" dirty="0">
                <a:solidFill>
                  <a:srgbClr val="202020"/>
                </a:solidFill>
                <a:latin typeface="맑은 고딕"/>
              </a:rPr>
              <a:t>) </a:t>
            </a:r>
            <a:endParaRPr lang="en-US" sz="2200" b="1" dirty="0">
              <a:solidFill>
                <a:srgbClr val="202020"/>
              </a:solidFill>
              <a:latin typeface="맑은 고딕"/>
            </a:endParaRPr>
          </a:p>
          <a:p>
            <a:pPr algn="l">
              <a:spcAft>
                <a:spcPts val="600"/>
              </a:spcAft>
              <a:defRPr/>
            </a:pPr>
            <a:r>
              <a:rPr lang="en-US" sz="2200" b="1" dirty="0">
                <a:solidFill>
                  <a:srgbClr val="202020"/>
                </a:solidFill>
                <a:latin typeface="맑은 고딕"/>
              </a:rPr>
              <a:t>											</a:t>
            </a:r>
            <a:r>
              <a:rPr sz="2200" b="1" dirty="0">
                <a:solidFill>
                  <a:srgbClr val="202020"/>
                </a:solidFill>
                <a:latin typeface="맑은 고딕"/>
              </a:rPr>
              <a:t>+ </a:t>
            </a:r>
            <a:r>
              <a:rPr sz="2200" b="1" dirty="0" err="1">
                <a:solidFill>
                  <a:srgbClr val="202020"/>
                </a:solidFill>
                <a:latin typeface="맑은 고딕"/>
              </a:rPr>
              <a:t>표준편차</a:t>
            </a:r>
            <a:r>
              <a:rPr sz="2200" b="1" dirty="0">
                <a:solidFill>
                  <a:srgbClr val="202020"/>
                </a:solidFill>
                <a:latin typeface="맑은 고딕"/>
              </a:rPr>
              <a:t>(</a:t>
            </a:r>
            <a:r>
              <a:rPr sz="2200" b="1" dirty="0" err="1">
                <a:solidFill>
                  <a:srgbClr val="202020"/>
                </a:solidFill>
                <a:latin typeface="맑은 고딕"/>
              </a:rPr>
              <a:t>들쭉날쭉함</a:t>
            </a:r>
            <a:r>
              <a:rPr sz="2200" b="1" dirty="0">
                <a:solidFill>
                  <a:srgbClr val="202020"/>
                </a:solidFill>
                <a:latin typeface="맑은 고딕"/>
              </a:rPr>
              <a:t>)로 </a:t>
            </a:r>
            <a:r>
              <a:rPr sz="2200" b="1" dirty="0" err="1">
                <a:solidFill>
                  <a:srgbClr val="202020"/>
                </a:solidFill>
                <a:latin typeface="맑은 고딕"/>
              </a:rPr>
              <a:t>압축</a:t>
            </a:r>
            <a:endParaRPr sz="2200" b="1" dirty="0">
              <a:solidFill>
                <a:srgbClr val="202020"/>
              </a:solidFill>
              <a:latin typeface="맑은 고딕"/>
            </a:endParaRPr>
          </a:p>
          <a:p>
            <a:pPr algn="l">
              <a:spcAft>
                <a:spcPts val="600"/>
              </a:spcAft>
              <a:defRPr/>
            </a:pPr>
            <a:endParaRPr b="1" dirty="0">
              <a:solidFill>
                <a:srgbClr val="202020"/>
              </a:solidFill>
              <a:latin typeface="맑은 고딕"/>
            </a:endParaRPr>
          </a:p>
          <a:p>
            <a:pPr algn="l">
              <a:spcAft>
                <a:spcPts val="600"/>
              </a:spcAft>
              <a:defRPr/>
            </a:pPr>
            <a:r>
              <a:rPr lang="en-US" sz="2200" b="1" dirty="0">
                <a:solidFill>
                  <a:srgbClr val="104281"/>
                </a:solidFill>
                <a:latin typeface="맑은 고딕"/>
              </a:rPr>
              <a:t>	</a:t>
            </a:r>
            <a:r>
              <a:rPr sz="2200" b="1" dirty="0">
                <a:solidFill>
                  <a:srgbClr val="104281"/>
                </a:solidFill>
                <a:latin typeface="맑은 고딕"/>
              </a:rPr>
              <a:t>→ 174명 × 44개 </a:t>
            </a:r>
            <a:r>
              <a:rPr sz="2200" b="1" dirty="0" err="1">
                <a:solidFill>
                  <a:srgbClr val="104281"/>
                </a:solidFill>
                <a:latin typeface="맑은 고딕"/>
              </a:rPr>
              <a:t>지표</a:t>
            </a:r>
            <a:r>
              <a:rPr sz="2200" b="1" dirty="0">
                <a:solidFill>
                  <a:srgbClr val="104281"/>
                </a:solidFill>
                <a:latin typeface="맑은 고딕"/>
              </a:rPr>
              <a:t> </a:t>
            </a:r>
            <a:r>
              <a:rPr sz="2200" b="1" dirty="0" err="1">
                <a:solidFill>
                  <a:srgbClr val="104281"/>
                </a:solidFill>
                <a:latin typeface="맑은 고딕"/>
              </a:rPr>
              <a:t>테이블</a:t>
            </a:r>
            <a:r>
              <a:rPr sz="2200" b="1" dirty="0">
                <a:solidFill>
                  <a:srgbClr val="104281"/>
                </a:solidFill>
                <a:latin typeface="맑은 고딕"/>
              </a:rPr>
              <a:t> </a:t>
            </a:r>
            <a:r>
              <a:rPr sz="2200" b="1" dirty="0" err="1">
                <a:solidFill>
                  <a:srgbClr val="104281"/>
                </a:solidFill>
                <a:latin typeface="맑은 고딕"/>
              </a:rPr>
              <a:t>완성</a:t>
            </a:r>
            <a:r>
              <a:rPr sz="2200" b="1" dirty="0">
                <a:solidFill>
                  <a:srgbClr val="104281"/>
                </a:solidFill>
                <a:latin typeface="맑은 고딕"/>
              </a:rPr>
              <a:t> </a:t>
            </a:r>
            <a:endParaRPr lang="en-US" sz="2200" b="1" dirty="0">
              <a:solidFill>
                <a:srgbClr val="104281"/>
              </a:solidFill>
              <a:latin typeface="맑은 고딕"/>
            </a:endParaRPr>
          </a:p>
          <a:p>
            <a:pPr algn="l">
              <a:spcAft>
                <a:spcPts val="600"/>
              </a:spcAft>
              <a:defRPr/>
            </a:pPr>
            <a:r>
              <a:rPr lang="en-US" sz="2200" b="1" dirty="0">
                <a:solidFill>
                  <a:srgbClr val="104281"/>
                </a:solidFill>
                <a:latin typeface="맑은 고딕"/>
              </a:rPr>
              <a:t>						</a:t>
            </a:r>
            <a:r>
              <a:rPr sz="2200" b="1" dirty="0">
                <a:solidFill>
                  <a:srgbClr val="104281"/>
                </a:solidFill>
                <a:latin typeface="맑은 고딕"/>
              </a:rPr>
              <a:t>— </a:t>
            </a:r>
            <a:r>
              <a:rPr sz="2200" b="1" dirty="0" err="1">
                <a:solidFill>
                  <a:srgbClr val="104281"/>
                </a:solidFill>
                <a:latin typeface="맑은 고딕"/>
              </a:rPr>
              <a:t>이후</a:t>
            </a:r>
            <a:r>
              <a:rPr sz="2200" b="1" dirty="0">
                <a:solidFill>
                  <a:srgbClr val="104281"/>
                </a:solidFill>
                <a:latin typeface="맑은 고딕"/>
              </a:rPr>
              <a:t> </a:t>
            </a:r>
            <a:r>
              <a:rPr sz="2200" b="1" dirty="0" err="1">
                <a:solidFill>
                  <a:srgbClr val="104281"/>
                </a:solidFill>
                <a:latin typeface="맑은 고딕"/>
              </a:rPr>
              <a:t>모든</a:t>
            </a:r>
            <a:r>
              <a:rPr sz="2200" b="1" dirty="0">
                <a:solidFill>
                  <a:srgbClr val="104281"/>
                </a:solidFill>
                <a:latin typeface="맑은 고딕"/>
              </a:rPr>
              <a:t> </a:t>
            </a:r>
            <a:r>
              <a:rPr sz="2200" b="1" dirty="0" err="1">
                <a:solidFill>
                  <a:srgbClr val="104281"/>
                </a:solidFill>
                <a:latin typeface="맑은 고딕"/>
              </a:rPr>
              <a:t>분석·모델·서비스가</a:t>
            </a:r>
            <a:r>
              <a:rPr sz="2200" b="1" dirty="0">
                <a:solidFill>
                  <a:srgbClr val="104281"/>
                </a:solidFill>
                <a:latin typeface="맑은 고딕"/>
              </a:rPr>
              <a:t> 이 표 </a:t>
            </a:r>
            <a:r>
              <a:rPr sz="2200" b="1" dirty="0" err="1">
                <a:solidFill>
                  <a:srgbClr val="104281"/>
                </a:solidFill>
                <a:latin typeface="맑은 고딕"/>
              </a:rPr>
              <a:t>하나에서</a:t>
            </a:r>
            <a:r>
              <a:rPr sz="2200" b="1" dirty="0">
                <a:solidFill>
                  <a:srgbClr val="104281"/>
                </a:solidFill>
                <a:latin typeface="맑은 고딕"/>
              </a:rPr>
              <a:t> </a:t>
            </a:r>
            <a:r>
              <a:rPr sz="2200" b="1" dirty="0" err="1">
                <a:solidFill>
                  <a:srgbClr val="104281"/>
                </a:solidFill>
                <a:latin typeface="맑은 고딕"/>
              </a:rPr>
              <a:t>출발</a:t>
            </a:r>
            <a:endParaRPr sz="2200" b="1" dirty="0">
              <a:solidFill>
                <a:srgbClr val="104281"/>
              </a:solidFill>
              <a:latin typeface="맑은 고딕"/>
            </a:endParaRPr>
          </a:p>
          <a:p>
            <a:pPr algn="l">
              <a:spcAft>
                <a:spcPts val="600"/>
              </a:spcAft>
              <a:defRPr/>
            </a:pPr>
            <a:endParaRPr b="1" dirty="0">
              <a:solidFill>
                <a:srgbClr val="202020"/>
              </a:solidFill>
              <a:latin typeface="맑은 고딕"/>
            </a:endParaRPr>
          </a:p>
          <a:p>
            <a:pPr algn="l">
              <a:spcAft>
                <a:spcPts val="600"/>
              </a:spcAft>
              <a:defRPr/>
            </a:pPr>
            <a:r>
              <a:rPr sz="2000" b="1" dirty="0" err="1">
                <a:solidFill>
                  <a:srgbClr val="FF0000"/>
                </a:solidFill>
                <a:latin typeface="맑은 고딕"/>
              </a:rPr>
              <a:t>전처리</a:t>
            </a:r>
            <a:r>
              <a:rPr sz="2000" b="1" dirty="0">
                <a:solidFill>
                  <a:srgbClr val="FF0000"/>
                </a:solidFill>
                <a:latin typeface="맑은 고딕"/>
              </a:rPr>
              <a:t> </a:t>
            </a:r>
            <a:r>
              <a:rPr sz="2000" b="1" dirty="0" err="1">
                <a:solidFill>
                  <a:srgbClr val="FF0000"/>
                </a:solidFill>
                <a:latin typeface="맑은 고딕"/>
              </a:rPr>
              <a:t>기준은</a:t>
            </a:r>
            <a:r>
              <a:rPr sz="2000" b="1" dirty="0">
                <a:solidFill>
                  <a:srgbClr val="FF0000"/>
                </a:solidFill>
                <a:latin typeface="맑은 고딕"/>
              </a:rPr>
              <a:t> </a:t>
            </a:r>
            <a:r>
              <a:rPr sz="2000" b="1" dirty="0" err="1">
                <a:solidFill>
                  <a:srgbClr val="FF0000"/>
                </a:solidFill>
                <a:latin typeface="맑은 고딕"/>
              </a:rPr>
              <a:t>전부</a:t>
            </a:r>
            <a:r>
              <a:rPr sz="2000" b="1" dirty="0">
                <a:solidFill>
                  <a:srgbClr val="FF0000"/>
                </a:solidFill>
                <a:latin typeface="맑은 고딕"/>
              </a:rPr>
              <a:t> </a:t>
            </a:r>
            <a:r>
              <a:rPr sz="2000" b="1" dirty="0" err="1">
                <a:solidFill>
                  <a:srgbClr val="FF0000"/>
                </a:solidFill>
                <a:latin typeface="맑은 고딕"/>
              </a:rPr>
              <a:t>코드로</a:t>
            </a:r>
            <a:r>
              <a:rPr sz="2000" b="1" dirty="0">
                <a:solidFill>
                  <a:srgbClr val="FF0000"/>
                </a:solidFill>
                <a:latin typeface="맑은 고딕"/>
              </a:rPr>
              <a:t> </a:t>
            </a:r>
            <a:r>
              <a:rPr sz="2000" b="1" dirty="0" err="1">
                <a:solidFill>
                  <a:srgbClr val="FF0000"/>
                </a:solidFill>
                <a:latin typeface="맑은 고딕"/>
              </a:rPr>
              <a:t>고정</a:t>
            </a:r>
            <a:r>
              <a:rPr sz="2000" b="1" dirty="0">
                <a:solidFill>
                  <a:srgbClr val="FF0000"/>
                </a:solidFill>
                <a:latin typeface="맑은 고딕"/>
              </a:rPr>
              <a:t> — </a:t>
            </a:r>
            <a:r>
              <a:rPr sz="2000" b="1" dirty="0" err="1">
                <a:solidFill>
                  <a:srgbClr val="FF0000"/>
                </a:solidFill>
                <a:latin typeface="맑은 고딕"/>
              </a:rPr>
              <a:t>같은</a:t>
            </a:r>
            <a:r>
              <a:rPr sz="2000" b="1" dirty="0">
                <a:solidFill>
                  <a:srgbClr val="FF0000"/>
                </a:solidFill>
                <a:latin typeface="맑은 고딕"/>
              </a:rPr>
              <a:t> </a:t>
            </a:r>
            <a:r>
              <a:rPr sz="2000" b="1" dirty="0" err="1">
                <a:solidFill>
                  <a:srgbClr val="FF0000"/>
                </a:solidFill>
                <a:latin typeface="맑은 고딕"/>
              </a:rPr>
              <a:t>원본을</a:t>
            </a:r>
            <a:r>
              <a:rPr sz="2000" b="1" dirty="0">
                <a:solidFill>
                  <a:srgbClr val="FF0000"/>
                </a:solidFill>
                <a:latin typeface="맑은 고딕"/>
              </a:rPr>
              <a:t> </a:t>
            </a:r>
            <a:r>
              <a:rPr sz="2000" b="1" dirty="0" err="1">
                <a:solidFill>
                  <a:srgbClr val="FF0000"/>
                </a:solidFill>
                <a:latin typeface="맑은 고딕"/>
              </a:rPr>
              <a:t>넣으면</a:t>
            </a:r>
            <a:r>
              <a:rPr sz="2000" b="1" dirty="0">
                <a:solidFill>
                  <a:srgbClr val="FF0000"/>
                </a:solidFill>
                <a:latin typeface="맑은 고딕"/>
              </a:rPr>
              <a:t> </a:t>
            </a:r>
            <a:r>
              <a:rPr sz="2000" b="1" dirty="0" err="1">
                <a:solidFill>
                  <a:srgbClr val="FF0000"/>
                </a:solidFill>
                <a:latin typeface="맑은 고딕"/>
              </a:rPr>
              <a:t>누가</a:t>
            </a:r>
            <a:r>
              <a:rPr sz="2000" b="1" dirty="0">
                <a:solidFill>
                  <a:srgbClr val="FF0000"/>
                </a:solidFill>
                <a:latin typeface="맑은 고딕"/>
              </a:rPr>
              <a:t> </a:t>
            </a:r>
            <a:r>
              <a:rPr sz="2000" b="1" dirty="0" err="1">
                <a:solidFill>
                  <a:srgbClr val="FF0000"/>
                </a:solidFill>
                <a:latin typeface="맑은 고딕"/>
              </a:rPr>
              <a:t>실행해도</a:t>
            </a:r>
            <a:r>
              <a:rPr sz="2000" b="1" dirty="0">
                <a:solidFill>
                  <a:srgbClr val="FF0000"/>
                </a:solidFill>
                <a:latin typeface="맑은 고딕"/>
              </a:rPr>
              <a:t> </a:t>
            </a:r>
            <a:r>
              <a:rPr sz="2000" b="1" dirty="0" err="1">
                <a:solidFill>
                  <a:srgbClr val="FF0000"/>
                </a:solidFill>
                <a:latin typeface="맑은 고딕"/>
              </a:rPr>
              <a:t>같은</a:t>
            </a:r>
            <a:r>
              <a:rPr sz="2000" b="1" dirty="0">
                <a:solidFill>
                  <a:srgbClr val="FF0000"/>
                </a:solidFill>
                <a:latin typeface="맑은 고딕"/>
              </a:rPr>
              <a:t> </a:t>
            </a:r>
            <a:r>
              <a:rPr sz="2000" b="1" dirty="0" err="1">
                <a:solidFill>
                  <a:srgbClr val="FF0000"/>
                </a:solidFill>
                <a:latin typeface="맑은 고딕"/>
              </a:rPr>
              <a:t>표가</a:t>
            </a:r>
            <a:r>
              <a:rPr sz="2000" b="1" dirty="0">
                <a:solidFill>
                  <a:srgbClr val="FF0000"/>
                </a:solidFill>
                <a:latin typeface="맑은 고딕"/>
              </a:rPr>
              <a:t> </a:t>
            </a:r>
            <a:r>
              <a:rPr sz="2000" b="1" dirty="0" err="1">
                <a:solidFill>
                  <a:srgbClr val="FF0000"/>
                </a:solidFill>
                <a:latin typeface="맑은 고딕"/>
              </a:rPr>
              <a:t>나온다</a:t>
            </a:r>
            <a:endParaRPr sz="2000" b="1" dirty="0">
              <a:solidFill>
                <a:srgbClr val="FF0000"/>
              </a:solidFill>
              <a:latin typeface="맑은 고딕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475720" y="6446520"/>
            <a:ext cx="640080" cy="266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  <a:defRPr/>
            </a:pPr>
            <a:r>
              <a:rPr sz="1200" b="0">
                <a:solidFill>
                  <a:srgbClr val="666666"/>
                </a:solidFill>
                <a:latin typeface="맑은 고딕"/>
              </a:rPr>
              <a:t>9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10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02920" y="292608"/>
            <a:ext cx="10515600" cy="3341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/>
            </a:pPr>
            <a:r>
              <a:rPr sz="1600" b="1">
                <a:solidFill>
                  <a:srgbClr val="2a78d6"/>
                </a:solidFill>
                <a:latin typeface="맑은 고딕"/>
              </a:rPr>
              <a:t>02. 데이터와 분석 질문</a:t>
            </a:r>
            <a:endParaRPr sz="1600" b="1">
              <a:solidFill>
                <a:srgbClr val="2a78d6"/>
              </a:solidFill>
              <a:latin typeface="맑은 고딕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1155680" cy="5478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/>
            </a:pPr>
            <a:r>
              <a:rPr sz="3000" b="1">
                <a:solidFill>
                  <a:srgbClr val="104281"/>
                </a:solidFill>
                <a:latin typeface="맑은 고딕"/>
              </a:rPr>
              <a:t>Q1~Q5 — 검증을 통과해야 서비스로 간다</a:t>
            </a:r>
            <a:endParaRPr sz="3000" b="1">
              <a:solidFill>
                <a:srgbClr val="104281"/>
              </a:solidFill>
              <a:latin typeface="맑은 고딕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1475719" y="6446520"/>
            <a:ext cx="657431" cy="266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  <a:defRPr/>
            </a:pPr>
            <a:r>
              <a:rPr sz="1200" b="0">
                <a:solidFill>
                  <a:srgbClr val="666666"/>
                </a:solidFill>
                <a:latin typeface="맑은 고딕"/>
              </a:rPr>
              <a:t>10</a:t>
            </a:r>
            <a:endParaRPr sz="1200" b="0">
              <a:solidFill>
                <a:srgbClr val="666666"/>
              </a:solidFill>
              <a:latin typeface="맑은 고딕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914400" y="1737360"/>
            <a:ext cx="914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2A78D6"/>
                </a:solidFill>
                <a:latin typeface="맑은 고딕"/>
              </a:rPr>
              <a:t>Q1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20240" y="1755648"/>
            <a:ext cx="9692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202020"/>
                </a:solidFill>
                <a:latin typeface="맑은 고딕"/>
              </a:rPr>
              <a:t>정상/경도인지장애/치매 그룹별로 활동량과 수면 패턴은 어떻게 다른가?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2514600"/>
            <a:ext cx="914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2A78D6"/>
                </a:solidFill>
                <a:latin typeface="맑은 고딕"/>
              </a:rPr>
              <a:t>Q2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20240" y="2532888"/>
            <a:ext cx="9692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202020"/>
                </a:solidFill>
                <a:latin typeface="맑은 고딕"/>
              </a:rPr>
              <a:t>병원 검사(MMSE) 없이 웨어러블 기록만으로 위험군 여부를 걸러낼 수 있는가?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3291840"/>
            <a:ext cx="914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2A78D6"/>
                </a:solidFill>
                <a:latin typeface="맑은 고딕"/>
              </a:rPr>
              <a:t>Q3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20240" y="3310128"/>
            <a:ext cx="9692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202020"/>
                </a:solidFill>
                <a:latin typeface="맑은 고딕"/>
              </a:rPr>
              <a:t>웨어러블 지표 중 위험군 판별에 가장 크게 기여하는 지표는 무엇인가?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4069080"/>
            <a:ext cx="914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2A78D6"/>
                </a:solidFill>
                <a:latin typeface="맑은 고딕"/>
              </a:rPr>
              <a:t>Q4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20240" y="4087368"/>
            <a:ext cx="9692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202020"/>
                </a:solidFill>
                <a:latin typeface="맑은 고딕"/>
              </a:rPr>
              <a:t>Q2·Q3의 신호는 치매를 제외한 정상군-경도인지장애군 비교에서도 유지되는가?   ← 검증 게이트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4846320"/>
            <a:ext cx="914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2A78D6"/>
                </a:solidFill>
                <a:latin typeface="맑은 고딕"/>
              </a:rPr>
              <a:t>Q5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920240" y="4864607"/>
            <a:ext cx="9692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202020"/>
                </a:solidFill>
                <a:latin typeface="맑은 고딕"/>
              </a:rPr>
              <a:t>Q2에서 얻는 성능 개선은 우연이 아니라 통계적으로 의미 있는 수준인가?   ← 검증 게이트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57607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666666"/>
                </a:solidFill>
                <a:latin typeface="맑은 고딕"/>
              </a:rPr>
              <a:t>계획서 원칙: Q4·Q5 검증 결과에 따라 서비스가 주장할 수 있는 범위를 정한다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42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2A78D6"/>
                </a:solidFill>
                <a:latin typeface="맑은 고딕"/>
              </a:rPr>
              <a:t>03. 분석 결과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04281"/>
                </a:solidFill>
                <a:latin typeface="맑은 고딕"/>
              </a:rPr>
              <a:t>첫 번째 반전 — 걸음수는 위험군이 오히려 많다</a:t>
            </a:r>
          </a:p>
        </p:txBody>
      </p:sp>
      <p:pic>
        <p:nvPicPr>
          <p:cNvPr id="5" name="Picture 4" descr="01_activity_by_grou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664208"/>
            <a:ext cx="5669280" cy="453542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675120" y="201168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666666"/>
                </a:solidFill>
                <a:latin typeface="맑은 고딕"/>
              </a:rPr>
              <a:t>일평균 걸음수</a:t>
            </a:r>
          </a:p>
          <a:p>
            <a:pPr algn="l">
              <a:spcAft>
                <a:spcPts val="600"/>
              </a:spcAft>
            </a:pPr>
            <a:r>
              <a:rPr sz="2100" b="1">
                <a:solidFill>
                  <a:srgbClr val="C44E52"/>
                </a:solidFill>
                <a:latin typeface="맑은 고딕"/>
              </a:rPr>
              <a:t>정상 10,635  &lt;  경도인지장애 11,383</a:t>
            </a:r>
          </a:p>
          <a:p>
            <a:pPr algn="l">
              <a:spcAft>
                <a:spcPts val="600"/>
              </a:spcAft>
            </a:pPr>
            <a:endParaRPr sz="2100" b="1">
              <a:solidFill>
                <a:srgbClr val="C44E52"/>
              </a:solidFill>
              <a:latin typeface="맑은 고딕"/>
            </a:endParaRPr>
          </a:p>
          <a:p>
            <a:pPr algn="l">
              <a:spcAft>
                <a:spcPts val="600"/>
              </a:spcAft>
            </a:pPr>
            <a:r>
              <a:rPr sz="1900" b="1">
                <a:solidFill>
                  <a:srgbClr val="202020"/>
                </a:solidFill>
                <a:latin typeface="맑은 고딕"/>
              </a:rPr>
              <a:t>"활동량이 줄면 위험군"이라는</a:t>
            </a:r>
          </a:p>
          <a:p>
            <a:pPr algn="l">
              <a:spcAft>
                <a:spcPts val="600"/>
              </a:spcAft>
            </a:pPr>
            <a:r>
              <a:rPr sz="1900" b="1">
                <a:solidFill>
                  <a:srgbClr val="202020"/>
                </a:solidFill>
                <a:latin typeface="맑은 고딕"/>
              </a:rPr>
              <a:t>단순한 가설은 성립하지 않았다</a:t>
            </a:r>
          </a:p>
          <a:p>
            <a:pPr algn="l">
              <a:spcAft>
                <a:spcPts val="600"/>
              </a:spcAft>
            </a:pPr>
            <a:endParaRPr sz="1900" b="1">
              <a:solidFill>
                <a:srgbClr val="202020"/>
              </a:solidFill>
              <a:latin typeface="맑은 고딕"/>
            </a:endParaRPr>
          </a:p>
          <a:p>
            <a:pPr algn="l">
              <a:spcAft>
                <a:spcPts val="600"/>
              </a:spcAft>
            </a:pPr>
            <a:r>
              <a:rPr sz="2100" b="1">
                <a:solidFill>
                  <a:srgbClr val="104281"/>
                </a:solidFill>
                <a:latin typeface="맑은 고딕"/>
              </a:rPr>
              <a:t>→ 평균이 아니라,</a:t>
            </a:r>
          </a:p>
          <a:p>
            <a:pPr algn="l">
              <a:spcAft>
                <a:spcPts val="600"/>
              </a:spcAft>
            </a:pPr>
            <a:r>
              <a:rPr sz="2100" b="1">
                <a:solidFill>
                  <a:srgbClr val="104281"/>
                </a:solidFill>
                <a:latin typeface="맑은 고딕"/>
              </a:rPr>
              <a:t>   "날마다 얼마나 들쭉날쭉한가"로</a:t>
            </a:r>
          </a:p>
          <a:p>
            <a:pPr algn="l">
              <a:spcAft>
                <a:spcPts val="600"/>
              </a:spcAft>
            </a:pPr>
            <a:r>
              <a:rPr sz="2100" b="1">
                <a:solidFill>
                  <a:srgbClr val="104281"/>
                </a:solidFill>
                <a:latin typeface="맑은 고딕"/>
              </a:rPr>
              <a:t>   시선을 돌리게 된 계기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75720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666666"/>
                </a:solidFill>
                <a:latin typeface="맑은 고딕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42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515600" cy="3341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/>
            </a:pPr>
            <a:r>
              <a:rPr sz="1600" b="1">
                <a:solidFill>
                  <a:srgbClr val="2A78D6"/>
                </a:solidFill>
                <a:latin typeface="맑은 고딕"/>
              </a:rPr>
              <a:t>03. 분석 결과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1155680" cy="5478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/>
            </a:pPr>
            <a:r>
              <a:rPr sz="3000" b="1">
                <a:solidFill>
                  <a:srgbClr val="104281"/>
                </a:solidFill>
                <a:latin typeface="맑은 고딕"/>
              </a:rPr>
              <a:t>핵심 신호는 '생활 패턴의 불규칙함'이었다</a:t>
            </a:r>
          </a:p>
        </p:txBody>
      </p:sp>
      <p:pic>
        <p:nvPicPr>
          <p:cNvPr id="5" name="Picture 4" descr="04_feature_importance.png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804672" y="1554480"/>
            <a:ext cx="5705856" cy="47548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692348" y="2462212"/>
            <a:ext cx="5103412" cy="2939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/>
            </a:pPr>
            <a:r>
              <a:rPr b="1">
                <a:solidFill>
                  <a:srgbClr val="666666"/>
                </a:solidFill>
                <a:latin typeface="맑은 고딕"/>
              </a:rPr>
              <a:t>50번 반복 검증에서 가장 안정적으로 뽑힌 지표</a:t>
            </a:r>
          </a:p>
          <a:p>
            <a:pPr algn="l">
              <a:spcAft>
                <a:spcPts val="600"/>
              </a:spcAft>
              <a:defRPr/>
            </a:pPr>
            <a:endParaRPr sz="1700" b="1">
              <a:solidFill>
                <a:srgbClr val="202020"/>
              </a:solidFill>
              <a:latin typeface="맑은 고딕"/>
            </a:endParaRPr>
          </a:p>
          <a:p>
            <a:pPr algn="l">
              <a:spcAft>
                <a:spcPts val="600"/>
              </a:spcAft>
              <a:defRPr/>
            </a:pPr>
            <a:r>
              <a:rPr sz="2000" b="1">
                <a:solidFill>
                  <a:srgbClr val="202020"/>
                </a:solidFill>
                <a:latin typeface="맑은 고딕"/>
              </a:rPr>
              <a:t>1위  저강도 활동 시간의 변동성 (50/50회)</a:t>
            </a:r>
          </a:p>
          <a:p>
            <a:pPr algn="l">
              <a:spcAft>
                <a:spcPts val="600"/>
              </a:spcAft>
              <a:defRPr/>
            </a:pPr>
            <a:r>
              <a:rPr sz="2000" b="1">
                <a:solidFill>
                  <a:srgbClr val="202020"/>
                </a:solidFill>
                <a:latin typeface="맑은 고딕"/>
              </a:rPr>
              <a:t>2위  수면 중 뒤척임의 변동성 (48/50회)</a:t>
            </a:r>
          </a:p>
          <a:p>
            <a:pPr algn="l">
              <a:spcAft>
                <a:spcPts val="600"/>
              </a:spcAft>
              <a:defRPr/>
            </a:pPr>
            <a:endParaRPr sz="1700" b="1">
              <a:solidFill>
                <a:srgbClr val="202020"/>
              </a:solidFill>
              <a:latin typeface="맑은 고딕"/>
            </a:endParaRPr>
          </a:p>
          <a:p>
            <a:pPr algn="l">
              <a:spcAft>
                <a:spcPts val="600"/>
              </a:spcAft>
              <a:defRPr/>
            </a:pPr>
            <a:r>
              <a:rPr sz="2000" b="1">
                <a:solidFill>
                  <a:srgbClr val="202020"/>
                </a:solidFill>
                <a:latin typeface="맑은 고딕"/>
              </a:rPr>
              <a:t>인지기능이 흔들리면, 매일 비슷하게</a:t>
            </a:r>
          </a:p>
          <a:p>
            <a:pPr algn="l">
              <a:spcAft>
                <a:spcPts val="600"/>
              </a:spcAft>
              <a:defRPr/>
            </a:pPr>
            <a:r>
              <a:rPr sz="2000" b="1">
                <a:solidFill>
                  <a:srgbClr val="202020"/>
                </a:solidFill>
                <a:latin typeface="맑은 고딕"/>
              </a:rPr>
              <a:t>자고 움직이는 '일상 루틴 유지 능력'이</a:t>
            </a:r>
          </a:p>
          <a:p>
            <a:pPr algn="l">
              <a:spcAft>
                <a:spcPts val="600"/>
              </a:spcAft>
              <a:defRPr/>
            </a:pPr>
            <a:r>
              <a:rPr sz="2000" b="1">
                <a:solidFill>
                  <a:srgbClr val="202020"/>
                </a:solidFill>
                <a:latin typeface="맑은 고딕"/>
              </a:rPr>
              <a:t>먼저 무너진다는 해석과 일치 (상관관계)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75720" y="6446520"/>
            <a:ext cx="640080" cy="266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  <a:defRPr/>
            </a:pPr>
            <a:r>
              <a:rPr sz="1200" b="0">
                <a:solidFill>
                  <a:srgbClr val="666666"/>
                </a:solidFill>
                <a:latin typeface="맑은 고딕"/>
              </a:rPr>
              <a:t>12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42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515600" cy="3341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/>
            </a:pPr>
            <a:r>
              <a:rPr sz="1600" b="1">
                <a:solidFill>
                  <a:srgbClr val="2A78D6"/>
                </a:solidFill>
                <a:latin typeface="맑은 고딕"/>
              </a:rPr>
              <a:t>03. 분석 결과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1155680" cy="5478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/>
            </a:pPr>
            <a:r>
              <a:rPr sz="3000" b="1">
                <a:solidFill>
                  <a:srgbClr val="104281"/>
                </a:solidFill>
                <a:latin typeface="맑은 고딕"/>
              </a:rPr>
              <a:t>모델 성능 — 데이터를 50번 다르게 나눠 반복 시험한 평균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75720" y="6446520"/>
            <a:ext cx="640080" cy="266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  <a:defRPr/>
            </a:pPr>
            <a:r>
              <a:rPr sz="1200" b="0">
                <a:solidFill>
                  <a:srgbClr val="666666"/>
                </a:solidFill>
                <a:latin typeface="맑은 고딕"/>
              </a:rPr>
              <a:t>13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9223743"/>
              </p:ext>
            </p:extLst>
          </p:nvPr>
        </p:nvGraphicFramePr>
        <p:xfrm>
          <a:off x="731520" y="1645920"/>
          <a:ext cx="10593208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416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171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171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1718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ko-KR" altLang="en-US" dirty="0"/>
                    </a:p>
                  </a:txBody>
                  <a:tcPr anchor="ctr">
                    <a:solidFill>
                      <a:srgbClr val="104281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defRPr/>
                      </a:pPr>
                      <a:r>
                        <a:rPr sz="1700" b="1">
                          <a:solidFill>
                            <a:srgbClr val="FFFFFF"/>
                          </a:solidFill>
                          <a:latin typeface="맑은 고딕"/>
                        </a:rPr>
                        <a:t>정확도</a:t>
                      </a:r>
                    </a:p>
                  </a:txBody>
                  <a:tcPr anchor="ctr">
                    <a:solidFill>
                      <a:srgbClr val="104281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defRPr/>
                      </a:pPr>
                      <a:r>
                        <a:rPr sz="1700" b="1">
                          <a:solidFill>
                            <a:srgbClr val="FFFFFF"/>
                          </a:solidFill>
                          <a:latin typeface="맑은 고딕"/>
                        </a:rPr>
                        <a:t>위험군 재현율</a:t>
                      </a:r>
                    </a:p>
                  </a:txBody>
                  <a:tcPr anchor="ctr">
                    <a:solidFill>
                      <a:srgbClr val="104281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defRPr/>
                      </a:pPr>
                      <a:r>
                        <a:rPr sz="1700" b="1">
                          <a:solidFill>
                            <a:srgbClr val="FFFFFF"/>
                          </a:solidFill>
                          <a:latin typeface="맑은 고딕"/>
                        </a:rPr>
                        <a:t>AUC</a:t>
                      </a:r>
                    </a:p>
                  </a:txBody>
                  <a:tcPr anchor="ctr">
                    <a:solidFill>
                      <a:srgbClr val="10428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lvl="0">
                        <a:defRPr/>
                      </a:pPr>
                      <a:r>
                        <a:rPr sz="1600" b="1">
                          <a:solidFill>
                            <a:srgbClr val="202020"/>
                          </a:solidFill>
                          <a:latin typeface="맑은 고딕"/>
                        </a:rPr>
                        <a:t>무조건 "정상" 예측 (베이스라인)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defRPr/>
                      </a:pPr>
                      <a:r>
                        <a:rPr sz="1600" b="1" dirty="0">
                          <a:solidFill>
                            <a:srgbClr val="202020"/>
                          </a:solidFill>
                          <a:latin typeface="맑은 고딕"/>
                        </a:rPr>
                        <a:t>63.8%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defRPr/>
                      </a:pPr>
                      <a:r>
                        <a:rPr sz="1600" b="1">
                          <a:solidFill>
                            <a:srgbClr val="202020"/>
                          </a:solidFill>
                          <a:latin typeface="맑은 고딕"/>
                        </a:rPr>
                        <a:t>0%  (전원 놓침)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defRPr/>
                      </a:pPr>
                      <a:r>
                        <a:rPr sz="1600" b="1">
                          <a:solidFill>
                            <a:srgbClr val="202020"/>
                          </a:solidFill>
                          <a:latin typeface="맑은 고딕"/>
                        </a:rPr>
                        <a:t>0.5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lvl="0">
                        <a:defRPr/>
                      </a:pPr>
                      <a:r>
                        <a:rPr sz="1600" b="1">
                          <a:solidFill>
                            <a:srgbClr val="202020"/>
                          </a:solidFill>
                          <a:latin typeface="맑은 고딕"/>
                        </a:rPr>
                        <a:t>RandomForest (교체 전)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defRPr/>
                      </a:pPr>
                      <a:r>
                        <a:rPr sz="1600" b="1" dirty="0">
                          <a:solidFill>
                            <a:srgbClr val="202020"/>
                          </a:solidFill>
                          <a:latin typeface="맑은 고딕"/>
                        </a:rPr>
                        <a:t>58.0%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defRPr/>
                      </a:pPr>
                      <a:r>
                        <a:rPr sz="1600" b="1" dirty="0">
                          <a:solidFill>
                            <a:srgbClr val="202020"/>
                          </a:solidFill>
                          <a:latin typeface="맑은 고딕"/>
                        </a:rPr>
                        <a:t>38.7%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defRPr/>
                      </a:pPr>
                      <a:r>
                        <a:rPr sz="1600" b="1">
                          <a:solidFill>
                            <a:srgbClr val="202020"/>
                          </a:solidFill>
                          <a:latin typeface="맑은 고딕"/>
                        </a:rPr>
                        <a:t>0.549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lvl="0">
                        <a:defRPr/>
                      </a:pPr>
                      <a:r>
                        <a:rPr sz="1600" b="1">
                          <a:solidFill>
                            <a:srgbClr val="C44E52"/>
                          </a:solidFill>
                          <a:latin typeface="맑은 고딕"/>
                        </a:rPr>
                        <a:t>로지스틱 회귀 (최종)</a:t>
                      </a:r>
                    </a:p>
                  </a:txBody>
                  <a:tcPr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defRPr/>
                      </a:pPr>
                      <a:r>
                        <a:rPr sz="1600" b="1">
                          <a:solidFill>
                            <a:srgbClr val="C44E52"/>
                          </a:solidFill>
                          <a:latin typeface="맑은 고딕"/>
                        </a:rPr>
                        <a:t>60.2%</a:t>
                      </a:r>
                    </a:p>
                  </a:txBody>
                  <a:tcPr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defRPr/>
                      </a:pPr>
                      <a:r>
                        <a:rPr sz="1600" b="1" dirty="0">
                          <a:solidFill>
                            <a:srgbClr val="C44E52"/>
                          </a:solidFill>
                          <a:latin typeface="맑은 고딕"/>
                        </a:rPr>
                        <a:t>52.7%</a:t>
                      </a:r>
                    </a:p>
                  </a:txBody>
                  <a:tcPr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defRPr/>
                      </a:pPr>
                      <a:r>
                        <a:rPr sz="1600" b="1" dirty="0">
                          <a:solidFill>
                            <a:srgbClr val="C44E52"/>
                          </a:solidFill>
                          <a:latin typeface="맑은 고딕"/>
                        </a:rPr>
                        <a:t>0.601</a:t>
                      </a:r>
                    </a:p>
                  </a:txBody>
                  <a:tcPr anchor="ctr">
                    <a:solidFill>
                      <a:srgbClr val="EE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77240" y="4519405"/>
            <a:ext cx="10698480" cy="14707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/>
            </a:pPr>
            <a:r>
              <a:rPr sz="2100" b="1">
                <a:solidFill>
                  <a:srgbClr val="104281"/>
                </a:solidFill>
                <a:latin typeface="맑은 고딕"/>
              </a:rPr>
              <a:t>스크리닝의 선택: 정확도 3.6%p를 내주고, 위험군의 절반 이상(52.7%)을 잡는다</a:t>
            </a:r>
          </a:p>
          <a:p>
            <a:pPr>
              <a:spcAft>
                <a:spcPts val="500"/>
              </a:spcAft>
              <a:defRPr/>
            </a:pPr>
            <a:r>
              <a:rPr sz="1900" b="1">
                <a:solidFill>
                  <a:srgbClr val="202020"/>
                </a:solidFill>
                <a:latin typeface="맑은 고딕"/>
              </a:rPr>
              <a:t>· 위험군을 놓치면 병원 갈 기회 상실 — 정상인 안내는 무료 검진 한 번</a:t>
            </a:r>
          </a:p>
          <a:p>
            <a:pPr>
              <a:spcAft>
                <a:spcPts val="500"/>
              </a:spcAft>
              <a:defRPr/>
            </a:pPr>
            <a:r>
              <a:rPr sz="1900" b="1">
                <a:solidFill>
                  <a:srgbClr val="202020"/>
                </a:solidFill>
                <a:latin typeface="맑은 고딕"/>
              </a:rPr>
              <a:t>· 주 지표는 임계값에 안 묶이는 AUC (의료 스크리닝의 관례)</a:t>
            </a:r>
          </a:p>
          <a:p>
            <a:pPr>
              <a:spcAft>
                <a:spcPts val="500"/>
              </a:spcAft>
              <a:defRPr/>
            </a:pPr>
            <a:r>
              <a:rPr sz="1900" b="1">
                <a:solidFill>
                  <a:srgbClr val="202020"/>
                </a:solidFill>
                <a:latin typeface="맑은 고딕"/>
              </a:rPr>
              <a:t>· 소표본에선 단순한 로지스틱 회귀가 랜덤포레스트보다 안정적 — 3종 비교로 확인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1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42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515600" cy="3341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/>
            </a:pPr>
            <a:r>
              <a:rPr sz="1600" b="1">
                <a:solidFill>
                  <a:srgbClr val="2a78d6"/>
                </a:solidFill>
                <a:latin typeface="맑은 고딕"/>
              </a:rPr>
              <a:t>04. 검증</a:t>
            </a:r>
            <a:endParaRPr sz="1600" b="1">
              <a:solidFill>
                <a:srgbClr val="2a78d6"/>
              </a:solidFill>
              <a:latin typeface="맑은 고딕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1155680" cy="5478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/>
            </a:pPr>
            <a:r>
              <a:rPr sz="3000" b="1">
                <a:solidFill>
                  <a:srgbClr val="104281"/>
                </a:solidFill>
                <a:latin typeface="맑은 고딕"/>
              </a:rPr>
              <a:t>Q</a:t>
            </a:r>
            <a:r>
              <a:rPr lang="en-US" altLang="ko-KR" sz="3000" b="1">
                <a:solidFill>
                  <a:srgbClr val="104281"/>
                </a:solidFill>
                <a:latin typeface="맑은 고딕"/>
              </a:rPr>
              <a:t>4</a:t>
            </a:r>
            <a:r>
              <a:rPr sz="3000" b="1">
                <a:solidFill>
                  <a:srgbClr val="104281"/>
                </a:solidFill>
                <a:latin typeface="맑은 고딕"/>
              </a:rPr>
              <a:t> — 치매 12명을 빼도 신호가 남는가?  →  아니오</a:t>
            </a:r>
            <a:endParaRPr sz="3000" b="1">
              <a:solidFill>
                <a:srgbClr val="104281"/>
              </a:solidFill>
              <a:latin typeface="맑은 고딕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14400" y="1875347"/>
            <a:ext cx="10845478" cy="38091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/>
            </a:pPr>
            <a:r>
              <a:rPr sz="2100" b="1">
                <a:solidFill>
                  <a:srgbClr val="202020"/>
                </a:solidFill>
                <a:latin typeface="맑은 고딕"/>
              </a:rPr>
              <a:t>치매를 완전히 제외하고 정상 111명 vs 경도인지장애 51명만으로 재검증</a:t>
            </a:r>
            <a:endParaRPr sz="2100" b="1">
              <a:solidFill>
                <a:srgbClr val="202020"/>
              </a:solidFill>
              <a:latin typeface="맑은 고딕"/>
            </a:endParaRPr>
          </a:p>
          <a:p>
            <a:pPr algn="l">
              <a:spcAft>
                <a:spcPts val="600"/>
              </a:spcAft>
              <a:defRPr/>
            </a:pPr>
            <a:endParaRPr b="1">
              <a:solidFill>
                <a:srgbClr val="202020"/>
              </a:solidFill>
              <a:latin typeface="맑은 고딕"/>
            </a:endParaRPr>
          </a:p>
          <a:p>
            <a:pPr algn="l">
              <a:spcAft>
                <a:spcPts val="600"/>
              </a:spcAft>
              <a:defRPr/>
            </a:pPr>
            <a:r>
              <a:rPr sz="2000" b="1">
                <a:solidFill>
                  <a:srgbClr val="202020"/>
                </a:solidFill>
                <a:latin typeface="맑은 고딕"/>
              </a:rPr>
              <a:t>· 기존 44개 지표 → 정확도 55.3% (전부 "정상"이라 답하는 기준선 68.5%에도 미달)</a:t>
            </a:r>
            <a:endParaRPr sz="2000" b="1">
              <a:solidFill>
                <a:srgbClr val="202020"/>
              </a:solidFill>
              <a:latin typeface="맑은 고딕"/>
            </a:endParaRPr>
          </a:p>
          <a:p>
            <a:pPr algn="l">
              <a:spcAft>
                <a:spcPts val="600"/>
              </a:spcAft>
              <a:defRPr/>
            </a:pPr>
            <a:r>
              <a:rPr sz="2000" b="1">
                <a:solidFill>
                  <a:srgbClr val="202020"/>
                </a:solidFill>
                <a:latin typeface="맑은 고딕"/>
              </a:rPr>
              <a:t>· 시계열 지표 추가 → 여전히 미달   · 모델을 바꿔도 → 동일</a:t>
            </a:r>
            <a:endParaRPr sz="2000" b="1">
              <a:solidFill>
                <a:srgbClr val="202020"/>
              </a:solidFill>
              <a:latin typeface="맑은 고딕"/>
            </a:endParaRPr>
          </a:p>
          <a:p>
            <a:pPr algn="l">
              <a:spcAft>
                <a:spcPts val="600"/>
              </a:spcAft>
              <a:defRPr/>
            </a:pPr>
            <a:endParaRPr b="1">
              <a:solidFill>
                <a:srgbClr val="202020"/>
              </a:solidFill>
              <a:latin typeface="맑은 고딕"/>
            </a:endParaRPr>
          </a:p>
          <a:p>
            <a:pPr algn="l">
              <a:spcAft>
                <a:spcPts val="600"/>
              </a:spcAft>
              <a:defRPr/>
            </a:pPr>
            <a:r>
              <a:rPr sz="2200" b="1">
                <a:solidFill>
                  <a:srgbClr val="c44e52"/>
                </a:solidFill>
                <a:latin typeface="맑은 고딕"/>
              </a:rPr>
              <a:t>세 번 시도, 같은 결론: 경도인지장애 '단독' 조기 신호는 현재 데이터로는 못 찾았다</a:t>
            </a:r>
            <a:endParaRPr sz="2200" b="1">
              <a:solidFill>
                <a:srgbClr val="c44e52"/>
              </a:solidFill>
              <a:latin typeface="맑은 고딕"/>
            </a:endParaRPr>
          </a:p>
          <a:p>
            <a:pPr algn="l">
              <a:spcAft>
                <a:spcPts val="600"/>
              </a:spcAft>
              <a:defRPr/>
            </a:pPr>
            <a:endParaRPr b="1">
              <a:solidFill>
                <a:srgbClr val="202020"/>
              </a:solidFill>
              <a:latin typeface="맑은 고딕"/>
            </a:endParaRPr>
          </a:p>
          <a:p>
            <a:pPr algn="l">
              <a:spcAft>
                <a:spcPts val="600"/>
              </a:spcAft>
              <a:defRPr/>
            </a:pPr>
            <a:r>
              <a:rPr sz="2200" b="1">
                <a:solidFill>
                  <a:srgbClr val="104281"/>
                </a:solidFill>
                <a:latin typeface="맑은 고딕"/>
              </a:rPr>
              <a:t>검증이 실제로 한 일 — 서비스 주장 범위를 바꿨다</a:t>
            </a:r>
            <a:endParaRPr sz="2200" b="1">
              <a:solidFill>
                <a:srgbClr val="104281"/>
              </a:solidFill>
              <a:latin typeface="맑은 고딕"/>
            </a:endParaRPr>
          </a:p>
          <a:p>
            <a:pPr algn="l">
              <a:spcAft>
                <a:spcPts val="600"/>
              </a:spcAft>
              <a:defRPr/>
            </a:pPr>
            <a:r>
              <a:rPr sz="2000" b="1">
                <a:solidFill>
                  <a:srgbClr val="202020"/>
                </a:solidFill>
                <a:latin typeface="맑은 고딕"/>
              </a:rPr>
              <a:t>· "경도인지장애를 조기 진단한다"  →  사용 금지</a:t>
            </a:r>
            <a:endParaRPr sz="2000" b="1">
              <a:solidFill>
                <a:srgbClr val="202020"/>
              </a:solidFill>
              <a:latin typeface="맑은 고딕"/>
            </a:endParaRPr>
          </a:p>
          <a:p>
            <a:pPr algn="l">
              <a:spcAft>
                <a:spcPts val="600"/>
              </a:spcAft>
              <a:defRPr/>
            </a:pPr>
            <a:r>
              <a:rPr sz="2000" b="1">
                <a:solidFill>
                  <a:srgbClr val="202020"/>
                </a:solidFill>
                <a:latin typeface="맑은 고딕"/>
              </a:rPr>
              <a:t>· "위험군(경도인지장애+치매)을 걸러 검진으로 안내한다"  →  이 범위만 주장</a:t>
            </a:r>
            <a:endParaRPr sz="2000" b="1">
              <a:solidFill>
                <a:srgbClr val="202020"/>
              </a:solidFill>
              <a:latin typeface="맑은 고딕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475720" y="6446520"/>
            <a:ext cx="640080" cy="266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  <a:defRPr/>
            </a:pPr>
            <a:r>
              <a:rPr sz="1200" b="0">
                <a:solidFill>
                  <a:srgbClr val="666666"/>
                </a:solidFill>
                <a:latin typeface="맑은 고딕"/>
              </a:rPr>
              <a:t>14</a:t>
            </a:r>
            <a:endParaRPr sz="1200" b="0">
              <a:solidFill>
                <a:srgbClr val="666666"/>
              </a:solidFill>
              <a:latin typeface="맑은 고딕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42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515600" cy="3341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/>
            </a:pPr>
            <a:r>
              <a:rPr sz="1600" b="1">
                <a:solidFill>
                  <a:srgbClr val="2a78d6"/>
                </a:solidFill>
                <a:latin typeface="맑은 고딕"/>
              </a:rPr>
              <a:t>04. 검증</a:t>
            </a:r>
            <a:endParaRPr sz="1600" b="1">
              <a:solidFill>
                <a:srgbClr val="2a78d6"/>
              </a:solidFill>
              <a:latin typeface="맑은 고딕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168908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/>
            </a:pPr>
            <a:r>
              <a:rPr sz="3000" b="1">
                <a:solidFill>
                  <a:srgbClr val="104281"/>
                </a:solidFill>
                <a:latin typeface="맑은 고딕"/>
              </a:rPr>
              <a:t>Q</a:t>
            </a:r>
            <a:r>
              <a:rPr lang="en-US" altLang="ko-KR" sz="3000" b="1">
                <a:solidFill>
                  <a:srgbClr val="104281"/>
                </a:solidFill>
                <a:latin typeface="맑은 고딕"/>
              </a:rPr>
              <a:t>5</a:t>
            </a:r>
            <a:r>
              <a:rPr sz="3000" b="1">
                <a:solidFill>
                  <a:srgbClr val="104281"/>
                </a:solidFill>
                <a:latin typeface="맑은 고딕"/>
              </a:rPr>
              <a:t> — 우연은 아닌가?  →  구분 능력은 진짜다 (우연일 확률 0.6%)</a:t>
            </a:r>
            <a:endParaRPr sz="3000" b="1">
              <a:solidFill>
                <a:srgbClr val="104281"/>
              </a:solidFill>
              <a:latin typeface="맑은 고딕"/>
            </a:endParaRPr>
          </a:p>
        </p:txBody>
      </p:sp>
      <p:pic>
        <p:nvPicPr>
          <p:cNvPr id="5" name="Picture 4" descr="11_permutation_test.png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640080" y="2144684"/>
            <a:ext cx="6949440" cy="284295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0" y="1828800"/>
            <a:ext cx="4023360" cy="35032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/>
            </a:pPr>
            <a:r>
              <a:rPr b="1">
                <a:solidFill>
                  <a:srgbClr val="666666"/>
                </a:solidFill>
                <a:latin typeface="맑은 고딕"/>
              </a:rPr>
              <a:t>정답(진단 결과)을 일부러 뒤섞은 가짜 데이터 500개와 비교</a:t>
            </a:r>
            <a:endParaRPr b="1">
              <a:solidFill>
                <a:srgbClr val="666666"/>
              </a:solidFill>
              <a:latin typeface="맑은 고딕"/>
            </a:endParaRPr>
          </a:p>
          <a:p>
            <a:pPr algn="l">
              <a:spcAft>
                <a:spcPts val="600"/>
              </a:spcAft>
              <a:defRPr/>
            </a:pPr>
            <a:endParaRPr sz="1700" b="1">
              <a:solidFill>
                <a:srgbClr val="666666"/>
              </a:solidFill>
              <a:latin typeface="맑은 고딕"/>
            </a:endParaRPr>
          </a:p>
          <a:p>
            <a:pPr algn="l">
              <a:spcAft>
                <a:spcPts val="600"/>
              </a:spcAft>
              <a:defRPr/>
            </a:pPr>
            <a:r>
              <a:rPr sz="2100" b="1">
                <a:solidFill>
                  <a:srgbClr val="104281"/>
                </a:solidFill>
                <a:latin typeface="맑은 고딕"/>
              </a:rPr>
              <a:t>정확도  p = 0.006</a:t>
            </a:r>
            <a:endParaRPr sz="2100" b="1">
              <a:solidFill>
                <a:srgbClr val="104281"/>
              </a:solidFill>
              <a:latin typeface="맑은 고딕"/>
            </a:endParaRPr>
          </a:p>
          <a:p>
            <a:pPr algn="l">
              <a:spcAft>
                <a:spcPts val="600"/>
              </a:spcAft>
              <a:defRPr/>
            </a:pPr>
            <a:r>
              <a:rPr b="1">
                <a:solidFill>
                  <a:srgbClr val="202020"/>
                </a:solidFill>
                <a:latin typeface="맑은 고딕"/>
              </a:rPr>
              <a:t>→ 우연히 나올 확률 0.6%. 통과</a:t>
            </a:r>
            <a:endParaRPr b="1">
              <a:solidFill>
                <a:srgbClr val="202020"/>
              </a:solidFill>
              <a:latin typeface="맑은 고딕"/>
            </a:endParaRPr>
          </a:p>
          <a:p>
            <a:pPr algn="l">
              <a:spcAft>
                <a:spcPts val="600"/>
              </a:spcAft>
              <a:defRPr/>
            </a:pPr>
            <a:endParaRPr sz="1700" b="1">
              <a:solidFill>
                <a:srgbClr val="202020"/>
              </a:solidFill>
              <a:latin typeface="맑은 고딕"/>
            </a:endParaRPr>
          </a:p>
          <a:p>
            <a:pPr algn="l">
              <a:spcAft>
                <a:spcPts val="600"/>
              </a:spcAft>
              <a:defRPr/>
            </a:pPr>
            <a:r>
              <a:rPr sz="2100" b="1">
                <a:solidFill>
                  <a:srgbClr val="c44e52"/>
                </a:solidFill>
                <a:latin typeface="맑은 고딕"/>
              </a:rPr>
              <a:t>재현율  p = 0.132</a:t>
            </a:r>
            <a:endParaRPr sz="2100" b="1">
              <a:solidFill>
                <a:srgbClr val="c44e52"/>
              </a:solidFill>
              <a:latin typeface="맑은 고딕"/>
            </a:endParaRPr>
          </a:p>
          <a:p>
            <a:pPr algn="l">
              <a:spcAft>
                <a:spcPts val="600"/>
              </a:spcAft>
              <a:defRPr/>
            </a:pPr>
            <a:r>
              <a:rPr b="1">
                <a:solidFill>
                  <a:srgbClr val="202020"/>
                </a:solidFill>
                <a:latin typeface="맑은 고딕"/>
              </a:rPr>
              <a:t>→ 통계적으로 단정 불가.</a:t>
            </a:r>
            <a:endParaRPr b="1">
              <a:solidFill>
                <a:srgbClr val="202020"/>
              </a:solidFill>
              <a:latin typeface="맑은 고딕"/>
            </a:endParaRPr>
          </a:p>
          <a:p>
            <a:pPr algn="l">
              <a:spcAft>
                <a:spcPts val="600"/>
              </a:spcAft>
              <a:defRPr/>
            </a:pPr>
            <a:r>
              <a:rPr b="1">
                <a:solidFill>
                  <a:srgbClr val="202020"/>
                </a:solidFill>
                <a:latin typeface="맑은 고딕"/>
              </a:rPr>
              <a:t>→ 그래서 "52.7%를 잡아낸다"고</a:t>
            </a:r>
            <a:endParaRPr b="1">
              <a:solidFill>
                <a:srgbClr val="202020"/>
              </a:solidFill>
              <a:latin typeface="맑은 고딕"/>
            </a:endParaRPr>
          </a:p>
          <a:p>
            <a:pPr algn="l">
              <a:spcAft>
                <a:spcPts val="600"/>
              </a:spcAft>
              <a:defRPr/>
            </a:pPr>
            <a:r>
              <a:rPr b="1">
                <a:solidFill>
                  <a:srgbClr val="202020"/>
                </a:solidFill>
                <a:latin typeface="맑은 고딕"/>
              </a:rPr>
              <a:t>   수치를 못박지 않는다</a:t>
            </a:r>
            <a:endParaRPr b="1">
              <a:solidFill>
                <a:srgbClr val="202020"/>
              </a:solidFill>
              <a:latin typeface="맑은 고딕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22960" y="6192000"/>
            <a:ext cx="10607040" cy="3878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/>
            </a:pPr>
            <a:r>
              <a:rPr sz="2000" b="1">
                <a:solidFill>
                  <a:srgbClr val="ff0000"/>
                </a:solidFill>
                <a:latin typeface="맑은 고딕"/>
              </a:rPr>
              <a:t>숫자를 좋게 만드는 대신, 말할 수 있는 것과 없는 것을 정확히 갈랐습니다</a:t>
            </a:r>
            <a:endParaRPr sz="2000" b="1">
              <a:solidFill>
                <a:srgbClr val="ff0000"/>
              </a:solidFill>
              <a:latin typeface="맑은 고딕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475720" y="6446520"/>
            <a:ext cx="640080" cy="266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  <a:defRPr/>
            </a:pPr>
            <a:r>
              <a:rPr sz="1200" b="0">
                <a:solidFill>
                  <a:srgbClr val="666666"/>
                </a:solidFill>
                <a:latin typeface="맑은 고딕"/>
              </a:rPr>
              <a:t>15</a:t>
            </a:r>
            <a:endParaRPr sz="1200" b="0">
              <a:solidFill>
                <a:srgbClr val="666666"/>
              </a:solidFill>
              <a:latin typeface="맑은 고딕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42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515600" cy="3341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/>
            </a:pPr>
            <a:r>
              <a:rPr sz="1600" b="1">
                <a:solidFill>
                  <a:srgbClr val="2A78D6"/>
                </a:solidFill>
                <a:latin typeface="맑은 고딕"/>
              </a:rPr>
              <a:t>05. 서비스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1155680" cy="5478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/>
            </a:pPr>
            <a:r>
              <a:rPr sz="3000" b="1" dirty="0">
                <a:solidFill>
                  <a:srgbClr val="104281"/>
                </a:solidFill>
                <a:latin typeface="맑은 고딕"/>
              </a:rPr>
              <a:t>웹 </a:t>
            </a:r>
            <a:r>
              <a:rPr sz="3000" b="1" dirty="0" err="1">
                <a:solidFill>
                  <a:srgbClr val="104281"/>
                </a:solidFill>
                <a:latin typeface="맑은 고딕"/>
              </a:rPr>
              <a:t>스크리닝</a:t>
            </a:r>
            <a:r>
              <a:rPr sz="3000" b="1" dirty="0">
                <a:solidFill>
                  <a:srgbClr val="104281"/>
                </a:solidFill>
                <a:latin typeface="맑은 고딕"/>
              </a:rPr>
              <a:t> </a:t>
            </a:r>
            <a:r>
              <a:rPr sz="3000" b="1" dirty="0" err="1">
                <a:solidFill>
                  <a:srgbClr val="104281"/>
                </a:solidFill>
                <a:latin typeface="맑은 고딕"/>
              </a:rPr>
              <a:t>서비스</a:t>
            </a:r>
            <a:r>
              <a:rPr sz="3000" b="1" dirty="0">
                <a:solidFill>
                  <a:srgbClr val="104281"/>
                </a:solidFill>
                <a:latin typeface="맑은 고딕"/>
              </a:rPr>
              <a:t>(</a:t>
            </a:r>
            <a:r>
              <a:rPr sz="3000" b="1" dirty="0" err="1">
                <a:solidFill>
                  <a:srgbClr val="104281"/>
                </a:solidFill>
                <a:latin typeface="맑은 고딕"/>
              </a:rPr>
              <a:t>FastAPI</a:t>
            </a:r>
            <a:r>
              <a:rPr sz="3000" b="1" dirty="0">
                <a:solidFill>
                  <a:srgbClr val="104281"/>
                </a:solidFill>
                <a:latin typeface="맑은 고딕"/>
              </a:rPr>
              <a:t>) — </a:t>
            </a:r>
            <a:r>
              <a:rPr sz="3000" b="1" dirty="0" err="1">
                <a:solidFill>
                  <a:srgbClr val="104281"/>
                </a:solidFill>
                <a:latin typeface="맑은 고딕"/>
              </a:rPr>
              <a:t>업로드에서</a:t>
            </a:r>
            <a:r>
              <a:rPr sz="3000" b="1" dirty="0">
                <a:solidFill>
                  <a:srgbClr val="104281"/>
                </a:solidFill>
                <a:latin typeface="맑은 고딕"/>
              </a:rPr>
              <a:t> </a:t>
            </a:r>
            <a:r>
              <a:rPr sz="3000" b="1" dirty="0" err="1">
                <a:solidFill>
                  <a:srgbClr val="104281"/>
                </a:solidFill>
                <a:latin typeface="맑은 고딕"/>
              </a:rPr>
              <a:t>안내까지</a:t>
            </a:r>
            <a:endParaRPr sz="3000" b="1" dirty="0">
              <a:solidFill>
                <a:srgbClr val="104281"/>
              </a:solidFill>
              <a:latin typeface="맑은 고딕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00000" y="1691640"/>
            <a:ext cx="4754880" cy="44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/>
            </a:pPr>
            <a:r>
              <a:rPr sz="2300" b="1" dirty="0">
                <a:solidFill>
                  <a:srgbClr val="104281"/>
                </a:solidFill>
                <a:latin typeface="맑은 고딕"/>
              </a:rPr>
              <a:t>①  </a:t>
            </a:r>
            <a:r>
              <a:rPr sz="2300" b="1" dirty="0" err="1">
                <a:solidFill>
                  <a:srgbClr val="104281"/>
                </a:solidFill>
                <a:latin typeface="맑은 고딕"/>
              </a:rPr>
              <a:t>생활</a:t>
            </a:r>
            <a:r>
              <a:rPr sz="2300" b="1" dirty="0">
                <a:solidFill>
                  <a:srgbClr val="104281"/>
                </a:solidFill>
                <a:latin typeface="맑은 고딕"/>
              </a:rPr>
              <a:t> </a:t>
            </a:r>
            <a:r>
              <a:rPr sz="2300" b="1" dirty="0" err="1">
                <a:solidFill>
                  <a:srgbClr val="104281"/>
                </a:solidFill>
                <a:latin typeface="맑은 고딕"/>
              </a:rPr>
              <a:t>기록</a:t>
            </a:r>
            <a:r>
              <a:rPr sz="2300" b="1" dirty="0">
                <a:solidFill>
                  <a:srgbClr val="104281"/>
                </a:solidFill>
                <a:latin typeface="맑은 고딕"/>
              </a:rPr>
              <a:t> CSV </a:t>
            </a:r>
            <a:r>
              <a:rPr sz="2300" b="1" dirty="0" err="1">
                <a:solidFill>
                  <a:srgbClr val="104281"/>
                </a:solidFill>
                <a:latin typeface="맑은 고딕"/>
              </a:rPr>
              <a:t>업로드</a:t>
            </a:r>
            <a:endParaRPr sz="2300" b="1" dirty="0">
              <a:solidFill>
                <a:srgbClr val="104281"/>
              </a:solidFill>
              <a:latin typeface="맑은 고딕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120640" y="1692000"/>
            <a:ext cx="6675120" cy="7745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/>
            </a:pPr>
            <a:r>
              <a:rPr sz="2000" b="1" dirty="0" err="1">
                <a:solidFill>
                  <a:srgbClr val="202020"/>
                </a:solidFill>
                <a:latin typeface="맑은 고딕"/>
              </a:rPr>
              <a:t>웨어러블에서</a:t>
            </a:r>
            <a:r>
              <a:rPr sz="2000" b="1" dirty="0">
                <a:solidFill>
                  <a:srgbClr val="202020"/>
                </a:solidFill>
                <a:latin typeface="맑은 고딕"/>
              </a:rPr>
              <a:t> </a:t>
            </a:r>
            <a:r>
              <a:rPr sz="2000" b="1" dirty="0" err="1">
                <a:solidFill>
                  <a:srgbClr val="202020"/>
                </a:solidFill>
                <a:latin typeface="맑은 고딕"/>
              </a:rPr>
              <a:t>내려받은</a:t>
            </a:r>
            <a:r>
              <a:rPr sz="2000" b="1" dirty="0">
                <a:solidFill>
                  <a:srgbClr val="202020"/>
                </a:solidFill>
                <a:latin typeface="맑은 고딕"/>
              </a:rPr>
              <a:t> </a:t>
            </a:r>
            <a:r>
              <a:rPr sz="2000" b="1" dirty="0" err="1">
                <a:solidFill>
                  <a:srgbClr val="202020"/>
                </a:solidFill>
                <a:latin typeface="맑은 고딕"/>
              </a:rPr>
              <a:t>기록</a:t>
            </a:r>
            <a:r>
              <a:rPr sz="2000" b="1" dirty="0">
                <a:solidFill>
                  <a:srgbClr val="202020"/>
                </a:solidFill>
                <a:latin typeface="맑은 고딕"/>
              </a:rPr>
              <a:t> </a:t>
            </a:r>
            <a:r>
              <a:rPr sz="2000" b="1" dirty="0" err="1">
                <a:solidFill>
                  <a:srgbClr val="202020"/>
                </a:solidFill>
                <a:latin typeface="맑은 고딕"/>
              </a:rPr>
              <a:t>파일</a:t>
            </a:r>
            <a:r>
              <a:rPr sz="2000" b="1" dirty="0">
                <a:solidFill>
                  <a:srgbClr val="202020"/>
                </a:solidFill>
                <a:latin typeface="맑은 고딕"/>
              </a:rPr>
              <a:t> · </a:t>
            </a:r>
            <a:r>
              <a:rPr sz="2000" b="1" dirty="0" err="1">
                <a:solidFill>
                  <a:srgbClr val="202020"/>
                </a:solidFill>
                <a:latin typeface="맑은 고딕"/>
              </a:rPr>
              <a:t>유효</a:t>
            </a:r>
            <a:r>
              <a:rPr sz="2000" b="1" dirty="0">
                <a:solidFill>
                  <a:srgbClr val="202020"/>
                </a:solidFill>
                <a:latin typeface="맑은 고딕"/>
              </a:rPr>
              <a:t> </a:t>
            </a:r>
            <a:r>
              <a:rPr sz="2000" b="1" dirty="0" err="1">
                <a:solidFill>
                  <a:srgbClr val="202020"/>
                </a:solidFill>
                <a:latin typeface="맑은 고딕"/>
              </a:rPr>
              <a:t>기록</a:t>
            </a:r>
            <a:r>
              <a:rPr sz="2000" b="1" dirty="0">
                <a:solidFill>
                  <a:srgbClr val="202020"/>
                </a:solidFill>
                <a:latin typeface="맑은 고딕"/>
              </a:rPr>
              <a:t> </a:t>
            </a:r>
          </a:p>
          <a:p>
            <a:pPr algn="l">
              <a:spcAft>
                <a:spcPts val="600"/>
              </a:spcAft>
              <a:defRPr/>
            </a:pPr>
            <a:r>
              <a:rPr sz="2000" b="1" dirty="0">
                <a:solidFill>
                  <a:srgbClr val="202020"/>
                </a:solidFill>
                <a:latin typeface="맑은 고딕"/>
              </a:rPr>
              <a:t>14일 </a:t>
            </a:r>
            <a:r>
              <a:rPr sz="2000" b="1" dirty="0" err="1">
                <a:solidFill>
                  <a:srgbClr val="202020"/>
                </a:solidFill>
                <a:latin typeface="맑은 고딕"/>
              </a:rPr>
              <a:t>미만이면</a:t>
            </a:r>
            <a:r>
              <a:rPr sz="2000" b="1" dirty="0">
                <a:solidFill>
                  <a:srgbClr val="202020"/>
                </a:solidFill>
                <a:latin typeface="맑은 고딕"/>
              </a:rPr>
              <a:t> </a:t>
            </a:r>
            <a:r>
              <a:rPr sz="2000" b="1" dirty="0" err="1">
                <a:solidFill>
                  <a:srgbClr val="202020"/>
                </a:solidFill>
                <a:latin typeface="맑은 고딕"/>
              </a:rPr>
              <a:t>판정하지</a:t>
            </a:r>
            <a:r>
              <a:rPr sz="2000" b="1" dirty="0">
                <a:solidFill>
                  <a:srgbClr val="202020"/>
                </a:solidFill>
                <a:latin typeface="맑은 고딕"/>
              </a:rPr>
              <a:t> </a:t>
            </a:r>
            <a:r>
              <a:rPr sz="2000" b="1" dirty="0" err="1">
                <a:solidFill>
                  <a:srgbClr val="202020"/>
                </a:solidFill>
                <a:latin typeface="맑은 고딕"/>
              </a:rPr>
              <a:t>않음</a:t>
            </a:r>
            <a:endParaRPr sz="2000" b="1" dirty="0">
              <a:solidFill>
                <a:srgbClr val="202020"/>
              </a:solidFill>
              <a:latin typeface="맑은 고딕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00000" y="2520000"/>
            <a:ext cx="4754880" cy="4370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/>
            </a:pPr>
            <a:r>
              <a:rPr sz="2300" b="1" dirty="0">
                <a:solidFill>
                  <a:srgbClr val="104281"/>
                </a:solidFill>
                <a:latin typeface="맑은 고딕"/>
              </a:rPr>
              <a:t>②  </a:t>
            </a:r>
            <a:r>
              <a:rPr sz="2300" b="1" dirty="0" err="1">
                <a:solidFill>
                  <a:srgbClr val="104281"/>
                </a:solidFill>
                <a:latin typeface="맑은 고딕"/>
              </a:rPr>
              <a:t>위험</a:t>
            </a:r>
            <a:r>
              <a:rPr sz="2300" b="1" dirty="0">
                <a:solidFill>
                  <a:srgbClr val="104281"/>
                </a:solidFill>
                <a:latin typeface="맑은 고딕"/>
              </a:rPr>
              <a:t> </a:t>
            </a:r>
            <a:r>
              <a:rPr sz="2300" b="1" dirty="0" err="1">
                <a:solidFill>
                  <a:srgbClr val="104281"/>
                </a:solidFill>
                <a:latin typeface="맑은 고딕"/>
              </a:rPr>
              <a:t>점수</a:t>
            </a:r>
            <a:r>
              <a:rPr sz="2300" b="1" dirty="0">
                <a:solidFill>
                  <a:srgbClr val="104281"/>
                </a:solidFill>
                <a:latin typeface="맑은 고딕"/>
              </a:rPr>
              <a:t> </a:t>
            </a:r>
            <a:r>
              <a:rPr sz="2300" b="1" dirty="0" err="1">
                <a:solidFill>
                  <a:srgbClr val="104281"/>
                </a:solidFill>
                <a:latin typeface="맑은 고딕"/>
              </a:rPr>
              <a:t>산출</a:t>
            </a:r>
            <a:endParaRPr sz="2300" b="1" dirty="0">
              <a:solidFill>
                <a:srgbClr val="104281"/>
              </a:solidFill>
              <a:latin typeface="맑은 고딕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120640" y="2520000"/>
            <a:ext cx="6675120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/>
            </a:pPr>
            <a:r>
              <a:rPr sz="2000" b="1" dirty="0" err="1">
                <a:solidFill>
                  <a:srgbClr val="202020"/>
                </a:solidFill>
                <a:latin typeface="맑은 고딕"/>
              </a:rPr>
              <a:t>학습과</a:t>
            </a:r>
            <a:r>
              <a:rPr sz="2000" b="1" dirty="0">
                <a:solidFill>
                  <a:srgbClr val="202020"/>
                </a:solidFill>
                <a:latin typeface="맑은 고딕"/>
              </a:rPr>
              <a:t> </a:t>
            </a:r>
            <a:r>
              <a:rPr sz="2000" b="1" dirty="0" err="1">
                <a:solidFill>
                  <a:srgbClr val="202020"/>
                </a:solidFill>
                <a:latin typeface="맑은 고딕"/>
              </a:rPr>
              <a:t>동일한</a:t>
            </a:r>
            <a:r>
              <a:rPr sz="2000" b="1" dirty="0">
                <a:solidFill>
                  <a:srgbClr val="202020"/>
                </a:solidFill>
                <a:latin typeface="맑은 고딕"/>
              </a:rPr>
              <a:t> </a:t>
            </a:r>
            <a:r>
              <a:rPr sz="2000" b="1" dirty="0" err="1">
                <a:solidFill>
                  <a:srgbClr val="202020"/>
                </a:solidFill>
                <a:latin typeface="맑은 고딕"/>
              </a:rPr>
              <a:t>지표</a:t>
            </a:r>
            <a:r>
              <a:rPr sz="2000" b="1" dirty="0">
                <a:solidFill>
                  <a:srgbClr val="202020"/>
                </a:solidFill>
                <a:latin typeface="맑은 고딕"/>
              </a:rPr>
              <a:t> </a:t>
            </a:r>
            <a:r>
              <a:rPr sz="2000" b="1" dirty="0" err="1">
                <a:solidFill>
                  <a:srgbClr val="202020"/>
                </a:solidFill>
                <a:latin typeface="맑은 고딕"/>
              </a:rPr>
              <a:t>계산</a:t>
            </a:r>
            <a:r>
              <a:rPr sz="2000" b="1" dirty="0">
                <a:solidFill>
                  <a:srgbClr val="202020"/>
                </a:solidFill>
                <a:latin typeface="맑은 고딕"/>
              </a:rPr>
              <a:t> </a:t>
            </a:r>
          </a:p>
          <a:p>
            <a:pPr algn="l">
              <a:spcAft>
                <a:spcPts val="600"/>
              </a:spcAft>
              <a:defRPr/>
            </a:pPr>
            <a:r>
              <a:rPr lang="en-US" sz="2000" b="1" dirty="0">
                <a:solidFill>
                  <a:srgbClr val="202020"/>
                </a:solidFill>
                <a:latin typeface="맑은 고딕"/>
              </a:rPr>
              <a:t>		</a:t>
            </a:r>
            <a:r>
              <a:rPr sz="2000" b="1" dirty="0">
                <a:solidFill>
                  <a:srgbClr val="202020"/>
                </a:solidFill>
                <a:latin typeface="맑은 고딕"/>
              </a:rPr>
              <a:t>→ </a:t>
            </a:r>
            <a:r>
              <a:rPr sz="2000" b="1" dirty="0" err="1">
                <a:solidFill>
                  <a:srgbClr val="202020"/>
                </a:solidFill>
                <a:latin typeface="맑은 고딕"/>
              </a:rPr>
              <a:t>검증된</a:t>
            </a:r>
            <a:r>
              <a:rPr sz="2000" b="1" dirty="0">
                <a:solidFill>
                  <a:srgbClr val="202020"/>
                </a:solidFill>
                <a:latin typeface="맑은 고딕"/>
              </a:rPr>
              <a:t> </a:t>
            </a:r>
            <a:r>
              <a:rPr sz="2000" b="1" dirty="0" err="1">
                <a:solidFill>
                  <a:srgbClr val="202020"/>
                </a:solidFill>
                <a:latin typeface="맑은 고딕"/>
              </a:rPr>
              <a:t>모델로</a:t>
            </a:r>
            <a:r>
              <a:rPr sz="2000" b="1" dirty="0">
                <a:solidFill>
                  <a:srgbClr val="202020"/>
                </a:solidFill>
                <a:latin typeface="맑은 고딕"/>
              </a:rPr>
              <a:t> </a:t>
            </a:r>
            <a:r>
              <a:rPr sz="2000" b="1" dirty="0" err="1">
                <a:solidFill>
                  <a:srgbClr val="202020"/>
                </a:solidFill>
                <a:latin typeface="맑은 고딕"/>
              </a:rPr>
              <a:t>예측</a:t>
            </a:r>
            <a:r>
              <a:rPr sz="2000" b="1" dirty="0">
                <a:solidFill>
                  <a:srgbClr val="202020"/>
                </a:solidFill>
                <a:latin typeface="맑은 고딕"/>
              </a:rPr>
              <a:t> (0~1 </a:t>
            </a:r>
            <a:r>
              <a:rPr sz="2000" b="1" dirty="0" err="1">
                <a:solidFill>
                  <a:srgbClr val="202020"/>
                </a:solidFill>
                <a:latin typeface="맑은 고딕"/>
              </a:rPr>
              <a:t>점수</a:t>
            </a:r>
            <a:r>
              <a:rPr sz="2000" b="1" dirty="0">
                <a:solidFill>
                  <a:srgbClr val="202020"/>
                </a:solidFill>
                <a:latin typeface="맑은 고딕"/>
              </a:rPr>
              <a:t>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348000"/>
            <a:ext cx="4754880" cy="4434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/>
            </a:pPr>
            <a:r>
              <a:rPr sz="2300" b="1" dirty="0">
                <a:solidFill>
                  <a:srgbClr val="104281"/>
                </a:solidFill>
                <a:latin typeface="맑은 고딕"/>
              </a:rPr>
              <a:t>③  </a:t>
            </a:r>
            <a:r>
              <a:rPr sz="2300" b="1" dirty="0" err="1">
                <a:solidFill>
                  <a:srgbClr val="104281"/>
                </a:solidFill>
                <a:latin typeface="맑은 고딕"/>
              </a:rPr>
              <a:t>판단</a:t>
            </a:r>
            <a:r>
              <a:rPr sz="2300" b="1" dirty="0">
                <a:solidFill>
                  <a:srgbClr val="104281"/>
                </a:solidFill>
                <a:latin typeface="맑은 고딕"/>
              </a:rPr>
              <a:t> </a:t>
            </a:r>
            <a:r>
              <a:rPr sz="2300" b="1" dirty="0" err="1">
                <a:solidFill>
                  <a:srgbClr val="104281"/>
                </a:solidFill>
                <a:latin typeface="맑은 고딕"/>
              </a:rPr>
              <a:t>근거</a:t>
            </a:r>
            <a:r>
              <a:rPr sz="2300" b="1" dirty="0">
                <a:solidFill>
                  <a:srgbClr val="104281"/>
                </a:solidFill>
                <a:latin typeface="맑은 고딕"/>
              </a:rPr>
              <a:t> </a:t>
            </a:r>
            <a:r>
              <a:rPr sz="2300" b="1" dirty="0" err="1">
                <a:solidFill>
                  <a:srgbClr val="104281"/>
                </a:solidFill>
                <a:latin typeface="맑은 고딕"/>
              </a:rPr>
              <a:t>제시</a:t>
            </a:r>
            <a:endParaRPr sz="2300" b="1" dirty="0">
              <a:solidFill>
                <a:srgbClr val="104281"/>
              </a:solidFill>
              <a:latin typeface="맑은 고딕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120640" y="3348000"/>
            <a:ext cx="690545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/>
            </a:pPr>
            <a:r>
              <a:rPr sz="2000" b="1" dirty="0" err="1">
                <a:solidFill>
                  <a:srgbClr val="202020"/>
                </a:solidFill>
                <a:latin typeface="맑은 고딕"/>
              </a:rPr>
              <a:t>정상군</a:t>
            </a:r>
            <a:r>
              <a:rPr sz="2000" b="1" dirty="0">
                <a:solidFill>
                  <a:srgbClr val="202020"/>
                </a:solidFill>
                <a:latin typeface="맑은 고딕"/>
              </a:rPr>
              <a:t> </a:t>
            </a:r>
            <a:r>
              <a:rPr sz="2000" b="1" dirty="0" err="1">
                <a:solidFill>
                  <a:srgbClr val="202020"/>
                </a:solidFill>
                <a:latin typeface="맑은 고딕"/>
              </a:rPr>
              <a:t>평균과</a:t>
            </a:r>
            <a:r>
              <a:rPr sz="2000" b="1" dirty="0">
                <a:solidFill>
                  <a:srgbClr val="202020"/>
                </a:solidFill>
                <a:latin typeface="맑은 고딕"/>
              </a:rPr>
              <a:t> </a:t>
            </a:r>
            <a:r>
              <a:rPr sz="2000" b="1" dirty="0" err="1">
                <a:solidFill>
                  <a:srgbClr val="202020"/>
                </a:solidFill>
                <a:latin typeface="맑은 고딕"/>
              </a:rPr>
              <a:t>가장</a:t>
            </a:r>
            <a:r>
              <a:rPr sz="2000" b="1" dirty="0">
                <a:solidFill>
                  <a:srgbClr val="202020"/>
                </a:solidFill>
                <a:latin typeface="맑은 고딕"/>
              </a:rPr>
              <a:t> </a:t>
            </a:r>
            <a:r>
              <a:rPr sz="2000" b="1" dirty="0" err="1">
                <a:solidFill>
                  <a:srgbClr val="202020"/>
                </a:solidFill>
                <a:latin typeface="맑은 고딕"/>
              </a:rPr>
              <a:t>크게</a:t>
            </a:r>
            <a:r>
              <a:rPr sz="2000" b="1" dirty="0">
                <a:solidFill>
                  <a:srgbClr val="202020"/>
                </a:solidFill>
                <a:latin typeface="맑은 고딕"/>
              </a:rPr>
              <a:t> </a:t>
            </a:r>
            <a:r>
              <a:rPr sz="2000" b="1" dirty="0" err="1">
                <a:solidFill>
                  <a:srgbClr val="202020"/>
                </a:solidFill>
                <a:latin typeface="맑은 고딕"/>
              </a:rPr>
              <a:t>다른</a:t>
            </a:r>
            <a:r>
              <a:rPr sz="2000" b="1" dirty="0">
                <a:solidFill>
                  <a:srgbClr val="202020"/>
                </a:solidFill>
                <a:latin typeface="맑은 고딕"/>
              </a:rPr>
              <a:t> </a:t>
            </a:r>
            <a:r>
              <a:rPr sz="2000" b="1" dirty="0" err="1">
                <a:solidFill>
                  <a:srgbClr val="202020"/>
                </a:solidFill>
                <a:latin typeface="맑은 고딕"/>
              </a:rPr>
              <a:t>지표</a:t>
            </a:r>
            <a:r>
              <a:rPr sz="2000" b="1" dirty="0">
                <a:solidFill>
                  <a:srgbClr val="202020"/>
                </a:solidFill>
                <a:latin typeface="맑은 고딕"/>
              </a:rPr>
              <a:t> 3가지를</a:t>
            </a:r>
            <a:r>
              <a:rPr lang="en-US" sz="2000" b="1" dirty="0">
                <a:solidFill>
                  <a:srgbClr val="202020"/>
                </a:solidFill>
                <a:latin typeface="맑은 고딕"/>
              </a:rPr>
              <a:t> </a:t>
            </a:r>
            <a:r>
              <a:rPr sz="2000" b="1" dirty="0" err="1">
                <a:solidFill>
                  <a:srgbClr val="202020"/>
                </a:solidFill>
                <a:latin typeface="맑은 고딕"/>
              </a:rPr>
              <a:t>그래프로</a:t>
            </a:r>
            <a:r>
              <a:rPr sz="2000" b="1" dirty="0">
                <a:solidFill>
                  <a:srgbClr val="202020"/>
                </a:solidFill>
                <a:latin typeface="맑은 고딕"/>
              </a:rPr>
              <a:t> </a:t>
            </a:r>
            <a:r>
              <a:rPr sz="2000" b="1" dirty="0" err="1">
                <a:solidFill>
                  <a:srgbClr val="202020"/>
                </a:solidFill>
                <a:latin typeface="맑은 고딕"/>
              </a:rPr>
              <a:t>비교</a:t>
            </a:r>
            <a:endParaRPr sz="2000" b="1" dirty="0">
              <a:solidFill>
                <a:srgbClr val="202020"/>
              </a:solidFill>
              <a:latin typeface="맑은 고딕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14400" y="4176000"/>
            <a:ext cx="4754880" cy="4404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/>
            </a:pPr>
            <a:r>
              <a:rPr sz="2300" b="1" dirty="0">
                <a:solidFill>
                  <a:srgbClr val="104281"/>
                </a:solidFill>
                <a:latin typeface="맑은 고딕"/>
              </a:rPr>
              <a:t>④  </a:t>
            </a:r>
            <a:r>
              <a:rPr sz="2300" b="1" dirty="0" err="1">
                <a:solidFill>
                  <a:srgbClr val="104281"/>
                </a:solidFill>
                <a:latin typeface="맑은 고딕"/>
              </a:rPr>
              <a:t>치매안심센터</a:t>
            </a:r>
            <a:r>
              <a:rPr sz="2300" b="1" dirty="0">
                <a:solidFill>
                  <a:srgbClr val="104281"/>
                </a:solidFill>
                <a:latin typeface="맑은 고딕"/>
              </a:rPr>
              <a:t> </a:t>
            </a:r>
            <a:r>
              <a:rPr sz="2300" b="1" dirty="0" err="1">
                <a:solidFill>
                  <a:srgbClr val="104281"/>
                </a:solidFill>
                <a:latin typeface="맑은 고딕"/>
              </a:rPr>
              <a:t>연결</a:t>
            </a:r>
            <a:endParaRPr sz="2300" b="1" dirty="0">
              <a:solidFill>
                <a:srgbClr val="104281"/>
              </a:solidFill>
              <a:latin typeface="맑은 고딕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120640" y="4176000"/>
            <a:ext cx="6675120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/>
            </a:pPr>
            <a:r>
              <a:rPr sz="2000" b="1" dirty="0" err="1">
                <a:solidFill>
                  <a:srgbClr val="202020"/>
                </a:solidFill>
                <a:latin typeface="맑은 고딕"/>
              </a:rPr>
              <a:t>공공데이터포털</a:t>
            </a:r>
            <a:r>
              <a:rPr sz="2000" b="1" dirty="0">
                <a:solidFill>
                  <a:srgbClr val="202020"/>
                </a:solidFill>
                <a:latin typeface="맑은 고딕"/>
              </a:rPr>
              <a:t> </a:t>
            </a:r>
            <a:r>
              <a:rPr sz="2000" b="1" dirty="0" err="1">
                <a:solidFill>
                  <a:srgbClr val="202020"/>
                </a:solidFill>
                <a:latin typeface="맑은 고딕"/>
              </a:rPr>
              <a:t>전국</a:t>
            </a:r>
            <a:r>
              <a:rPr sz="2000" b="1" dirty="0">
                <a:solidFill>
                  <a:srgbClr val="202020"/>
                </a:solidFill>
                <a:latin typeface="맑은 고딕"/>
              </a:rPr>
              <a:t> 317곳 </a:t>
            </a:r>
            <a:r>
              <a:rPr sz="2000" b="1" dirty="0" err="1">
                <a:solidFill>
                  <a:srgbClr val="202020"/>
                </a:solidFill>
                <a:latin typeface="맑은 고딕"/>
              </a:rPr>
              <a:t>연동</a:t>
            </a:r>
            <a:r>
              <a:rPr sz="2000" b="1" dirty="0">
                <a:solidFill>
                  <a:srgbClr val="202020"/>
                </a:solidFill>
                <a:latin typeface="맑은 고딕"/>
              </a:rPr>
              <a:t> </a:t>
            </a:r>
          </a:p>
          <a:p>
            <a:pPr algn="l">
              <a:spcAft>
                <a:spcPts val="600"/>
              </a:spcAft>
              <a:defRPr/>
            </a:pPr>
            <a:r>
              <a:rPr lang="en-US" sz="2000" b="1" dirty="0">
                <a:solidFill>
                  <a:srgbClr val="202020"/>
                </a:solidFill>
                <a:latin typeface="맑은 고딕"/>
              </a:rPr>
              <a:t>		</a:t>
            </a:r>
            <a:r>
              <a:rPr sz="2000" b="1" dirty="0">
                <a:solidFill>
                  <a:srgbClr val="202020"/>
                </a:solidFill>
                <a:latin typeface="맑은 고딕"/>
              </a:rPr>
              <a:t>— 내 </a:t>
            </a:r>
            <a:r>
              <a:rPr sz="2000" b="1" dirty="0" err="1">
                <a:solidFill>
                  <a:srgbClr val="202020"/>
                </a:solidFill>
                <a:latin typeface="맑은 고딕"/>
              </a:rPr>
              <a:t>위치</a:t>
            </a:r>
            <a:r>
              <a:rPr sz="2000" b="1" dirty="0">
                <a:solidFill>
                  <a:srgbClr val="202020"/>
                </a:solidFill>
                <a:latin typeface="맑은 고딕"/>
              </a:rPr>
              <a:t> </a:t>
            </a:r>
            <a:r>
              <a:rPr sz="2000" b="1" dirty="0" err="1">
                <a:solidFill>
                  <a:srgbClr val="202020"/>
                </a:solidFill>
                <a:latin typeface="맑은 고딕"/>
              </a:rPr>
              <a:t>기준</a:t>
            </a:r>
            <a:r>
              <a:rPr sz="2000" b="1" dirty="0">
                <a:solidFill>
                  <a:srgbClr val="202020"/>
                </a:solidFill>
                <a:latin typeface="맑은 고딕"/>
              </a:rPr>
              <a:t> </a:t>
            </a:r>
            <a:r>
              <a:rPr sz="2000" b="1" dirty="0" err="1">
                <a:solidFill>
                  <a:srgbClr val="202020"/>
                </a:solidFill>
                <a:latin typeface="맑은 고딕"/>
              </a:rPr>
              <a:t>가까운</a:t>
            </a:r>
            <a:r>
              <a:rPr sz="2000" b="1" dirty="0">
                <a:solidFill>
                  <a:srgbClr val="202020"/>
                </a:solidFill>
                <a:latin typeface="맑은 고딕"/>
              </a:rPr>
              <a:t> 순, </a:t>
            </a:r>
            <a:r>
              <a:rPr sz="2000" b="1" dirty="0" err="1">
                <a:solidFill>
                  <a:srgbClr val="202020"/>
                </a:solidFill>
                <a:latin typeface="맑은 고딕"/>
              </a:rPr>
              <a:t>지도</a:t>
            </a:r>
            <a:r>
              <a:rPr sz="2000" b="1" dirty="0">
                <a:solidFill>
                  <a:srgbClr val="202020"/>
                </a:solidFill>
                <a:latin typeface="맑은 고딕"/>
              </a:rPr>
              <a:t> </a:t>
            </a:r>
            <a:r>
              <a:rPr sz="2000" b="1" dirty="0" err="1">
                <a:solidFill>
                  <a:srgbClr val="202020"/>
                </a:solidFill>
                <a:latin typeface="맑은 고딕"/>
              </a:rPr>
              <a:t>표시</a:t>
            </a:r>
            <a:endParaRPr sz="2000" b="1" dirty="0">
              <a:solidFill>
                <a:srgbClr val="202020"/>
              </a:solidFill>
              <a:latin typeface="맑은 고딕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914400" y="5004000"/>
            <a:ext cx="4754880" cy="437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/>
            </a:pPr>
            <a:r>
              <a:rPr sz="2300" b="1" dirty="0">
                <a:solidFill>
                  <a:srgbClr val="104281"/>
                </a:solidFill>
                <a:latin typeface="맑은 고딕"/>
              </a:rPr>
              <a:t>⑤  </a:t>
            </a:r>
            <a:r>
              <a:rPr sz="2300" b="1" dirty="0" err="1">
                <a:solidFill>
                  <a:srgbClr val="104281"/>
                </a:solidFill>
                <a:latin typeface="맑은 고딕"/>
              </a:rPr>
              <a:t>한계</a:t>
            </a:r>
            <a:r>
              <a:rPr sz="2300" b="1" dirty="0">
                <a:solidFill>
                  <a:srgbClr val="104281"/>
                </a:solidFill>
                <a:latin typeface="맑은 고딕"/>
              </a:rPr>
              <a:t> </a:t>
            </a:r>
            <a:r>
              <a:rPr sz="2300" b="1" dirty="0" err="1">
                <a:solidFill>
                  <a:srgbClr val="104281"/>
                </a:solidFill>
                <a:latin typeface="맑은 고딕"/>
              </a:rPr>
              <a:t>고지</a:t>
            </a:r>
            <a:endParaRPr sz="2300" b="1" dirty="0">
              <a:solidFill>
                <a:srgbClr val="104281"/>
              </a:solidFill>
              <a:latin typeface="맑은 고딕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120640" y="5004000"/>
            <a:ext cx="6675120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/>
            </a:pPr>
            <a:r>
              <a:rPr sz="2000" b="1" dirty="0">
                <a:solidFill>
                  <a:srgbClr val="202020"/>
                </a:solidFill>
                <a:latin typeface="맑은 고딕"/>
              </a:rPr>
              <a:t>"</a:t>
            </a:r>
            <a:r>
              <a:rPr sz="2000" b="1" dirty="0" err="1">
                <a:solidFill>
                  <a:srgbClr val="202020"/>
                </a:solidFill>
                <a:latin typeface="맑은 고딕"/>
              </a:rPr>
              <a:t>진단이</a:t>
            </a:r>
            <a:r>
              <a:rPr sz="2000" b="1" dirty="0">
                <a:solidFill>
                  <a:srgbClr val="202020"/>
                </a:solidFill>
                <a:latin typeface="맑은 고딕"/>
              </a:rPr>
              <a:t> </a:t>
            </a:r>
            <a:r>
              <a:rPr sz="2000" b="1" dirty="0" err="1">
                <a:solidFill>
                  <a:srgbClr val="202020"/>
                </a:solidFill>
                <a:latin typeface="맑은 고딕"/>
              </a:rPr>
              <a:t>아닌</a:t>
            </a:r>
            <a:r>
              <a:rPr sz="2000" b="1" dirty="0">
                <a:solidFill>
                  <a:srgbClr val="202020"/>
                </a:solidFill>
                <a:latin typeface="맑은 고딕"/>
              </a:rPr>
              <a:t> </a:t>
            </a:r>
            <a:r>
              <a:rPr sz="2000" b="1" dirty="0" err="1">
                <a:solidFill>
                  <a:srgbClr val="202020"/>
                </a:solidFill>
                <a:latin typeface="맑은 고딕"/>
              </a:rPr>
              <a:t>참고용</a:t>
            </a:r>
            <a:r>
              <a:rPr sz="2000" b="1" dirty="0">
                <a:solidFill>
                  <a:srgbClr val="202020"/>
                </a:solidFill>
                <a:latin typeface="맑은 고딕"/>
              </a:rPr>
              <a:t> · </a:t>
            </a:r>
            <a:r>
              <a:rPr sz="2000" b="1" dirty="0" err="1">
                <a:solidFill>
                  <a:srgbClr val="202020"/>
                </a:solidFill>
                <a:latin typeface="맑은 고딕"/>
              </a:rPr>
              <a:t>표본</a:t>
            </a:r>
            <a:r>
              <a:rPr sz="2000" b="1" dirty="0">
                <a:solidFill>
                  <a:srgbClr val="202020"/>
                </a:solidFill>
                <a:latin typeface="맑은 고딕"/>
              </a:rPr>
              <a:t> 174명" </a:t>
            </a:r>
          </a:p>
          <a:p>
            <a:pPr algn="l">
              <a:spcAft>
                <a:spcPts val="600"/>
              </a:spcAft>
              <a:defRPr/>
            </a:pPr>
            <a:r>
              <a:rPr lang="en-US" sz="2000" b="1" dirty="0">
                <a:solidFill>
                  <a:srgbClr val="202020"/>
                </a:solidFill>
                <a:latin typeface="맑은 고딕"/>
              </a:rPr>
              <a:t>		</a:t>
            </a:r>
            <a:r>
              <a:rPr sz="2000" b="1" dirty="0">
                <a:solidFill>
                  <a:srgbClr val="202020"/>
                </a:solidFill>
                <a:latin typeface="맑은 고딕"/>
              </a:rPr>
              <a:t>— </a:t>
            </a:r>
            <a:r>
              <a:rPr sz="2000" b="1" dirty="0" err="1">
                <a:solidFill>
                  <a:srgbClr val="202020"/>
                </a:solidFill>
                <a:latin typeface="맑은 고딕"/>
              </a:rPr>
              <a:t>모든</a:t>
            </a:r>
            <a:r>
              <a:rPr sz="2000" b="1" dirty="0">
                <a:solidFill>
                  <a:srgbClr val="202020"/>
                </a:solidFill>
                <a:latin typeface="맑은 고딕"/>
              </a:rPr>
              <a:t> </a:t>
            </a:r>
            <a:r>
              <a:rPr sz="2000" b="1" dirty="0" err="1">
                <a:solidFill>
                  <a:srgbClr val="202020"/>
                </a:solidFill>
                <a:latin typeface="맑은 고딕"/>
              </a:rPr>
              <a:t>결과</a:t>
            </a:r>
            <a:r>
              <a:rPr sz="2000" b="1" dirty="0">
                <a:solidFill>
                  <a:srgbClr val="202020"/>
                </a:solidFill>
                <a:latin typeface="맑은 고딕"/>
              </a:rPr>
              <a:t> </a:t>
            </a:r>
            <a:r>
              <a:rPr sz="2000" b="1" dirty="0" err="1">
                <a:solidFill>
                  <a:srgbClr val="202020"/>
                </a:solidFill>
                <a:latin typeface="맑은 고딕"/>
              </a:rPr>
              <a:t>화면에</a:t>
            </a:r>
            <a:r>
              <a:rPr sz="2000" b="1" dirty="0">
                <a:solidFill>
                  <a:srgbClr val="202020"/>
                </a:solidFill>
                <a:latin typeface="맑은 고딕"/>
              </a:rPr>
              <a:t> </a:t>
            </a:r>
            <a:r>
              <a:rPr sz="2000" b="1" dirty="0" err="1">
                <a:solidFill>
                  <a:srgbClr val="202020"/>
                </a:solidFill>
                <a:latin typeface="맑은 고딕"/>
              </a:rPr>
              <a:t>명시</a:t>
            </a:r>
            <a:endParaRPr sz="2000" b="1" dirty="0">
              <a:solidFill>
                <a:srgbClr val="202020"/>
              </a:solidFill>
              <a:latin typeface="맑은 고딕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914400" y="6192000"/>
            <a:ext cx="1100752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/>
            </a:pPr>
            <a:r>
              <a:rPr sz="2000" b="1" dirty="0" err="1">
                <a:solidFill>
                  <a:srgbClr val="FF0000"/>
                </a:solidFill>
                <a:latin typeface="맑은 고딕"/>
              </a:rPr>
              <a:t>모델</a:t>
            </a:r>
            <a:r>
              <a:rPr sz="2000" b="1" dirty="0">
                <a:solidFill>
                  <a:srgbClr val="FF0000"/>
                </a:solidFill>
                <a:latin typeface="맑은 고딕"/>
              </a:rPr>
              <a:t> </a:t>
            </a:r>
            <a:r>
              <a:rPr sz="2000" b="1" dirty="0" err="1">
                <a:solidFill>
                  <a:srgbClr val="FF0000"/>
                </a:solidFill>
                <a:latin typeface="맑은 고딕"/>
              </a:rPr>
              <a:t>파일만</a:t>
            </a:r>
            <a:r>
              <a:rPr sz="2000" b="1" dirty="0">
                <a:solidFill>
                  <a:srgbClr val="FF0000"/>
                </a:solidFill>
                <a:latin typeface="맑은 고딕"/>
              </a:rPr>
              <a:t> </a:t>
            </a:r>
            <a:r>
              <a:rPr sz="2000" b="1" dirty="0" err="1">
                <a:solidFill>
                  <a:srgbClr val="FF0000"/>
                </a:solidFill>
                <a:latin typeface="맑은 고딕"/>
              </a:rPr>
              <a:t>갈아끼우면</a:t>
            </a:r>
            <a:r>
              <a:rPr sz="2000" b="1" dirty="0">
                <a:solidFill>
                  <a:srgbClr val="FF0000"/>
                </a:solidFill>
                <a:latin typeface="맑은 고딕"/>
              </a:rPr>
              <a:t> </a:t>
            </a:r>
            <a:r>
              <a:rPr sz="2000" b="1" dirty="0" err="1">
                <a:solidFill>
                  <a:srgbClr val="FF0000"/>
                </a:solidFill>
                <a:latin typeface="맑은 고딕"/>
              </a:rPr>
              <a:t>서비스가</a:t>
            </a:r>
            <a:r>
              <a:rPr sz="2000" b="1" dirty="0">
                <a:solidFill>
                  <a:srgbClr val="FF0000"/>
                </a:solidFill>
                <a:latin typeface="맑은 고딕"/>
              </a:rPr>
              <a:t> </a:t>
            </a:r>
            <a:r>
              <a:rPr sz="2000" b="1" dirty="0" err="1">
                <a:solidFill>
                  <a:srgbClr val="FF0000"/>
                </a:solidFill>
                <a:latin typeface="맑은 고딕"/>
              </a:rPr>
              <a:t>그대로</a:t>
            </a:r>
            <a:r>
              <a:rPr sz="2000" b="1" dirty="0">
                <a:solidFill>
                  <a:srgbClr val="FF0000"/>
                </a:solidFill>
                <a:latin typeface="맑은 고딕"/>
              </a:rPr>
              <a:t> 새 </a:t>
            </a:r>
            <a:r>
              <a:rPr sz="2000" b="1" dirty="0" err="1">
                <a:solidFill>
                  <a:srgbClr val="FF0000"/>
                </a:solidFill>
                <a:latin typeface="맑은 고딕"/>
              </a:rPr>
              <a:t>모델을</a:t>
            </a:r>
            <a:r>
              <a:rPr sz="2000" b="1" dirty="0">
                <a:solidFill>
                  <a:srgbClr val="FF0000"/>
                </a:solidFill>
                <a:latin typeface="맑은 고딕"/>
              </a:rPr>
              <a:t> </a:t>
            </a:r>
            <a:r>
              <a:rPr sz="2000" b="1" dirty="0" err="1">
                <a:solidFill>
                  <a:srgbClr val="FF0000"/>
                </a:solidFill>
                <a:latin typeface="맑은 고딕"/>
              </a:rPr>
              <a:t>쓰는</a:t>
            </a:r>
            <a:r>
              <a:rPr sz="2000" b="1" dirty="0">
                <a:solidFill>
                  <a:srgbClr val="FF0000"/>
                </a:solidFill>
                <a:latin typeface="맑은 고딕"/>
              </a:rPr>
              <a:t> </a:t>
            </a:r>
            <a:r>
              <a:rPr sz="2000" b="1" dirty="0" err="1">
                <a:solidFill>
                  <a:srgbClr val="FF0000"/>
                </a:solidFill>
                <a:latin typeface="맑은 고딕"/>
              </a:rPr>
              <a:t>구조</a:t>
            </a:r>
            <a:r>
              <a:rPr sz="2000" b="1" dirty="0">
                <a:solidFill>
                  <a:srgbClr val="FF0000"/>
                </a:solidFill>
                <a:latin typeface="맑은 고딕"/>
              </a:rPr>
              <a:t> — </a:t>
            </a:r>
            <a:r>
              <a:rPr sz="2000" b="1" dirty="0" err="1">
                <a:solidFill>
                  <a:srgbClr val="FF0000"/>
                </a:solidFill>
                <a:latin typeface="맑은 고딕"/>
              </a:rPr>
              <a:t>데이터가</a:t>
            </a:r>
            <a:r>
              <a:rPr sz="2000" b="1" dirty="0">
                <a:solidFill>
                  <a:srgbClr val="FF0000"/>
                </a:solidFill>
                <a:latin typeface="맑은 고딕"/>
              </a:rPr>
              <a:t> </a:t>
            </a:r>
            <a:r>
              <a:rPr sz="2000" b="1" dirty="0" err="1">
                <a:solidFill>
                  <a:srgbClr val="FF0000"/>
                </a:solidFill>
                <a:latin typeface="맑은 고딕"/>
              </a:rPr>
              <a:t>좋아지면</a:t>
            </a:r>
            <a:r>
              <a:rPr sz="2000" b="1" dirty="0">
                <a:solidFill>
                  <a:srgbClr val="FF0000"/>
                </a:solidFill>
                <a:latin typeface="맑은 고딕"/>
              </a:rPr>
              <a:t> </a:t>
            </a:r>
            <a:r>
              <a:rPr sz="2000" b="1" dirty="0" err="1">
                <a:solidFill>
                  <a:srgbClr val="FF0000"/>
                </a:solidFill>
                <a:latin typeface="맑은 고딕"/>
              </a:rPr>
              <a:t>즉시</a:t>
            </a:r>
            <a:r>
              <a:rPr sz="2000" b="1" dirty="0">
                <a:solidFill>
                  <a:srgbClr val="FF0000"/>
                </a:solidFill>
                <a:latin typeface="맑은 고딕"/>
              </a:rPr>
              <a:t> </a:t>
            </a:r>
            <a:r>
              <a:rPr sz="2000" b="1" dirty="0" err="1">
                <a:solidFill>
                  <a:srgbClr val="FF0000"/>
                </a:solidFill>
                <a:latin typeface="맑은 고딕"/>
              </a:rPr>
              <a:t>반영</a:t>
            </a:r>
            <a:endParaRPr sz="2000" b="1" dirty="0">
              <a:solidFill>
                <a:srgbClr val="FF0000"/>
              </a:solidFill>
              <a:latin typeface="맑은 고딕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1475720" y="6446520"/>
            <a:ext cx="640080" cy="266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  <a:defRPr/>
            </a:pPr>
            <a:r>
              <a:rPr sz="1200" b="0">
                <a:solidFill>
                  <a:srgbClr val="666666"/>
                </a:solidFill>
                <a:latin typeface="맑은 고딕"/>
              </a:rPr>
              <a:t>16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42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515600" cy="3341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/>
            </a:pPr>
            <a:r>
              <a:rPr sz="1600" b="1">
                <a:solidFill>
                  <a:srgbClr val="2A78D6"/>
                </a:solidFill>
                <a:latin typeface="맑은 고딕"/>
              </a:rPr>
              <a:t>05. 서비스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1155680" cy="5478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/>
            </a:pPr>
            <a:r>
              <a:rPr sz="3000" b="1">
                <a:solidFill>
                  <a:srgbClr val="104281"/>
                </a:solidFill>
                <a:latin typeface="맑은 고딕"/>
              </a:rPr>
              <a:t>시연 순서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75157"/>
            <a:ext cx="10607040" cy="41857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/>
            </a:pPr>
            <a:r>
              <a:rPr sz="2500" b="1" dirty="0">
                <a:solidFill>
                  <a:srgbClr val="202020"/>
                </a:solidFill>
                <a:latin typeface="맑은 고딕"/>
              </a:rPr>
              <a:t>1.  </a:t>
            </a:r>
            <a:r>
              <a:rPr sz="2500" b="1" dirty="0" err="1">
                <a:solidFill>
                  <a:srgbClr val="202020"/>
                </a:solidFill>
                <a:latin typeface="맑은 고딕"/>
              </a:rPr>
              <a:t>정상군</a:t>
            </a:r>
            <a:r>
              <a:rPr sz="2500" b="1" dirty="0">
                <a:solidFill>
                  <a:srgbClr val="202020"/>
                </a:solidFill>
                <a:latin typeface="맑은 고딕"/>
              </a:rPr>
              <a:t> </a:t>
            </a:r>
            <a:r>
              <a:rPr sz="2500" b="1" dirty="0" err="1">
                <a:solidFill>
                  <a:srgbClr val="202020"/>
                </a:solidFill>
                <a:latin typeface="맑은 고딕"/>
              </a:rPr>
              <a:t>샘플</a:t>
            </a:r>
            <a:r>
              <a:rPr sz="2500" b="1" dirty="0">
                <a:solidFill>
                  <a:srgbClr val="202020"/>
                </a:solidFill>
                <a:latin typeface="맑은 고딕"/>
              </a:rPr>
              <a:t> </a:t>
            </a:r>
            <a:r>
              <a:rPr sz="2500" b="1" dirty="0" err="1">
                <a:solidFill>
                  <a:srgbClr val="202020"/>
                </a:solidFill>
                <a:latin typeface="맑은 고딕"/>
              </a:rPr>
              <a:t>업로드</a:t>
            </a:r>
            <a:r>
              <a:rPr sz="2500" b="1" dirty="0">
                <a:solidFill>
                  <a:srgbClr val="202020"/>
                </a:solidFill>
                <a:latin typeface="맑은 고딕"/>
              </a:rPr>
              <a:t>  →  </a:t>
            </a:r>
            <a:r>
              <a:rPr sz="2500" b="1" dirty="0" err="1">
                <a:solidFill>
                  <a:srgbClr val="202020"/>
                </a:solidFill>
                <a:latin typeface="맑은 고딕"/>
              </a:rPr>
              <a:t>위험</a:t>
            </a:r>
            <a:r>
              <a:rPr sz="2500" b="1" dirty="0">
                <a:solidFill>
                  <a:srgbClr val="202020"/>
                </a:solidFill>
                <a:latin typeface="맑은 고딕"/>
              </a:rPr>
              <a:t> </a:t>
            </a:r>
            <a:r>
              <a:rPr sz="2500" b="1" dirty="0" err="1">
                <a:solidFill>
                  <a:srgbClr val="202020"/>
                </a:solidFill>
                <a:latin typeface="맑은 고딕"/>
              </a:rPr>
              <a:t>점수</a:t>
            </a:r>
            <a:r>
              <a:rPr sz="2500" b="1" dirty="0">
                <a:solidFill>
                  <a:srgbClr val="202020"/>
                </a:solidFill>
                <a:latin typeface="맑은 고딕"/>
              </a:rPr>
              <a:t> 0.29, "</a:t>
            </a:r>
            <a:r>
              <a:rPr sz="2500" b="1" dirty="0" err="1">
                <a:solidFill>
                  <a:srgbClr val="202020"/>
                </a:solidFill>
                <a:latin typeface="맑은 고딕"/>
              </a:rPr>
              <a:t>뚜렷한</a:t>
            </a:r>
            <a:r>
              <a:rPr sz="2500" b="1" dirty="0">
                <a:solidFill>
                  <a:srgbClr val="202020"/>
                </a:solidFill>
                <a:latin typeface="맑은 고딕"/>
              </a:rPr>
              <a:t> </a:t>
            </a:r>
            <a:r>
              <a:rPr sz="2500" b="1" dirty="0" err="1">
                <a:solidFill>
                  <a:srgbClr val="202020"/>
                </a:solidFill>
                <a:latin typeface="맑은 고딕"/>
              </a:rPr>
              <a:t>위험</a:t>
            </a:r>
            <a:r>
              <a:rPr sz="2500" b="1" dirty="0">
                <a:solidFill>
                  <a:srgbClr val="202020"/>
                </a:solidFill>
                <a:latin typeface="맑은 고딕"/>
              </a:rPr>
              <a:t> </a:t>
            </a:r>
            <a:r>
              <a:rPr sz="2500" b="1" dirty="0" err="1">
                <a:solidFill>
                  <a:srgbClr val="202020"/>
                </a:solidFill>
                <a:latin typeface="맑은 고딕"/>
              </a:rPr>
              <a:t>신호</a:t>
            </a:r>
            <a:r>
              <a:rPr sz="2500" b="1" dirty="0">
                <a:solidFill>
                  <a:srgbClr val="202020"/>
                </a:solidFill>
                <a:latin typeface="맑은 고딕"/>
              </a:rPr>
              <a:t> </a:t>
            </a:r>
            <a:r>
              <a:rPr sz="2500" b="1" dirty="0" err="1">
                <a:solidFill>
                  <a:srgbClr val="202020"/>
                </a:solidFill>
                <a:latin typeface="맑은 고딕"/>
              </a:rPr>
              <a:t>없음</a:t>
            </a:r>
            <a:r>
              <a:rPr sz="2500" b="1" dirty="0">
                <a:solidFill>
                  <a:srgbClr val="202020"/>
                </a:solidFill>
                <a:latin typeface="맑은 고딕"/>
              </a:rPr>
              <a:t>"</a:t>
            </a:r>
          </a:p>
          <a:p>
            <a:pPr algn="l">
              <a:spcAft>
                <a:spcPts val="600"/>
              </a:spcAft>
              <a:defRPr/>
            </a:pPr>
            <a:endParaRPr sz="2000" b="1" dirty="0">
              <a:solidFill>
                <a:srgbClr val="202020"/>
              </a:solidFill>
              <a:latin typeface="맑은 고딕"/>
            </a:endParaRPr>
          </a:p>
          <a:p>
            <a:pPr algn="l">
              <a:spcAft>
                <a:spcPts val="600"/>
              </a:spcAft>
              <a:defRPr/>
            </a:pPr>
            <a:r>
              <a:rPr sz="2500" b="1" dirty="0">
                <a:solidFill>
                  <a:srgbClr val="202020"/>
                </a:solidFill>
                <a:latin typeface="맑은 고딕"/>
              </a:rPr>
              <a:t>2.  </a:t>
            </a:r>
            <a:r>
              <a:rPr sz="2500" b="1" dirty="0" err="1">
                <a:solidFill>
                  <a:srgbClr val="202020"/>
                </a:solidFill>
                <a:latin typeface="맑은 고딕"/>
              </a:rPr>
              <a:t>위험군</a:t>
            </a:r>
            <a:r>
              <a:rPr sz="2500" b="1" dirty="0">
                <a:solidFill>
                  <a:srgbClr val="202020"/>
                </a:solidFill>
                <a:latin typeface="맑은 고딕"/>
              </a:rPr>
              <a:t> </a:t>
            </a:r>
            <a:r>
              <a:rPr sz="2500" b="1" dirty="0" err="1">
                <a:solidFill>
                  <a:srgbClr val="202020"/>
                </a:solidFill>
                <a:latin typeface="맑은 고딕"/>
              </a:rPr>
              <a:t>샘플</a:t>
            </a:r>
            <a:r>
              <a:rPr sz="2500" b="1" dirty="0">
                <a:solidFill>
                  <a:srgbClr val="202020"/>
                </a:solidFill>
                <a:latin typeface="맑은 고딕"/>
              </a:rPr>
              <a:t> </a:t>
            </a:r>
            <a:r>
              <a:rPr sz="2500" b="1" dirty="0" err="1">
                <a:solidFill>
                  <a:srgbClr val="202020"/>
                </a:solidFill>
                <a:latin typeface="맑은 고딕"/>
              </a:rPr>
              <a:t>업로드</a:t>
            </a:r>
            <a:r>
              <a:rPr sz="2500" b="1" dirty="0">
                <a:solidFill>
                  <a:srgbClr val="202020"/>
                </a:solidFill>
                <a:latin typeface="맑은 고딕"/>
              </a:rPr>
              <a:t>  →  </a:t>
            </a:r>
            <a:r>
              <a:rPr sz="2500" b="1" dirty="0" err="1">
                <a:solidFill>
                  <a:srgbClr val="202020"/>
                </a:solidFill>
                <a:latin typeface="맑은 고딕"/>
              </a:rPr>
              <a:t>위험</a:t>
            </a:r>
            <a:r>
              <a:rPr sz="2500" b="1" dirty="0">
                <a:solidFill>
                  <a:srgbClr val="202020"/>
                </a:solidFill>
                <a:latin typeface="맑은 고딕"/>
              </a:rPr>
              <a:t> </a:t>
            </a:r>
            <a:r>
              <a:rPr sz="2500" b="1" dirty="0" err="1">
                <a:solidFill>
                  <a:srgbClr val="202020"/>
                </a:solidFill>
                <a:latin typeface="맑은 고딕"/>
              </a:rPr>
              <a:t>점수</a:t>
            </a:r>
            <a:r>
              <a:rPr sz="2500" b="1" dirty="0">
                <a:solidFill>
                  <a:srgbClr val="202020"/>
                </a:solidFill>
                <a:latin typeface="맑은 고딕"/>
              </a:rPr>
              <a:t> 0.644, "</a:t>
            </a:r>
            <a:r>
              <a:rPr sz="2500" b="1" dirty="0" err="1">
                <a:solidFill>
                  <a:srgbClr val="202020"/>
                </a:solidFill>
                <a:latin typeface="맑은 고딕"/>
              </a:rPr>
              <a:t>위험군</a:t>
            </a:r>
            <a:r>
              <a:rPr sz="2500" b="1" dirty="0">
                <a:solidFill>
                  <a:srgbClr val="202020"/>
                </a:solidFill>
                <a:latin typeface="맑은 고딕"/>
              </a:rPr>
              <a:t> </a:t>
            </a:r>
            <a:r>
              <a:rPr sz="2500" b="1" dirty="0" err="1">
                <a:solidFill>
                  <a:srgbClr val="202020"/>
                </a:solidFill>
                <a:latin typeface="맑은 고딕"/>
              </a:rPr>
              <a:t>추정</a:t>
            </a:r>
            <a:r>
              <a:rPr sz="2500" b="1" dirty="0">
                <a:solidFill>
                  <a:srgbClr val="202020"/>
                </a:solidFill>
                <a:latin typeface="맑은 고딕"/>
              </a:rPr>
              <a:t>"</a:t>
            </a:r>
          </a:p>
          <a:p>
            <a:pPr algn="l">
              <a:spcAft>
                <a:spcPts val="600"/>
              </a:spcAft>
              <a:defRPr/>
            </a:pPr>
            <a:r>
              <a:rPr sz="2100" b="1" dirty="0">
                <a:solidFill>
                  <a:srgbClr val="666666"/>
                </a:solidFill>
                <a:latin typeface="맑은 고딕"/>
              </a:rPr>
              <a:t>    </a:t>
            </a:r>
            <a:r>
              <a:rPr lang="en-US" sz="2100" b="1" dirty="0">
                <a:solidFill>
                  <a:srgbClr val="666666"/>
                </a:solidFill>
                <a:latin typeface="맑은 고딕"/>
              </a:rPr>
              <a:t>		</a:t>
            </a:r>
            <a:r>
              <a:rPr sz="2100" b="1" dirty="0">
                <a:solidFill>
                  <a:srgbClr val="666666"/>
                </a:solidFill>
                <a:latin typeface="맑은 고딕"/>
              </a:rPr>
              <a:t> · </a:t>
            </a:r>
            <a:r>
              <a:rPr sz="2100" b="1" dirty="0" err="1">
                <a:solidFill>
                  <a:srgbClr val="666666"/>
                </a:solidFill>
                <a:latin typeface="맑은 고딕"/>
              </a:rPr>
              <a:t>근거</a:t>
            </a:r>
            <a:r>
              <a:rPr sz="2100" b="1" dirty="0">
                <a:solidFill>
                  <a:srgbClr val="666666"/>
                </a:solidFill>
                <a:latin typeface="맑은 고딕"/>
              </a:rPr>
              <a:t>: </a:t>
            </a:r>
            <a:r>
              <a:rPr sz="2100" b="1" dirty="0" err="1">
                <a:solidFill>
                  <a:srgbClr val="666666"/>
                </a:solidFill>
                <a:latin typeface="맑은 고딕"/>
              </a:rPr>
              <a:t>활동</a:t>
            </a:r>
            <a:r>
              <a:rPr sz="2100" b="1" dirty="0">
                <a:solidFill>
                  <a:srgbClr val="666666"/>
                </a:solidFill>
                <a:latin typeface="맑은 고딕"/>
              </a:rPr>
              <a:t>/</a:t>
            </a:r>
            <a:r>
              <a:rPr sz="2100" b="1" dirty="0" err="1">
                <a:solidFill>
                  <a:srgbClr val="666666"/>
                </a:solidFill>
                <a:latin typeface="맑은 고딕"/>
              </a:rPr>
              <a:t>수면</a:t>
            </a:r>
            <a:r>
              <a:rPr sz="2100" b="1" dirty="0">
                <a:solidFill>
                  <a:srgbClr val="666666"/>
                </a:solidFill>
                <a:latin typeface="맑은 고딕"/>
              </a:rPr>
              <a:t> </a:t>
            </a:r>
            <a:r>
              <a:rPr sz="2100" b="1" dirty="0" err="1">
                <a:solidFill>
                  <a:srgbClr val="666666"/>
                </a:solidFill>
                <a:latin typeface="맑은 고딕"/>
              </a:rPr>
              <a:t>변동성이</a:t>
            </a:r>
            <a:r>
              <a:rPr sz="2100" b="1" dirty="0">
                <a:solidFill>
                  <a:srgbClr val="666666"/>
                </a:solidFill>
                <a:latin typeface="맑은 고딕"/>
              </a:rPr>
              <a:t> </a:t>
            </a:r>
            <a:r>
              <a:rPr sz="2100" b="1" dirty="0" err="1">
                <a:solidFill>
                  <a:srgbClr val="666666"/>
                </a:solidFill>
                <a:latin typeface="맑은 고딕"/>
              </a:rPr>
              <a:t>정상군</a:t>
            </a:r>
            <a:r>
              <a:rPr sz="2100" b="1" dirty="0">
                <a:solidFill>
                  <a:srgbClr val="666666"/>
                </a:solidFill>
                <a:latin typeface="맑은 고딕"/>
              </a:rPr>
              <a:t> </a:t>
            </a:r>
            <a:r>
              <a:rPr sz="2100" b="1" dirty="0" err="1">
                <a:solidFill>
                  <a:srgbClr val="666666"/>
                </a:solidFill>
                <a:latin typeface="맑은 고딕"/>
              </a:rPr>
              <a:t>평균</a:t>
            </a:r>
            <a:r>
              <a:rPr sz="2100" b="1" dirty="0">
                <a:solidFill>
                  <a:srgbClr val="666666"/>
                </a:solidFill>
                <a:latin typeface="맑은 고딕"/>
              </a:rPr>
              <a:t> </a:t>
            </a:r>
            <a:r>
              <a:rPr sz="2100" b="1" dirty="0" err="1">
                <a:solidFill>
                  <a:srgbClr val="666666"/>
                </a:solidFill>
                <a:latin typeface="맑은 고딕"/>
              </a:rPr>
              <a:t>대비</a:t>
            </a:r>
            <a:r>
              <a:rPr sz="2100" b="1" dirty="0">
                <a:solidFill>
                  <a:srgbClr val="666666"/>
                </a:solidFill>
                <a:latin typeface="맑은 고딕"/>
              </a:rPr>
              <a:t> </a:t>
            </a:r>
            <a:r>
              <a:rPr sz="2100" b="1" dirty="0" err="1">
                <a:solidFill>
                  <a:srgbClr val="666666"/>
                </a:solidFill>
                <a:latin typeface="맑은 고딕"/>
              </a:rPr>
              <a:t>높음</a:t>
            </a:r>
            <a:endParaRPr sz="2100" b="1" dirty="0">
              <a:solidFill>
                <a:srgbClr val="666666"/>
              </a:solidFill>
              <a:latin typeface="맑은 고딕"/>
            </a:endParaRPr>
          </a:p>
          <a:p>
            <a:pPr algn="l">
              <a:spcAft>
                <a:spcPts val="600"/>
              </a:spcAft>
              <a:defRPr/>
            </a:pPr>
            <a:endParaRPr sz="2000" b="1" dirty="0">
              <a:solidFill>
                <a:srgbClr val="202020"/>
              </a:solidFill>
              <a:latin typeface="맑은 고딕"/>
            </a:endParaRPr>
          </a:p>
          <a:p>
            <a:pPr algn="l">
              <a:spcAft>
                <a:spcPts val="600"/>
              </a:spcAft>
              <a:defRPr/>
            </a:pPr>
            <a:r>
              <a:rPr sz="2500" b="1" dirty="0">
                <a:solidFill>
                  <a:srgbClr val="202020"/>
                </a:solidFill>
                <a:latin typeface="맑은 고딕"/>
              </a:rPr>
              <a:t>3.  "내 </a:t>
            </a:r>
            <a:r>
              <a:rPr sz="2500" b="1" dirty="0" err="1">
                <a:solidFill>
                  <a:srgbClr val="202020"/>
                </a:solidFill>
                <a:latin typeface="맑은 고딕"/>
              </a:rPr>
              <a:t>위치에서</a:t>
            </a:r>
            <a:r>
              <a:rPr sz="2500" b="1" dirty="0">
                <a:solidFill>
                  <a:srgbClr val="202020"/>
                </a:solidFill>
                <a:latin typeface="맑은 고딕"/>
              </a:rPr>
              <a:t> </a:t>
            </a:r>
            <a:r>
              <a:rPr sz="2500" b="1" dirty="0" err="1">
                <a:solidFill>
                  <a:srgbClr val="202020"/>
                </a:solidFill>
                <a:latin typeface="맑은 고딕"/>
              </a:rPr>
              <a:t>가까운</a:t>
            </a:r>
            <a:r>
              <a:rPr sz="2500" b="1" dirty="0">
                <a:solidFill>
                  <a:srgbClr val="202020"/>
                </a:solidFill>
                <a:latin typeface="맑은 고딕"/>
              </a:rPr>
              <a:t> </a:t>
            </a:r>
            <a:r>
              <a:rPr sz="2500" b="1" dirty="0" err="1">
                <a:solidFill>
                  <a:srgbClr val="202020"/>
                </a:solidFill>
                <a:latin typeface="맑은 고딕"/>
              </a:rPr>
              <a:t>센터</a:t>
            </a:r>
            <a:r>
              <a:rPr sz="2500" b="1" dirty="0">
                <a:solidFill>
                  <a:srgbClr val="202020"/>
                </a:solidFill>
                <a:latin typeface="맑은 고딕"/>
              </a:rPr>
              <a:t> </a:t>
            </a:r>
            <a:r>
              <a:rPr sz="2500" b="1" dirty="0" err="1">
                <a:solidFill>
                  <a:srgbClr val="202020"/>
                </a:solidFill>
                <a:latin typeface="맑은 고딕"/>
              </a:rPr>
              <a:t>찾기</a:t>
            </a:r>
            <a:r>
              <a:rPr sz="2500" b="1" dirty="0">
                <a:solidFill>
                  <a:srgbClr val="202020"/>
                </a:solidFill>
                <a:latin typeface="맑은 고딕"/>
              </a:rPr>
              <a:t>"  </a:t>
            </a:r>
          </a:p>
          <a:p>
            <a:pPr algn="l">
              <a:spcAft>
                <a:spcPts val="600"/>
              </a:spcAft>
              <a:defRPr/>
            </a:pPr>
            <a:r>
              <a:rPr lang="en-US" sz="2500" b="1" dirty="0">
                <a:solidFill>
                  <a:srgbClr val="202020"/>
                </a:solidFill>
                <a:latin typeface="맑은 고딕"/>
              </a:rPr>
              <a:t>		</a:t>
            </a:r>
            <a:r>
              <a:rPr sz="2500" b="1" dirty="0">
                <a:solidFill>
                  <a:srgbClr val="202020"/>
                </a:solidFill>
                <a:latin typeface="맑은 고딕"/>
              </a:rPr>
              <a:t>→  </a:t>
            </a:r>
            <a:r>
              <a:rPr sz="2500" b="1" dirty="0" err="1">
                <a:solidFill>
                  <a:srgbClr val="202020"/>
                </a:solidFill>
                <a:latin typeface="맑은 고딕"/>
              </a:rPr>
              <a:t>지도에</a:t>
            </a:r>
            <a:r>
              <a:rPr sz="2500" b="1" dirty="0">
                <a:solidFill>
                  <a:srgbClr val="202020"/>
                </a:solidFill>
                <a:latin typeface="맑은 고딕"/>
              </a:rPr>
              <a:t> </a:t>
            </a:r>
            <a:r>
              <a:rPr sz="2500" b="1" dirty="0" err="1">
                <a:solidFill>
                  <a:srgbClr val="202020"/>
                </a:solidFill>
                <a:latin typeface="맑은 고딕"/>
              </a:rPr>
              <a:t>가까운</a:t>
            </a:r>
            <a:r>
              <a:rPr sz="2500" b="1" dirty="0">
                <a:solidFill>
                  <a:srgbClr val="202020"/>
                </a:solidFill>
                <a:latin typeface="맑은 고딕"/>
              </a:rPr>
              <a:t> </a:t>
            </a:r>
            <a:r>
              <a:rPr sz="2500" b="1" dirty="0" err="1">
                <a:solidFill>
                  <a:srgbClr val="202020"/>
                </a:solidFill>
                <a:latin typeface="맑은 고딕"/>
              </a:rPr>
              <a:t>치매안심센터</a:t>
            </a:r>
            <a:r>
              <a:rPr sz="2500" b="1" dirty="0">
                <a:solidFill>
                  <a:srgbClr val="202020"/>
                </a:solidFill>
                <a:latin typeface="맑은 고딕"/>
              </a:rPr>
              <a:t> 5곳 + </a:t>
            </a:r>
            <a:r>
              <a:rPr sz="2500" b="1" dirty="0" err="1">
                <a:solidFill>
                  <a:srgbClr val="202020"/>
                </a:solidFill>
                <a:latin typeface="맑은 고딕"/>
              </a:rPr>
              <a:t>전화번호</a:t>
            </a:r>
            <a:endParaRPr sz="2500" b="1" dirty="0">
              <a:solidFill>
                <a:srgbClr val="202020"/>
              </a:solidFill>
              <a:latin typeface="맑은 고딕"/>
            </a:endParaRPr>
          </a:p>
          <a:p>
            <a:pPr algn="l">
              <a:spcAft>
                <a:spcPts val="600"/>
              </a:spcAft>
              <a:defRPr/>
            </a:pPr>
            <a:endParaRPr sz="2000" b="1" dirty="0">
              <a:solidFill>
                <a:srgbClr val="202020"/>
              </a:solidFill>
              <a:latin typeface="맑은 고딕"/>
            </a:endParaRPr>
          </a:p>
          <a:p>
            <a:pPr algn="l">
              <a:spcAft>
                <a:spcPts val="600"/>
              </a:spcAft>
              <a:defRPr/>
            </a:pPr>
            <a:r>
              <a:rPr sz="2000" b="1" dirty="0" err="1">
                <a:solidFill>
                  <a:srgbClr val="666666"/>
                </a:solidFill>
                <a:latin typeface="맑은 고딕"/>
              </a:rPr>
              <a:t>다음</a:t>
            </a:r>
            <a:r>
              <a:rPr sz="2000" b="1" dirty="0">
                <a:solidFill>
                  <a:srgbClr val="666666"/>
                </a:solidFill>
                <a:latin typeface="맑은 고딕"/>
              </a:rPr>
              <a:t> 두 </a:t>
            </a:r>
            <a:r>
              <a:rPr sz="2000" b="1" dirty="0" err="1">
                <a:solidFill>
                  <a:srgbClr val="666666"/>
                </a:solidFill>
                <a:latin typeface="맑은 고딕"/>
              </a:rPr>
              <a:t>페이지가</a:t>
            </a:r>
            <a:r>
              <a:rPr sz="2000" b="1" dirty="0">
                <a:solidFill>
                  <a:srgbClr val="666666"/>
                </a:solidFill>
                <a:latin typeface="맑은 고딕"/>
              </a:rPr>
              <a:t> </a:t>
            </a:r>
            <a:r>
              <a:rPr sz="2000" b="1" dirty="0" err="1">
                <a:solidFill>
                  <a:srgbClr val="666666"/>
                </a:solidFill>
                <a:latin typeface="맑은 고딕"/>
              </a:rPr>
              <a:t>실제</a:t>
            </a:r>
            <a:r>
              <a:rPr sz="2000" b="1" dirty="0">
                <a:solidFill>
                  <a:srgbClr val="666666"/>
                </a:solidFill>
                <a:latin typeface="맑은 고딕"/>
              </a:rPr>
              <a:t> </a:t>
            </a:r>
            <a:r>
              <a:rPr sz="2000" b="1" dirty="0" err="1">
                <a:solidFill>
                  <a:srgbClr val="666666"/>
                </a:solidFill>
                <a:latin typeface="맑은 고딕"/>
              </a:rPr>
              <a:t>서비스</a:t>
            </a:r>
            <a:r>
              <a:rPr sz="2000" b="1" dirty="0">
                <a:solidFill>
                  <a:srgbClr val="666666"/>
                </a:solidFill>
                <a:latin typeface="맑은 고딕"/>
              </a:rPr>
              <a:t> </a:t>
            </a:r>
            <a:r>
              <a:rPr sz="2000" b="1" dirty="0" err="1">
                <a:solidFill>
                  <a:srgbClr val="666666"/>
                </a:solidFill>
                <a:latin typeface="맑은 고딕"/>
              </a:rPr>
              <a:t>화면</a:t>
            </a:r>
            <a:r>
              <a:rPr sz="2000" b="1" dirty="0">
                <a:solidFill>
                  <a:srgbClr val="666666"/>
                </a:solidFill>
                <a:latin typeface="맑은 고딕"/>
              </a:rPr>
              <a:t> </a:t>
            </a:r>
            <a:endParaRPr lang="en-US" sz="2000" b="1" dirty="0">
              <a:solidFill>
                <a:srgbClr val="666666"/>
              </a:solidFill>
              <a:latin typeface="맑은 고딕"/>
            </a:endParaRPr>
          </a:p>
          <a:p>
            <a:pPr algn="l">
              <a:spcAft>
                <a:spcPts val="600"/>
              </a:spcAft>
              <a:defRPr/>
            </a:pPr>
            <a:r>
              <a:rPr lang="en-US" sz="2000" b="1" dirty="0">
                <a:solidFill>
                  <a:srgbClr val="666666"/>
                </a:solidFill>
                <a:latin typeface="맑은 고딕"/>
              </a:rPr>
              <a:t>				</a:t>
            </a:r>
            <a:r>
              <a:rPr sz="2000" b="1" dirty="0">
                <a:solidFill>
                  <a:srgbClr val="666666"/>
                </a:solidFill>
                <a:latin typeface="맑은 고딕"/>
              </a:rPr>
              <a:t>— </a:t>
            </a:r>
            <a:r>
              <a:rPr sz="2000" b="1" dirty="0" err="1">
                <a:solidFill>
                  <a:srgbClr val="666666"/>
                </a:solidFill>
                <a:latin typeface="맑은 고딕"/>
              </a:rPr>
              <a:t>발표에서는</a:t>
            </a:r>
            <a:r>
              <a:rPr sz="2000" b="1" dirty="0">
                <a:solidFill>
                  <a:srgbClr val="666666"/>
                </a:solidFill>
                <a:latin typeface="맑은 고딕"/>
              </a:rPr>
              <a:t> </a:t>
            </a:r>
            <a:r>
              <a:rPr sz="2000" b="1" dirty="0" err="1">
                <a:solidFill>
                  <a:srgbClr val="666666"/>
                </a:solidFill>
                <a:latin typeface="맑은 고딕"/>
              </a:rPr>
              <a:t>라이브</a:t>
            </a:r>
            <a:r>
              <a:rPr sz="2000" b="1" dirty="0">
                <a:solidFill>
                  <a:srgbClr val="666666"/>
                </a:solidFill>
                <a:latin typeface="맑은 고딕"/>
              </a:rPr>
              <a:t> </a:t>
            </a:r>
            <a:r>
              <a:rPr sz="2000" b="1" dirty="0" err="1">
                <a:solidFill>
                  <a:srgbClr val="666666"/>
                </a:solidFill>
                <a:latin typeface="맑은 고딕"/>
              </a:rPr>
              <a:t>시연을</a:t>
            </a:r>
            <a:r>
              <a:rPr sz="2000" b="1" dirty="0">
                <a:solidFill>
                  <a:srgbClr val="666666"/>
                </a:solidFill>
                <a:latin typeface="맑은 고딕"/>
              </a:rPr>
              <a:t> </a:t>
            </a:r>
            <a:r>
              <a:rPr sz="2000" b="1" dirty="0" err="1">
                <a:solidFill>
                  <a:srgbClr val="666666"/>
                </a:solidFill>
                <a:latin typeface="맑은 고딕"/>
              </a:rPr>
              <a:t>우선하고</a:t>
            </a:r>
            <a:r>
              <a:rPr sz="2000" b="1" dirty="0">
                <a:solidFill>
                  <a:srgbClr val="666666"/>
                </a:solidFill>
                <a:latin typeface="맑은 고딕"/>
              </a:rPr>
              <a:t>, </a:t>
            </a:r>
            <a:r>
              <a:rPr sz="2000" b="1" dirty="0" err="1">
                <a:solidFill>
                  <a:srgbClr val="666666"/>
                </a:solidFill>
                <a:latin typeface="맑은 고딕"/>
              </a:rPr>
              <a:t>시연이</a:t>
            </a:r>
            <a:r>
              <a:rPr sz="2000" b="1" dirty="0">
                <a:solidFill>
                  <a:srgbClr val="666666"/>
                </a:solidFill>
                <a:latin typeface="맑은 고딕"/>
              </a:rPr>
              <a:t> </a:t>
            </a:r>
            <a:r>
              <a:rPr sz="2000" b="1" dirty="0" err="1">
                <a:solidFill>
                  <a:srgbClr val="666666"/>
                </a:solidFill>
                <a:latin typeface="맑은 고딕"/>
              </a:rPr>
              <a:t>어려우면</a:t>
            </a:r>
            <a:r>
              <a:rPr sz="2000" b="1" dirty="0">
                <a:solidFill>
                  <a:srgbClr val="666666"/>
                </a:solidFill>
                <a:latin typeface="맑은 고딕"/>
              </a:rPr>
              <a:t> </a:t>
            </a:r>
            <a:r>
              <a:rPr sz="2000" b="1" dirty="0" err="1">
                <a:solidFill>
                  <a:srgbClr val="666666"/>
                </a:solidFill>
                <a:latin typeface="맑은 고딕"/>
              </a:rPr>
              <a:t>화면으로</a:t>
            </a:r>
            <a:r>
              <a:rPr sz="2000" b="1" dirty="0">
                <a:solidFill>
                  <a:srgbClr val="666666"/>
                </a:solidFill>
                <a:latin typeface="맑은 고딕"/>
              </a:rPr>
              <a:t> </a:t>
            </a:r>
            <a:r>
              <a:rPr sz="2000" b="1" dirty="0" err="1">
                <a:solidFill>
                  <a:srgbClr val="666666"/>
                </a:solidFill>
                <a:latin typeface="맑은 고딕"/>
              </a:rPr>
              <a:t>대체</a:t>
            </a:r>
            <a:endParaRPr sz="2000" b="1" dirty="0">
              <a:solidFill>
                <a:srgbClr val="666666"/>
              </a:solidFill>
              <a:latin typeface="맑은 고딕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475720" y="6446520"/>
            <a:ext cx="640080" cy="266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  <a:defRPr/>
            </a:pPr>
            <a:r>
              <a:rPr sz="1200" b="0">
                <a:solidFill>
                  <a:srgbClr val="666666"/>
                </a:solidFill>
                <a:latin typeface="맑은 고딕"/>
              </a:rPr>
              <a:t>17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42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2A78D6"/>
                </a:solidFill>
                <a:latin typeface="맑은 고딕"/>
              </a:rPr>
              <a:t>05. 서비스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04281"/>
                </a:solidFill>
                <a:latin typeface="맑은 고딕"/>
              </a:rPr>
              <a:t>시연 화면 ① — 업로드 → 위험 점수 → 판단 근거</a:t>
            </a:r>
          </a:p>
        </p:txBody>
      </p:sp>
      <p:pic>
        <p:nvPicPr>
          <p:cNvPr id="10" name="Picture 10"/>
          <p:cNvPicPr/>
          <p:nvPr/>
        </p:nvPicPr>
        <p:blipFill>
          <a:blip r:embed="rId2"/>
          <a:stretch>
            <a:fillRect/>
          </a:stretch>
        </p:blipFill>
        <p:spPr>
          <a:xfrm>
            <a:off x="710314" y="1645920"/>
            <a:ext cx="5550942" cy="4114800"/>
          </a:xfrm>
          <a:prstGeom prst="rect">
            <a:avLst/>
          </a:prstGeom>
        </p:spPr>
      </p:pic>
      <p:pic>
        <p:nvPicPr>
          <p:cNvPr id="11" name="Picture 11"/>
          <p:cNvPicPr/>
          <p:nvPr/>
        </p:nvPicPr>
        <p:blipFill>
          <a:blip r:embed="rId3"/>
          <a:stretch>
            <a:fillRect/>
          </a:stretch>
        </p:blipFill>
        <p:spPr>
          <a:xfrm>
            <a:off x="6581296" y="1645920"/>
            <a:ext cx="4900389" cy="41148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1475720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666666"/>
                </a:solidFill>
                <a:latin typeface="맑은 고딕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42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2A78D6"/>
                </a:solidFill>
                <a:latin typeface="맑은 고딕"/>
              </a:rPr>
              <a:t>05. 서비스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04281"/>
                </a:solidFill>
                <a:latin typeface="맑은 고딕"/>
              </a:rPr>
              <a:t>시연 화면 ② — 내 기록 추이 → 치매안심센터 안내</a:t>
            </a:r>
          </a:p>
        </p:txBody>
      </p:sp>
      <p:pic>
        <p:nvPicPr>
          <p:cNvPr id="10" name="Picture 10"/>
          <p:cNvPicPr/>
          <p:nvPr/>
        </p:nvPicPr>
        <p:blipFill>
          <a:blip r:embed="rId2"/>
          <a:stretch>
            <a:fillRect/>
          </a:stretch>
        </p:blipFill>
        <p:spPr>
          <a:xfrm>
            <a:off x="1221553" y="1645920"/>
            <a:ext cx="4744601" cy="4389120"/>
          </a:xfrm>
          <a:prstGeom prst="rect">
            <a:avLst/>
          </a:prstGeom>
        </p:spPr>
      </p:pic>
      <p:pic>
        <p:nvPicPr>
          <p:cNvPr id="11" name="Picture 11"/>
          <p:cNvPicPr/>
          <p:nvPr/>
        </p:nvPicPr>
        <p:blipFill>
          <a:blip r:embed="rId3"/>
          <a:stretch>
            <a:fillRect/>
          </a:stretch>
        </p:blipFill>
        <p:spPr>
          <a:xfrm>
            <a:off x="6331914" y="1645920"/>
            <a:ext cx="4638532" cy="43891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1475720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666666"/>
                </a:solidFill>
                <a:latin typeface="맑은 고딕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02920" y="292608"/>
            <a:ext cx="10515600" cy="3341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/>
            </a:pPr>
            <a:r>
              <a:rPr sz="1600" b="1">
                <a:solidFill>
                  <a:srgbClr val="2A78D6"/>
                </a:solidFill>
                <a:latin typeface="맑은 고딕"/>
              </a:rPr>
              <a:t>05. 서비스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1155680" cy="5478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/>
            </a:pPr>
            <a:r>
              <a:rPr sz="3000" b="1" dirty="0" err="1">
                <a:solidFill>
                  <a:srgbClr val="104281"/>
                </a:solidFill>
                <a:latin typeface="맑은 고딕"/>
              </a:rPr>
              <a:t>업로드는</a:t>
            </a:r>
            <a:r>
              <a:rPr sz="3000" b="1" dirty="0">
                <a:solidFill>
                  <a:srgbClr val="104281"/>
                </a:solidFill>
                <a:latin typeface="맑은 고딕"/>
              </a:rPr>
              <a:t> </a:t>
            </a:r>
            <a:r>
              <a:rPr sz="3000" b="1" dirty="0" err="1">
                <a:solidFill>
                  <a:srgbClr val="104281"/>
                </a:solidFill>
                <a:latin typeface="맑은 고딕"/>
              </a:rPr>
              <a:t>사라지지</a:t>
            </a:r>
            <a:r>
              <a:rPr sz="3000" b="1" dirty="0">
                <a:solidFill>
                  <a:srgbClr val="104281"/>
                </a:solidFill>
                <a:latin typeface="맑은 고딕"/>
              </a:rPr>
              <a:t> </a:t>
            </a:r>
            <a:r>
              <a:rPr sz="3000" b="1" dirty="0" err="1">
                <a:solidFill>
                  <a:srgbClr val="104281"/>
                </a:solidFill>
                <a:latin typeface="맑은 고딕"/>
              </a:rPr>
              <a:t>않는다</a:t>
            </a:r>
            <a:r>
              <a:rPr sz="3000" b="1" dirty="0">
                <a:solidFill>
                  <a:srgbClr val="104281"/>
                </a:solidFill>
                <a:latin typeface="맑은 고딕"/>
              </a:rPr>
              <a:t> — </a:t>
            </a:r>
            <a:r>
              <a:rPr sz="3000" b="1" dirty="0" err="1">
                <a:solidFill>
                  <a:srgbClr val="104281"/>
                </a:solidFill>
                <a:latin typeface="맑은 고딕"/>
              </a:rPr>
              <a:t>적재·재학습</a:t>
            </a:r>
            <a:r>
              <a:rPr sz="3000" b="1" dirty="0">
                <a:solidFill>
                  <a:srgbClr val="104281"/>
                </a:solidFill>
                <a:latin typeface="맑은 고딕"/>
              </a:rPr>
              <a:t> </a:t>
            </a:r>
            <a:r>
              <a:rPr sz="3000" b="1" dirty="0" err="1">
                <a:solidFill>
                  <a:srgbClr val="104281"/>
                </a:solidFill>
                <a:latin typeface="맑은 고딕"/>
              </a:rPr>
              <a:t>파이프라인</a:t>
            </a:r>
            <a:r>
              <a:rPr sz="3000" b="1" dirty="0">
                <a:solidFill>
                  <a:srgbClr val="104281"/>
                </a:solidFill>
                <a:latin typeface="맑은 고딕"/>
              </a:rPr>
              <a:t> 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75720" y="6446520"/>
            <a:ext cx="640080" cy="266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  <a:defRPr/>
            </a:pPr>
            <a:r>
              <a:rPr sz="1200" b="0">
                <a:solidFill>
                  <a:srgbClr val="666666"/>
                </a:solidFill>
                <a:latin typeface="맑은 고딕"/>
              </a:rPr>
              <a:t>20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4892040"/>
            <a:ext cx="106070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1">
                <a:solidFill>
                  <a:srgbClr val="202020"/>
                </a:solidFill>
                <a:latin typeface="맑은 고딕"/>
              </a:rPr>
              <a:t>원칙: 확진 라벨 없는 데이터는 학습에 쓰지 않는다 — 모델이 자기 예측을 정답처럼 배우는 오염 방지</a:t>
            </a:r>
          </a:p>
          <a:p>
            <a:pPr>
              <a:spcAft>
                <a:spcPts val="800"/>
              </a:spcAft>
            </a:pPr>
            <a:r>
              <a:rPr sz="2000" b="1">
                <a:solidFill>
                  <a:srgbClr val="2A78D6"/>
                </a:solidFill>
                <a:latin typeface="맑은 고딕"/>
              </a:rPr>
              <a:t>"지금 174명이라는 한계는, 서비스가 돌수록 스스로 풀리는 구조입니다"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11480" y="2148840"/>
            <a:ext cx="1975104" cy="1371600"/>
          </a:xfrm>
          <a:prstGeom prst="roundRect">
            <a:avLst/>
          </a:prstGeom>
          <a:solidFill>
            <a:srgbClr val="EEF3FB"/>
          </a:solidFill>
          <a:ln w="25400">
            <a:solidFill>
              <a:srgbClr val="2A78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550" b="1">
                <a:solidFill>
                  <a:srgbClr val="104281"/>
                </a:solidFill>
                <a:latin typeface="맑은 고딕"/>
              </a:rPr>
              <a:t>① 기록 업로드</a:t>
            </a:r>
          </a:p>
          <a:p>
            <a:pPr algn="ctr"/>
            <a:r>
              <a:rPr sz="1200" b="1">
                <a:solidFill>
                  <a:srgbClr val="202020"/>
                </a:solidFill>
                <a:latin typeface="맑은 고딕"/>
              </a:rPr>
              <a:t>사용자가 CSV 업로드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2395728" y="2606040"/>
            <a:ext cx="384048" cy="457200"/>
          </a:xfrm>
          <a:prstGeom prst="rightArrow">
            <a:avLst/>
          </a:prstGeom>
          <a:solidFill>
            <a:srgbClr val="B9C3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2788920" y="2148840"/>
            <a:ext cx="1975104" cy="1371600"/>
          </a:xfrm>
          <a:prstGeom prst="roundRect">
            <a:avLst/>
          </a:prstGeom>
          <a:solidFill>
            <a:srgbClr val="EEF3FB"/>
          </a:solidFill>
          <a:ln w="25400">
            <a:solidFill>
              <a:srgbClr val="2A78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550" b="1">
                <a:solidFill>
                  <a:srgbClr val="104281"/>
                </a:solidFill>
                <a:latin typeface="맑은 고딕"/>
              </a:rPr>
              <a:t>② 예측+자동 적재</a:t>
            </a:r>
          </a:p>
          <a:p>
            <a:pPr algn="ctr"/>
            <a:r>
              <a:rPr sz="1200" b="1">
                <a:solidFill>
                  <a:srgbClr val="202020"/>
                </a:solidFill>
                <a:latin typeface="맑은 고딕"/>
              </a:rPr>
              <a:t>예측과 동시에
DB 익명 저장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4773168" y="2606040"/>
            <a:ext cx="384048" cy="457200"/>
          </a:xfrm>
          <a:prstGeom prst="rightArrow">
            <a:avLst/>
          </a:prstGeom>
          <a:solidFill>
            <a:srgbClr val="B9C3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5166360" y="2148840"/>
            <a:ext cx="1975104" cy="1371600"/>
          </a:xfrm>
          <a:prstGeom prst="roundRect">
            <a:avLst/>
          </a:prstGeom>
          <a:solidFill>
            <a:srgbClr val="EEF3FB"/>
          </a:solidFill>
          <a:ln w="25400">
            <a:solidFill>
              <a:srgbClr val="2A78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550" b="1">
                <a:solidFill>
                  <a:srgbClr val="104281"/>
                </a:solidFill>
                <a:latin typeface="맑은 고딕"/>
              </a:rPr>
              <a:t>③ 확진 라벨 연결</a:t>
            </a:r>
          </a:p>
          <a:p>
            <a:pPr algn="ctr"/>
            <a:r>
              <a:rPr sz="1200" b="1">
                <a:solidFill>
                  <a:srgbClr val="202020"/>
                </a:solidFill>
                <a:latin typeface="맑은 고딕"/>
              </a:rPr>
              <a:t>기관이 검진 결과 입력</a:t>
            </a:r>
          </a:p>
        </p:txBody>
      </p:sp>
      <p:sp>
        <p:nvSpPr>
          <p:cNvPr id="31" name="Right Arrow 30"/>
          <p:cNvSpPr/>
          <p:nvPr/>
        </p:nvSpPr>
        <p:spPr>
          <a:xfrm>
            <a:off x="7150608" y="2606040"/>
            <a:ext cx="384048" cy="457200"/>
          </a:xfrm>
          <a:prstGeom prst="rightArrow">
            <a:avLst/>
          </a:prstGeom>
          <a:solidFill>
            <a:srgbClr val="B9C3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7543800" y="2148840"/>
            <a:ext cx="1975104" cy="1371600"/>
          </a:xfrm>
          <a:prstGeom prst="roundRect">
            <a:avLst/>
          </a:prstGeom>
          <a:solidFill>
            <a:srgbClr val="EEF3FB"/>
          </a:solidFill>
          <a:ln w="25400">
            <a:solidFill>
              <a:srgbClr val="2A78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550" b="1">
                <a:solidFill>
                  <a:srgbClr val="104281"/>
                </a:solidFill>
                <a:latin typeface="맑은 고딕"/>
              </a:rPr>
              <a:t>④ 재학습</a:t>
            </a:r>
          </a:p>
          <a:p>
            <a:pPr algn="ctr"/>
            <a:r>
              <a:rPr sz="1200" b="1">
                <a:solidFill>
                  <a:srgbClr val="202020"/>
                </a:solidFill>
                <a:latin typeface="맑은 고딕"/>
              </a:rPr>
              <a:t>라벨 데이터만
기존 174명과 결합</a:t>
            </a:r>
          </a:p>
        </p:txBody>
      </p:sp>
      <p:sp>
        <p:nvSpPr>
          <p:cNvPr id="33" name="Right Arrow 32"/>
          <p:cNvSpPr/>
          <p:nvPr/>
        </p:nvSpPr>
        <p:spPr>
          <a:xfrm>
            <a:off x="9528048" y="2606040"/>
            <a:ext cx="384048" cy="457200"/>
          </a:xfrm>
          <a:prstGeom prst="rightArrow">
            <a:avLst/>
          </a:prstGeom>
          <a:solidFill>
            <a:srgbClr val="B9C3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9921240" y="2148840"/>
            <a:ext cx="1975104" cy="1371600"/>
          </a:xfrm>
          <a:prstGeom prst="roundRect">
            <a:avLst/>
          </a:prstGeom>
          <a:solidFill>
            <a:srgbClr val="E7F3EA"/>
          </a:solidFill>
          <a:ln w="25400">
            <a:solidFill>
              <a:srgbClr val="2E7D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550" b="1">
                <a:solidFill>
                  <a:srgbClr val="2E7D43"/>
                </a:solidFill>
                <a:latin typeface="맑은 고딕"/>
              </a:rPr>
              <a:t>⑤ 모델 교체</a:t>
            </a:r>
          </a:p>
          <a:p>
            <a:pPr algn="ctr"/>
            <a:r>
              <a:rPr sz="1200" b="1">
                <a:solidFill>
                  <a:srgbClr val="202020"/>
                </a:solidFill>
                <a:latin typeface="맑은 고딕"/>
              </a:rPr>
              <a:t>백업 후 교체
→ 서비스 반영</a:t>
            </a:r>
          </a:p>
        </p:txBody>
      </p:sp>
      <p:sp>
        <p:nvSpPr>
          <p:cNvPr id="35" name="Left Arrow 34"/>
          <p:cNvSpPr/>
          <p:nvPr/>
        </p:nvSpPr>
        <p:spPr>
          <a:xfrm>
            <a:off x="2788920" y="3931920"/>
            <a:ext cx="7680960" cy="457200"/>
          </a:xfrm>
          <a:prstGeom prst="leftArrow">
            <a:avLst/>
          </a:prstGeom>
          <a:solidFill>
            <a:srgbClr val="DCE8F8"/>
          </a:solidFill>
          <a:ln w="19050">
            <a:solidFill>
              <a:srgbClr val="2A78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04281"/>
                </a:solidFill>
                <a:latin typeface="맑은 고딕"/>
              </a:rPr>
              <a:t>서비스가 돌수록 반복 — 데이터가 쌓이고 모델이 좋아진다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42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515600" cy="3341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/>
            </a:pPr>
            <a:r>
              <a:rPr sz="1600" b="1">
                <a:solidFill>
                  <a:srgbClr val="2A78D6"/>
                </a:solidFill>
                <a:latin typeface="맑은 고딕"/>
              </a:rPr>
              <a:t>06. 결론 및 확장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1155680" cy="5478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/>
            </a:pPr>
            <a:r>
              <a:rPr sz="3000" b="1" dirty="0">
                <a:solidFill>
                  <a:srgbClr val="104281"/>
                </a:solidFill>
                <a:latin typeface="맑은 고딕"/>
              </a:rPr>
              <a:t>5일 </a:t>
            </a:r>
            <a:r>
              <a:rPr sz="3000" b="1" dirty="0" err="1">
                <a:solidFill>
                  <a:srgbClr val="104281"/>
                </a:solidFill>
                <a:latin typeface="맑은 고딕"/>
              </a:rPr>
              <a:t>동안</a:t>
            </a:r>
            <a:r>
              <a:rPr sz="3000" b="1" dirty="0">
                <a:solidFill>
                  <a:srgbClr val="104281"/>
                </a:solidFill>
                <a:latin typeface="맑은 고딕"/>
              </a:rPr>
              <a:t> </a:t>
            </a:r>
            <a:r>
              <a:rPr sz="3000" b="1" dirty="0" err="1">
                <a:solidFill>
                  <a:srgbClr val="104281"/>
                </a:solidFill>
                <a:latin typeface="맑은 고딕"/>
              </a:rPr>
              <a:t>만든</a:t>
            </a:r>
            <a:r>
              <a:rPr sz="3000" b="1" dirty="0">
                <a:solidFill>
                  <a:srgbClr val="104281"/>
                </a:solidFill>
                <a:latin typeface="맑은 고딕"/>
              </a:rPr>
              <a:t> </a:t>
            </a:r>
            <a:r>
              <a:rPr sz="3000" b="1" dirty="0" err="1">
                <a:solidFill>
                  <a:srgbClr val="104281"/>
                </a:solidFill>
                <a:latin typeface="맑은 고딕"/>
              </a:rPr>
              <a:t>것은</a:t>
            </a:r>
            <a:r>
              <a:rPr sz="3000" b="1" dirty="0">
                <a:solidFill>
                  <a:srgbClr val="104281"/>
                </a:solidFill>
                <a:latin typeface="맑은 고딕"/>
              </a:rPr>
              <a:t> </a:t>
            </a:r>
            <a:r>
              <a:rPr sz="3000" b="1" dirty="0" err="1">
                <a:solidFill>
                  <a:srgbClr val="104281"/>
                </a:solidFill>
                <a:latin typeface="맑은 고딕"/>
              </a:rPr>
              <a:t>숫자가</a:t>
            </a:r>
            <a:r>
              <a:rPr sz="3000" b="1" dirty="0">
                <a:solidFill>
                  <a:srgbClr val="104281"/>
                </a:solidFill>
                <a:latin typeface="맑은 고딕"/>
              </a:rPr>
              <a:t> </a:t>
            </a:r>
            <a:r>
              <a:rPr sz="3000" b="1" dirty="0" err="1">
                <a:solidFill>
                  <a:srgbClr val="104281"/>
                </a:solidFill>
                <a:latin typeface="맑은 고딕"/>
              </a:rPr>
              <a:t>아니라</a:t>
            </a:r>
            <a:r>
              <a:rPr sz="3000" b="1" dirty="0">
                <a:solidFill>
                  <a:srgbClr val="104281"/>
                </a:solidFill>
                <a:latin typeface="맑은 고딕"/>
              </a:rPr>
              <a:t>, </a:t>
            </a:r>
            <a:r>
              <a:rPr sz="3000" b="1" dirty="0" err="1">
                <a:solidFill>
                  <a:srgbClr val="104281"/>
                </a:solidFill>
                <a:latin typeface="맑은 고딕"/>
              </a:rPr>
              <a:t>믿을</a:t>
            </a:r>
            <a:r>
              <a:rPr sz="3000" b="1" dirty="0">
                <a:solidFill>
                  <a:srgbClr val="104281"/>
                </a:solidFill>
                <a:latin typeface="맑은 고딕"/>
              </a:rPr>
              <a:t> 수 </a:t>
            </a:r>
            <a:r>
              <a:rPr sz="3000" b="1" dirty="0" err="1">
                <a:solidFill>
                  <a:srgbClr val="104281"/>
                </a:solidFill>
                <a:latin typeface="맑은 고딕"/>
              </a:rPr>
              <a:t>있는</a:t>
            </a:r>
            <a:r>
              <a:rPr sz="3000" b="1" dirty="0">
                <a:solidFill>
                  <a:srgbClr val="104281"/>
                </a:solidFill>
                <a:latin typeface="맑은 고딕"/>
              </a:rPr>
              <a:t> </a:t>
            </a:r>
            <a:r>
              <a:rPr sz="3000" b="1" dirty="0" err="1">
                <a:solidFill>
                  <a:srgbClr val="104281"/>
                </a:solidFill>
                <a:latin typeface="맑은 고딕"/>
              </a:rPr>
              <a:t>절차입니다</a:t>
            </a:r>
            <a:endParaRPr sz="3000" b="1" dirty="0">
              <a:solidFill>
                <a:srgbClr val="104281"/>
              </a:solidFill>
              <a:latin typeface="맑은 고딕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14400" y="1691640"/>
            <a:ext cx="10607040" cy="4545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/>
            </a:pPr>
            <a:r>
              <a:rPr sz="2200" b="1">
                <a:solidFill>
                  <a:srgbClr val="2A78D6"/>
                </a:solidFill>
                <a:latin typeface="맑은 고딕"/>
              </a:rPr>
              <a:t>확인한 것</a:t>
            </a:r>
          </a:p>
          <a:p>
            <a:pPr algn="l">
              <a:spcAft>
                <a:spcPts val="600"/>
              </a:spcAft>
              <a:defRPr/>
            </a:pPr>
            <a:r>
              <a:rPr sz="2000" b="1">
                <a:solidFill>
                  <a:srgbClr val="202020"/>
                </a:solidFill>
                <a:latin typeface="맑은 고딕"/>
              </a:rPr>
              <a:t>· 활동량 평균이 아니라 "생활 패턴의 불규칙함"이 위험군을 가른다</a:t>
            </a:r>
          </a:p>
          <a:p>
            <a:pPr algn="l">
              <a:spcAft>
                <a:spcPts val="600"/>
              </a:spcAft>
              <a:defRPr/>
            </a:pPr>
            <a:r>
              <a:rPr sz="2000" b="1">
                <a:solidFill>
                  <a:srgbClr val="202020"/>
                </a:solidFill>
                <a:latin typeface="맑은 고딕"/>
              </a:rPr>
              <a:t>· 그 구분 능력은 우연이 아니다 (우연일 확률 0.6%)</a:t>
            </a:r>
          </a:p>
          <a:p>
            <a:pPr algn="l">
              <a:spcAft>
                <a:spcPts val="600"/>
              </a:spcAft>
              <a:defRPr/>
            </a:pPr>
            <a:endParaRPr b="1">
              <a:solidFill>
                <a:srgbClr val="202020"/>
              </a:solidFill>
              <a:latin typeface="맑은 고딕"/>
            </a:endParaRPr>
          </a:p>
          <a:p>
            <a:pPr algn="l">
              <a:spcAft>
                <a:spcPts val="600"/>
              </a:spcAft>
              <a:defRPr/>
            </a:pPr>
            <a:r>
              <a:rPr sz="2200" b="1">
                <a:solidFill>
                  <a:srgbClr val="2A78D6"/>
                </a:solidFill>
                <a:latin typeface="맑은 고딕"/>
              </a:rPr>
              <a:t>한계 — 숨기지 않고 명시</a:t>
            </a:r>
          </a:p>
          <a:p>
            <a:pPr algn="l">
              <a:spcAft>
                <a:spcPts val="600"/>
              </a:spcAft>
              <a:defRPr/>
            </a:pPr>
            <a:r>
              <a:rPr sz="2000" b="1">
                <a:solidFill>
                  <a:srgbClr val="202020"/>
                </a:solidFill>
                <a:latin typeface="맑은 고딕"/>
              </a:rPr>
              <a:t>· 표본 174명(치매 12명), 한 지역(광주)·한 시기 데이터 — 일반화에는 더 큰 데이터 필요</a:t>
            </a:r>
          </a:p>
          <a:p>
            <a:pPr algn="l">
              <a:spcAft>
                <a:spcPts val="600"/>
              </a:spcAft>
              <a:defRPr/>
            </a:pPr>
            <a:r>
              <a:rPr sz="2000" b="1">
                <a:solidFill>
                  <a:srgbClr val="202020"/>
                </a:solidFill>
                <a:latin typeface="맑은 고딕"/>
              </a:rPr>
              <a:t>· 경도인지장애 단독 조기 신호는 미확인 · 재현율 수치는 통계적으로 미확정</a:t>
            </a:r>
          </a:p>
          <a:p>
            <a:pPr algn="l">
              <a:spcAft>
                <a:spcPts val="600"/>
              </a:spcAft>
              <a:defRPr/>
            </a:pPr>
            <a:endParaRPr b="1">
              <a:solidFill>
                <a:srgbClr val="202020"/>
              </a:solidFill>
              <a:latin typeface="맑은 고딕"/>
            </a:endParaRPr>
          </a:p>
          <a:p>
            <a:pPr algn="l">
              <a:spcAft>
                <a:spcPts val="600"/>
              </a:spcAft>
              <a:defRPr/>
            </a:pPr>
            <a:r>
              <a:rPr sz="2200" b="1">
                <a:solidFill>
                  <a:srgbClr val="2A78D6"/>
                </a:solidFill>
                <a:latin typeface="맑은 고딕"/>
              </a:rPr>
              <a:t>그래서 진짜 산출물은</a:t>
            </a:r>
          </a:p>
          <a:p>
            <a:pPr algn="l">
              <a:spcAft>
                <a:spcPts val="600"/>
              </a:spcAft>
              <a:defRPr/>
            </a:pPr>
            <a:r>
              <a:rPr sz="2000" b="1">
                <a:solidFill>
                  <a:srgbClr val="104281"/>
                </a:solidFill>
                <a:latin typeface="맑은 고딕"/>
              </a:rPr>
              <a:t>· "시험 문제를 미리 본 셈"인 데이터 누수 실수를 스스로 찾아 고치고, 우연 여부까지 검증한 분석 절차</a:t>
            </a:r>
          </a:p>
          <a:p>
            <a:pPr algn="l">
              <a:spcAft>
                <a:spcPts val="600"/>
              </a:spcAft>
              <a:defRPr/>
            </a:pPr>
            <a:r>
              <a:rPr sz="2000" b="1">
                <a:solidFill>
                  <a:srgbClr val="104281"/>
                </a:solidFill>
                <a:latin typeface="맑은 고딕"/>
              </a:rPr>
              <a:t>· 병원·기관의 정식 데이터가 들어오면 코드 수정 없이 그대로 재학습·재검증 가능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446520"/>
            <a:ext cx="640080" cy="266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  <a:defRPr/>
            </a:pPr>
            <a:r>
              <a:rPr sz="1200" b="0">
                <a:solidFill>
                  <a:srgbClr val="666666"/>
                </a:solidFill>
                <a:latin typeface="맑은 고딕"/>
              </a:rPr>
              <a:t>21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2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42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515600" cy="3341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/>
            </a:pPr>
            <a:r>
              <a:rPr sz="1600" b="1">
                <a:solidFill>
                  <a:srgbClr val="2a78d6"/>
                </a:solidFill>
                <a:latin typeface="맑은 고딕"/>
              </a:rPr>
              <a:t>06. 결론 및 확장</a:t>
            </a:r>
            <a:endParaRPr sz="1600" b="1">
              <a:solidFill>
                <a:srgbClr val="2a78d6"/>
              </a:solidFill>
              <a:latin typeface="맑은 고딕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1155680" cy="5478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/>
            </a:pPr>
            <a:r>
              <a:rPr sz="3000" b="1">
                <a:solidFill>
                  <a:srgbClr val="104281"/>
                </a:solidFill>
                <a:latin typeface="맑은 고딕"/>
              </a:rPr>
              <a:t>스크리닝에서 끝나지 않는다 — 2단계 로드맵</a:t>
            </a:r>
            <a:endParaRPr sz="3000" b="1">
              <a:solidFill>
                <a:srgbClr val="104281"/>
              </a:solidFill>
              <a:latin typeface="맑은 고딕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14400" y="2058228"/>
            <a:ext cx="10903352" cy="38548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/>
            </a:pPr>
            <a:r>
              <a:rPr sz="2300" b="1">
                <a:solidFill>
                  <a:srgbClr val="104281"/>
                </a:solidFill>
                <a:latin typeface="맑은 고딕"/>
              </a:rPr>
              <a:t>1단계 (이번 구현)  —  스크리닝</a:t>
            </a:r>
            <a:endParaRPr sz="2300" b="1">
              <a:solidFill>
                <a:srgbClr val="104281"/>
              </a:solidFill>
              <a:latin typeface="맑은 고딕"/>
            </a:endParaRPr>
          </a:p>
          <a:p>
            <a:pPr algn="l">
              <a:spcAft>
                <a:spcPts val="600"/>
              </a:spcAft>
              <a:defRPr/>
            </a:pPr>
            <a:r>
              <a:rPr sz="2000" b="1">
                <a:solidFill>
                  <a:srgbClr val="202020"/>
                </a:solidFill>
                <a:latin typeface="맑은 고딕"/>
              </a:rPr>
              <a:t>생활 기록 업로드 → 위험 신호 확인 → 치매안심센터 연결</a:t>
            </a:r>
            <a:endParaRPr sz="2000" b="1">
              <a:solidFill>
                <a:srgbClr val="202020"/>
              </a:solidFill>
              <a:latin typeface="맑은 고딕"/>
            </a:endParaRPr>
          </a:p>
          <a:p>
            <a:pPr algn="l">
              <a:spcAft>
                <a:spcPts val="600"/>
              </a:spcAft>
              <a:defRPr/>
            </a:pPr>
            <a:endParaRPr b="1">
              <a:solidFill>
                <a:srgbClr val="202020"/>
              </a:solidFill>
              <a:latin typeface="맑은 고딕"/>
            </a:endParaRPr>
          </a:p>
          <a:p>
            <a:pPr algn="l">
              <a:spcAft>
                <a:spcPts val="600"/>
              </a:spcAft>
              <a:defRPr/>
            </a:pPr>
            <a:r>
              <a:rPr sz="2300" b="1">
                <a:solidFill>
                  <a:srgbClr val="104281"/>
                </a:solidFill>
                <a:latin typeface="맑은 고딕"/>
              </a:rPr>
              <a:t>2단계 (사업 확장 방향)  —  웨어러블 연계 모니터링</a:t>
            </a:r>
            <a:endParaRPr sz="2300" b="1">
              <a:solidFill>
                <a:srgbClr val="104281"/>
              </a:solidFill>
              <a:latin typeface="맑은 고딕"/>
            </a:endParaRPr>
          </a:p>
          <a:p>
            <a:pPr algn="l">
              <a:spcAft>
                <a:spcPts val="600"/>
              </a:spcAft>
              <a:defRPr/>
            </a:pPr>
            <a:r>
              <a:rPr sz="2000" b="1">
                <a:solidFill>
                  <a:srgbClr val="202020"/>
                </a:solidFill>
                <a:latin typeface="맑은 고딕"/>
              </a:rPr>
              <a:t>· 위험군 판정자가 웨어러블을 계속 착용, 악화 시점을 놓치지 않고 재안내</a:t>
            </a:r>
            <a:endParaRPr sz="2000" b="1">
              <a:solidFill>
                <a:srgbClr val="202020"/>
              </a:solidFill>
              <a:latin typeface="맑은 고딕"/>
            </a:endParaRPr>
          </a:p>
          <a:p>
            <a:pPr algn="l">
              <a:spcAft>
                <a:spcPts val="600"/>
              </a:spcAft>
              <a:defRPr/>
            </a:pPr>
            <a:r>
              <a:rPr sz="2000" b="1">
                <a:solidFill>
                  <a:srgbClr val="202020"/>
                </a:solidFill>
                <a:latin typeface="맑은 고딕"/>
              </a:rPr>
              <a:t>· 데이터 적재·재학습 루프는 이번에 구현 완료 </a:t>
            </a:r>
            <a:endParaRPr sz="2000" b="1">
              <a:solidFill>
                <a:srgbClr val="202020"/>
              </a:solidFill>
              <a:latin typeface="맑은 고딕"/>
            </a:endParaRPr>
          </a:p>
          <a:p>
            <a:pPr algn="l">
              <a:spcAft>
                <a:spcPts val="600"/>
              </a:spcAft>
              <a:defRPr/>
            </a:pPr>
            <a:r>
              <a:rPr lang="en-US" sz="2000" b="1">
                <a:solidFill>
                  <a:srgbClr val="202020"/>
                </a:solidFill>
                <a:latin typeface="맑은 고딕"/>
              </a:rPr>
              <a:t>			</a:t>
            </a:r>
            <a:r>
              <a:rPr sz="2000" b="1">
                <a:solidFill>
                  <a:srgbClr val="202020"/>
                </a:solidFill>
                <a:latin typeface="맑은 고딕"/>
              </a:rPr>
              <a:t>— 검진 결과가 연결될수록 모델이 계속 좋아지는 구조</a:t>
            </a:r>
            <a:endParaRPr sz="2000" b="1">
              <a:solidFill>
                <a:srgbClr val="202020"/>
              </a:solidFill>
              <a:latin typeface="맑은 고딕"/>
            </a:endParaRPr>
          </a:p>
          <a:p>
            <a:pPr algn="l">
              <a:spcAft>
                <a:spcPts val="600"/>
              </a:spcAft>
              <a:defRPr/>
            </a:pPr>
            <a:r>
              <a:rPr sz="2000" b="1">
                <a:solidFill>
                  <a:srgbClr val="202020"/>
                </a:solidFill>
                <a:latin typeface="맑은 고딕"/>
              </a:rPr>
              <a:t>· 요양기관·치매안심센터 제휴, 개인/기관용 구독형 대시보드</a:t>
            </a:r>
            <a:endParaRPr sz="2000" b="1">
              <a:solidFill>
                <a:srgbClr val="202020"/>
              </a:solidFill>
              <a:latin typeface="맑은 고딕"/>
            </a:endParaRPr>
          </a:p>
          <a:p>
            <a:pPr algn="l">
              <a:spcAft>
                <a:spcPts val="600"/>
              </a:spcAft>
              <a:defRPr/>
            </a:pPr>
            <a:endParaRPr b="1">
              <a:solidFill>
                <a:srgbClr val="202020"/>
              </a:solidFill>
              <a:latin typeface="맑은 고딕"/>
            </a:endParaRPr>
          </a:p>
          <a:p>
            <a:pPr algn="l">
              <a:spcAft>
                <a:spcPts val="600"/>
              </a:spcAft>
              <a:defRPr/>
            </a:pPr>
            <a:r>
              <a:rPr sz="2000" b="1">
                <a:solidFill>
                  <a:srgbClr val="ff0000"/>
                </a:solidFill>
                <a:latin typeface="맑은 고딕"/>
              </a:rPr>
              <a:t>필요한 것: 더 큰 정식 데이터 · 나이/성별/학력 정보 · 실제 발병 여부를 따라가는 추적 검증</a:t>
            </a:r>
            <a:endParaRPr sz="2000" b="1">
              <a:solidFill>
                <a:srgbClr val="ff0000"/>
              </a:solidFill>
              <a:latin typeface="맑은 고딕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475720" y="6446520"/>
            <a:ext cx="640080" cy="266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  <a:defRPr/>
            </a:pPr>
            <a:r>
              <a:rPr sz="1200" b="0">
                <a:solidFill>
                  <a:srgbClr val="666666"/>
                </a:solidFill>
                <a:latin typeface="맑은 고딕"/>
              </a:rPr>
              <a:t>22</a:t>
            </a:r>
            <a:endParaRPr sz="1200" b="0">
              <a:solidFill>
                <a:srgbClr val="666666"/>
              </a:solidFill>
              <a:latin typeface="맑은 고딕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2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42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651760"/>
            <a:ext cx="10332720" cy="12230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/>
            </a:pPr>
            <a:r>
              <a:rPr sz="7400" b="1">
                <a:solidFill>
                  <a:srgbClr val="ffffff"/>
                </a:solidFill>
                <a:latin typeface="맑은 고딕"/>
              </a:rPr>
              <a:t>감사합니다</a:t>
            </a:r>
            <a:endParaRPr sz="7400" b="1">
              <a:solidFill>
                <a:srgbClr val="ffffff"/>
              </a:solidFill>
              <a:latin typeface="맑은 고딕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29639" y="4546240"/>
            <a:ext cx="10332720" cy="5191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/>
            </a:pPr>
            <a:r>
              <a:rPr sz="2800" b="1">
                <a:solidFill>
                  <a:srgbClr val="bfd4f0"/>
                </a:solidFill>
                <a:latin typeface="맑은 고딕"/>
              </a:rPr>
              <a:t>Q&amp;A  |  팀 찾아조</a:t>
            </a:r>
            <a:endParaRPr sz="2800" b="1">
              <a:solidFill>
                <a:srgbClr val="bfd4f0"/>
              </a:solidFill>
              <a:latin typeface="맑은 고딕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/>
      <a:lstStyle/>
    </a:txDef>
  </a:objectDefaults>
</a:theme>
</file>

<file path=ppt/theme/theme2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/>
      <a:lstStyle/>
    </a:txDef>
  </a:objectDefaul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/>
  <ep:Words>2037</ep:Words>
  <ep:PresentationFormat>와이드스크린</ep:PresentationFormat>
  <ep:Paragraphs>257</ep:Paragraphs>
  <ep:Slides>23</ep:Slides>
  <ep:Notes>9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23</vt:i4>
      </vt:variant>
    </vt:vector>
  </ep:HeadingPairs>
  <ep:TitlesOfParts>
    <vt:vector size="24" baseType="lpstr"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슬라이드 6</vt:lpstr>
      <vt:lpstr>슬라이드 7</vt:lpstr>
      <vt:lpstr>슬라이드 8</vt:lpstr>
      <vt:lpstr>슬라이드 9</vt:lpstr>
      <vt:lpstr>슬라이드 10</vt:lpstr>
      <vt:lpstr>슬라이드 11</vt:lpstr>
      <vt:lpstr>슬라이드 12</vt:lpstr>
      <vt:lpstr>슬라이드 13</vt:lpstr>
      <vt:lpstr>슬라이드 14</vt:lpstr>
      <vt:lpstr>슬라이드 15</vt:lpstr>
      <vt:lpstr>슬라이드 16</vt:lpstr>
      <vt:lpstr>슬라이드 17</vt:lpstr>
      <vt:lpstr>슬라이드 18</vt:lpstr>
      <vt:lpstr>슬라이드 19</vt:lpstr>
      <vt:lpstr>슬라이드 20</vt:lpstr>
      <vt:lpstr>슬라이드 21</vt:lpstr>
      <vt:lpstr>슬라이드 22</vt:lpstr>
      <vt:lpstr>슬라이드 23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2013-01-27T09:14:16.000</dcterms:created>
  <dc:description>generated using python-pptx</dc:description>
  <cp:lastModifiedBy>fid0109</cp:lastModifiedBy>
  <dcterms:modified xsi:type="dcterms:W3CDTF">2026-08-18T07:10:10.925</dcterms:modified>
  <cp:revision>9</cp:revision>
  <cp:version>1000.0000.01</cp:version>
</cp:coreProperties>
</file>