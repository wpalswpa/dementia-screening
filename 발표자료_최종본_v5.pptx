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"/>
  </p:notesMasterIdLst>
  <p:sldIdLst>
    <p:sldId id="256" r:id="rId3"/>
    <p:sldId id="279" r:id="rId30"/>
    <p:sldId id="280" r:id="rId31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32"/>
    <p:sldId id="271" r:id="rId18"/>
    <p:sldId id="272" r:id="rId19"/>
    <p:sldId id="273" r:id="rId20"/>
    <p:sldId id="274" r:id="rId21"/>
    <p:sldId id="282" r:id="rId33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3DE3693A-EF05-4C50-91A9-67FE5D2D02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18.xml"/><Relationship Id="rId3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안녕하세요, 찾아조입니다. 저희는 병원 검사 없이 웨어러블 생활 기록만으로 치매 위험 신호를 걸러내는 스크리닝 서비스를 만들었습니다.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5" name="Google Shape;95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치매(알츠하이머병)는 단순 노화가 아니라 실제 사망원인 6위 질환입니다. 당뇨병, 고혈압보다 높습니다.</a:t>
            </a: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다른 만성질환은 관리가 되며 증가세가 둔화되는 동안, 알츠하이머병 사망률만 10년 새 175% 급증했습니다. 왜 하필 지금, 왜 하필 치매인가에 대한 답입니다.</a:t>
            </a: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5" name="Google Shape;135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  <a:endParaRPr/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57" name="Google Shape;157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  <a:endParaRPr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6" name="Google Shape;176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5" name="Google Shape;185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저희도 처음에 의외였고, 그래서 숨기지 않고 그대로 보여드립니다. 이 반전이 분석의 방향을 바꿨습니다.</a:t>
            </a:r>
            <a:endParaRPr/>
          </a:p>
        </p:txBody>
      </p:sp>
      <p:sp>
        <p:nvSpPr>
          <p:cNvPr id="205" name="Google Shape;20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15" name="Google Shape;215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질문 대비: 정확도가 베이스라인보다 낮은 이유 — 무조건 정상 찍는 모델은 위험군을 한 명도 못 잡습니다. 스크리닝 도구로는 무의미합니다.</a:t>
            </a:r>
            <a:endParaRPr/>
          </a:p>
        </p:txBody>
      </p:sp>
      <p:sp>
        <p:nvSpPr>
          <p:cNvPr id="226" name="Google Shape;2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게이트 질문 대비: 검증의 목적은 무엇을 주장해도 되는지 정하는 것이었고, 정확히 그렇게 작동했습니다. 검증 결과가 실제로 서비스 문구를 바꿨습니다.</a:t>
            </a:r>
            <a:endParaRPr/>
          </a:p>
        </p:txBody>
      </p:sp>
      <p:sp>
        <p:nvSpPr>
          <p:cNvPr id="237" name="Google Shape;23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46" name="Google Shape;246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7" name="Google Shape;257;p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76" name="Google Shape;276;p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5" name="Google Shape;285;p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95" name="Google Shape;295;p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상용화 관점 질문 대비: 업로드가 일회성으로 사라지지 않고 DB에 쌓이며, 검진 확진 결과가 연결된 데이터만 재학습에 씁니다. 라벨 없이 학습하면 모델이 자기 예측을 정답처럼 배우는 오염이 생기기 때문입니다. 전체 루프(적재→라벨→재학습→모델 교체)를 실제로 구현하고 테스트까지 마쳤습니다.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[적재 상세 — 구체적으로 어떻게 저장되냐는 질문 대비]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예측 API가 응답을 돌려주기 직전에 자동 실행: ① uuid로 무작위 12자리 익명 ID 발급(개인 식별 정보 없음) ② uploads 테이블에 요약 1행(시각/일수/위험점수/판정, 확진 라벨 자리는 NULL로 시작) ③ upload_daily 테이블에 하루 기록=1행씩(58일치면 58행, 날짜/걸음수/수면효율 등 22개 컬럼 원본 그대로) ④ 한 트랜잭션으로 커밋, ID는 응답에 담아 반환(검진 결과 연결 시 사용). DB는 SQLite 파일(data/service.db) 하나 — 설치 불필요. 적재 실패해도 예측 응답은 정상(부가 기능). 확인은 /uploads/stats API 또는 DB 파일 직접 조회.</a:t>
            </a: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25" name="Google Shape;325;p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34" name="Google Shape;334;p2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3" name="Google Shape;343;p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2194560"/>
            <a:ext cx="103327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치매 위험 조기 스크리닝 서비스</a:t>
            </a:r>
            <a:endParaRPr b="1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FD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웨어러블 생활 기록만으로, 병원에 가볼 이유를 먼저 알려주는 서비스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5120640"/>
            <a:ext cx="103327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 찾아조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맑은 고딕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프로젝트 일정 — 5일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612648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1일차  8/13(목)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기획·데이터 준비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주제 선정, 문제인식 통계 조사, AI Hub 데이터 확보·구조 확인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2일차  8/14(금)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전처리·분석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라이프로그 정제, 사람 단위 44개 지표 생성, 핵심 모델 학습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3일차  8/18(화)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분석·검증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모델 비교(랜덤포레스트 vs 로지스틱), Q4·Q5 검증, 결과 해석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4일차  8/19(수)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서비스·DB 구축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FastAPI 구현, 치매안심센터 연동, Oracle 적재, 재학습 파이프라인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5일차  8/20(목)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최종 발표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리허설, 서비스 시연 테스트, 16:00 최종 발표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8/15(토) 광복절 · 8/17(월) 대체공휴일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맑은 고딕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팀원 소개 및 업무 분장 — 찾아조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640080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담당 역할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주요 수행 업무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이제민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팀장 · 총괄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일정 관리, 산출물 취합, 검증 방향 결정, 발표 총괄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조성기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전처리 및 모델링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라이프로그 정제, 피처 설계, 모델 학습·비교, Q4·Q5 검증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박용민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데이터 수집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AI Hub 데이터 확보, 공공데이터(치매안심센터) 연동, 추가 데이터 조사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정상천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통계 및 시각화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</a:rPr>
                        <a:t>문제인식 통계 시각화, 분석 그래프, 발표자료 제작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주 담당은 있지만 서비스 점검·발표 준비는 전원이 함께 수행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순서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97280" y="2000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문제의식 — 왜 치매인가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600200" y="23842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만성질환과 비교해도 유독 심각한 질환</a:t>
            </a:r>
            <a:endParaRPr b="1" i="0" sz="16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97280" y="280487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데이터와 분석 질문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600200" y="31889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웨어러블 라이프로그 174명, Q1~Q5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97280" y="3609544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분석 결과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600200" y="3993591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발견: 활동량이 아니라 '패턴의 불규칙함'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97280" y="4414215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검증 — 스스로에게 던진 두 가지 질문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600200" y="4798264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치매를 빼도 남는가 / 우연은 아닌가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97280" y="521888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서비스 시연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600200" y="560293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→ 위험 점수 → 치매안심센터 지도 안내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97280" y="6023559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결론과 한계, 확장 방향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97280" y="139065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찾아조  |  이제민(팀장·총괄) · 조성기(전처리 및 모델링) · 박용민(데이터 수집) · 정상천(통계 및 시각화)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문제의식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치매는 국내 사망원인 6위 — 당뇨병보다 높다</a:t>
            </a:r>
            <a:endParaRPr/>
          </a:p>
        </p:txBody>
      </p:sp>
      <p:pic>
        <p:nvPicPr>
          <p:cNvPr descr="ppt_3_death_rank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641" y="1554480"/>
            <a:ext cx="9716237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문제의식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지난 10년, 주요 만성질환 중 유일하게 급증 — +175%</a:t>
            </a:r>
            <a:endParaRPr/>
          </a:p>
        </p:txBody>
      </p:sp>
      <p:pic>
        <p:nvPicPr>
          <p:cNvPr descr="ppt_4_change_rate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641" y="1554480"/>
            <a:ext cx="9716237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문제의식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오래, 가장 비싸게 관리해야 하는 질환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502920" y="6192000"/>
            <a:ext cx="111556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1인당 연 내원일수 1위(37일) · 1인당 진료비 374만 원 — 당뇨병의 4~6배</a:t>
            </a:r>
            <a:endParaRPr/>
          </a:p>
        </p:txBody>
      </p:sp>
      <p:pic>
        <p:nvPicPr>
          <p:cNvPr descr="ppt_5_visit_days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31" y="1645920"/>
            <a:ext cx="5016137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t_5_cost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4491" y="1645920"/>
            <a:ext cx="5016137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문제의식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환자는 늘고, 위험은 균등하지 않다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07_risk_factors_by_demographic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7393" y="1169670"/>
            <a:ext cx="6376909" cy="485581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502920" y="6192000"/>
            <a:ext cx="11155680" cy="38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 검진이 어려운 환경일수록 위험이 높은 역설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문제의식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우리의 접근 — 병원에 가기 전, 생활 기록으로 먼저 찾는다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066647" y="1808009"/>
            <a:ext cx="10058401" cy="4467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경도인지장애(MCI) — 기억력은 떨어졌지만 아직 혼자 일상생활이 가능한, 치매 바로 전 단계</a:t>
            </a:r>
            <a:endParaRPr b="1" i="0" sz="23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단계에서 발견해야 진행을 늦출 수 있다 (연 10~15%가 치매로 진행)</a:t>
            </a:r>
            <a:endParaRPr b="1" i="0" sz="23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병원 검진이 어려운 사람일수록 발견이 늦다</a:t>
            </a:r>
            <a:endParaRPr b="1" i="0" sz="23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웨어러블이 자동으로 쌓는 활동·수면 기록만으로 위험 신호를 잡아내,</a:t>
            </a:r>
            <a:endParaRPr b="1" i="0" sz="23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"병원에 가볼 이유가 있는지"를 먼저 알려주는 스크리닝 도구</a:t>
            </a:r>
            <a:endParaRPr b="1" i="0" sz="23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진단이 아니라 스크리닝 — 진단·치료는 전적으로 의료기관의 영역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데이터와 분석 질문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치매 고위험군 웨어러블 라이프로그</a:t>
            </a:r>
            <a:endParaRPr/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822960" y="1648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{3DE3693A-EF05-4C50-91A9-67FE5D2D02F8}</a:tableStyleId>
              </a:tblPr>
              <a:tblGrid>
                <a:gridCol w="2377450"/>
                <a:gridCol w="8138150"/>
              </a:tblGrid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 도구</a:t>
                      </a:r>
                      <a:endParaRPr b="1" sz="2100" u="none" cap="none" strike="noStrike">
                        <a:solidFill>
                          <a:srgbClr val="10428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Oura ring(반지형 웨어러블) — 일 단위 활동·수면 자동 기록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174명 × 사람당 28~118일(평균 66일) = 11,499 사람×일 기록</a:t>
                      </a:r>
                      <a:endParaRPr b="1" sz="2100" u="none" cap="none" strike="noStrike">
                        <a:solidFill>
                          <a:srgbClr val="20202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 라벨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정상(CN) 111명 · 경도인지장애(MCI) 51명 · 치매(Dem) 12명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 의사 진단</a:t>
                      </a:r>
                      <a:endParaRPr b="1" sz="2100" u="none" cap="none" strike="noStrike">
                        <a:solidFill>
                          <a:srgbClr val="20202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 대상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정상군 111명  vs  위험군(경도인지장애+치매) 63명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제외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MMSE 검사 점수 — 진단에 이미 쓰인 정답이므로 제외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(순환 논리 방지)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8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02. 데이터와 분석 질문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하루 기록 11,499개를 '사람 단위 지표' 44개로 요약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1097280" y="1654449"/>
            <a:ext cx="10859368" cy="48587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① 신뢰 필터 — 반지 미착용이 긴 날(180분 이상)은 그날 기록 전체를 제외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② 매칭 — 활동·수면 기록을 사람 기준으로 진단 결과와 연결 (174명 전원 확인)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③ 요약 — 사람 1명당 28~118일 기록을 지표별 평균(수준) 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									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+ 표준편차(들쭉날쭉함)로 압축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④ 파생 — 취침·기상 시각의 들쭉날쭉함(수면 리듬), 걸음 수 변동계수 등 리듬 지표 생성</a:t>
            </a:r>
            <a:endParaRPr lang="en-US" sz="22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	→ 174명 × 44개 지표 테이블 완성 </a:t>
            </a:r>
            <a:endParaRPr lang="en-US" sz="22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						— 이후 모든 분석·모델·서비스의 출발점</a:t>
            </a:r>
            <a:endParaRPr lang="en-US" sz="22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22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전처리 기준은 전부 코드로 고정 — 같은 원본을 넣으면 누가 실행해도 같은 표가 나온다</a:t>
            </a:r>
            <a:endParaRPr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11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데이터와 분석 질문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Q1~Q5 — 검증을 통과해야 서비스로 간다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1475719" y="6446520"/>
            <a:ext cx="6574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914400" y="1737360"/>
            <a:ext cx="914400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Q1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920240" y="1755648"/>
            <a:ext cx="9692640" cy="395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정상/경도인지장애/치매 그룹별로 활동량과 수면 패턴은 어떻게 다른가?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914400" y="2514600"/>
            <a:ext cx="9144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Q2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920240" y="2532888"/>
            <a:ext cx="9692640" cy="38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 검사(MMSE) 없이 웨어러블 기록만으로 위험군 여부를 걸러낼 수 있는가?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914400" y="3291840"/>
            <a:ext cx="914400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Q3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920240" y="3310128"/>
            <a:ext cx="9692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웨어러블 지표 중 위험군 판별에 가장 크게 기여하는 지표는 무엇인가?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14400" y="4069080"/>
            <a:ext cx="9144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Q4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920240" y="4087368"/>
            <a:ext cx="9692640" cy="692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Q2·Q3의 신호는 치매를 제외한 정상군-경도인지장애군 비교에서도 유지되는가?  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← 검증 게이트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914400" y="4846320"/>
            <a:ext cx="914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Q5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920240" y="4864607"/>
            <a:ext cx="9692640" cy="69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Q2에서 얻는 성능 개선은 우연이 아니라 통계적으로 의미 있는 수준인가?  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← 검증 게이트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914400" y="5760720"/>
            <a:ext cx="10515600" cy="371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원칙: Q4·Q5 검증 결과에 따라 서비스가 주장할 수 있는 범위를 규정할 것</a:t>
            </a:r>
            <a:endParaRPr b="1" i="0" sz="19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0" y="0"/>
            <a:ext cx="12191700" cy="1464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 분석 결과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반전 — 걸음수는 위험군이 오히려 많다</a:t>
            </a:r>
            <a:endParaRPr/>
          </a:p>
        </p:txBody>
      </p:sp>
      <p:pic>
        <p:nvPicPr>
          <p:cNvPr descr="01_activity_by_group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64208"/>
            <a:ext cx="5669280" cy="45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일평균 걸음수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10,635  &lt;  경도인지장애 11,383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C44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"활동량이 줄면 위험군"이라는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가설은 성립하지 않았다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평균이 아니라,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"날마다 얼마나 들쭉날쭉한가"로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시선을 돌리게 된 계기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03. 분석 결과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핵심 신호는 '생활 패턴의 불규칙함'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220" name="Google Shape;220;p12" descr="04_feature_importanc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 txBox="1"/>
          <p:nvPr/>
        </p:nvSpPr>
        <p:spPr>
          <a:xfrm>
            <a:off x="6692348" y="2462212"/>
            <a:ext cx="5103412" cy="293941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50번 반복 검증에서 가장 안정적으로 뽑힌 지표</a:t>
            </a:r>
            <a:endParaRPr lang="en-US" sz="18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1위  저강도 활동 시간의 변동성 (50/50회)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2위  수면 중 뒤척임의 변동성 (48/50회)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인지기능이 흔들리면, 매일 비슷하게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자고 움직이는 '일상 루틴 유지 능력'이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먼저 무너진다는 해석과 일치 (상관관계)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 분석 결과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성능 — 랜덤포레스트 vs 로지스틱 회귀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/>
          </a:p>
        </p:txBody>
      </p:sp>
      <p:graphicFrame>
        <p:nvGraphicFramePr>
          <p:cNvPr id="232" name="Google Shape;232;p13"/>
          <p:cNvGraphicFramePr/>
          <p:nvPr/>
        </p:nvGraphicFramePr>
        <p:xfrm>
          <a:off x="731520" y="164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{3DE3693A-EF05-4C50-91A9-67FE5D2D02F8}</a:tableStyleId>
              </a:tblPr>
              <a:tblGrid>
                <a:gridCol w="3941650"/>
                <a:gridCol w="2217175"/>
                <a:gridCol w="2217175"/>
                <a:gridCol w="22171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정확도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위험군 재현율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0428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RandomForest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58.0%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38.7%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02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0.549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44E5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로지스틱 회귀 (최종 채택)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44E5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44E5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52.7%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44E5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13"/>
          <p:cNvSpPr txBox="1"/>
          <p:nvPr/>
        </p:nvSpPr>
        <p:spPr>
          <a:xfrm>
            <a:off x="777240" y="4519405"/>
            <a:ext cx="10698480" cy="1470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4281"/>
                </a:solidFill>
                <a:latin typeface="맑은 고딕"/>
                <a:ea typeface="Malgun Gothic"/>
                <a:cs typeface="Malgun Gothic"/>
                <a:sym typeface="Malgun Gothic"/>
              </a:rPr>
              <a:t>174명 소표본에서는 단순한 모델이 잡음에 덜 흔들린다 — 50회 반복 비교에서 로지스틱 회귀가 모든 지표 우위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04. 검증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Q4 — 치매 12명을 빼도 신호가 남는가?  →  아니오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914400" y="1875347"/>
            <a:ext cx="10845478" cy="3809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치매를 완전히 제외하고 정상 111명 vs 경도인지장애 51명만으로 재검증</a:t>
            </a:r>
            <a:endParaRPr b="1" i="0" sz="21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기존 44개 지표 → 정확도 55.3% (전부 "정상"이라 답하는 기준선 68.5%에도 미달)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시계열 지표 추가 → 여전히 미달   · 모델을 바꿔도 → 동일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4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번 시도, 같은 결론: 경도인지장애 '단독' 조기 신호는 현재 데이터로는 못 찾았다</a:t>
            </a:r>
            <a:endParaRPr b="1" i="0" sz="2200" u="none" cap="none" strike="noStrike">
              <a:solidFill>
                <a:srgbClr val="C44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검증이 실제로 한 일 — 서비스 주장 범위를 바꿨다</a:t>
            </a:r>
            <a:endParaRPr b="1" i="0" sz="22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"경도인지장애를 조기 진단한다"  →  사용 금지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"위험군(경도인지장애+치매)을 걸러 검진으로 안내한다"  →  이 범위만 주장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04. 검증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502920" y="621792"/>
            <a:ext cx="11689080" cy="5539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Q5 — 우연은 아닌가?  →  구분 능력은 진짜다 (우연일 확률 0.6%)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251" name="Google Shape;251;p15" descr="11_permutation_test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7772400" y="1828800"/>
            <a:ext cx="4023360" cy="3503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정답(진단 결과)을 일부러 뒤섞은 가짜 데이터 500개와 비교</a:t>
            </a:r>
            <a:endParaRPr lang="en-US" sz="18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정확도  p = 0.006</a:t>
            </a:r>
            <a:endParaRPr lang="en-US" sz="21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우연히 나올 확률 0.6%. 통과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c44e52"/>
                </a:solidFill>
                <a:latin typeface="맑은 고딕"/>
                <a:ea typeface="맑은 고딕"/>
                <a:cs typeface="맑은 고딕"/>
                <a:sym typeface="맑은 고딕"/>
              </a:rPr>
              <a:t>재현율  p = 0.132</a:t>
            </a:r>
            <a:endParaRPr lang="en-US" sz="2100" b="1" i="0" u="none" strike="noStrike" cap="none">
              <a:solidFill>
                <a:srgbClr val="c44e52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통계적으로 단정 불가.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그래서 "52.7%를 잡아낸다"고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   수치를 못박지 않는다</a:t>
            </a: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822960" y="6192000"/>
            <a:ext cx="10607040" cy="38787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숫자를 좋게 만드는 대신, 말할 수 있는 것과 없는 것을 정확히 </a:t>
            </a:r>
            <a:r>
              <a:rPr lang="ko-KR" alt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구분</a:t>
            </a:r>
            <a:endParaRPr lang="ko-KR" altLang="en-US"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17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분석이 말해준 것 — 그래서 이 서비스다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566160"/>
                <a:gridCol w="365760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분석·검증 결과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도출된 필요성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서비스 기능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생활 패턴의 불규칙함이</a:t>
                      </a:r>
                    </a:p>
                    <a:p>
                      <a:r>
                        <a:t>위험군을 가른다 (Q3)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병원 밖 일상 기록으로</a:t>
                      </a:r>
                    </a:p>
                    <a:p>
                      <a:r>
                        <a:t>위험 신호 감지 가능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웨어러블 기록 업로드</a:t>
                      </a:r>
                    </a:p>
                    <a:p>
                      <a:r>
                        <a:t>→ 위험 점수·근거 제시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경도인지장애 단독 신호는</a:t>
                      </a:r>
                    </a:p>
                    <a:p>
                      <a:r>
                        <a:t>미확인 (Q4)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진단이 아닌 '위험군</a:t>
                      </a:r>
                    </a:p>
                    <a:p>
                      <a:r>
                        <a:t>스크리닝'으로 범위 한정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참고용 판정 + 한계 고지를</a:t>
                      </a:r>
                    </a:p>
                    <a:p>
                      <a:r>
                        <a:t>모든 화면에 명시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위험군 구분 능력은</a:t>
                      </a:r>
                    </a:p>
                    <a:p>
                      <a:r>
                        <a:t>통계적으로 유효 (Q5)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걸러낸 위험군을 검진으로</a:t>
                      </a:r>
                    </a:p>
                    <a:p>
                      <a:r>
                        <a:t>연결할 통로 필요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치매안심센터 지도 안내</a:t>
                      </a:r>
                    </a:p>
                    <a:p>
                      <a:r>
                        <a:t>(전국 317곳 공공데이터)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"생활 패턴의 불규칙함이 위험 신호임을 확인했고, 이를 활용해 위험군을 조기에 걸러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  병원 검진으로 연결하는 스크리닝 서비스를 기획하였다"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05. 서비스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웹 스크리닝 서비스(FastAPI) 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900000" y="1691640"/>
            <a:ext cx="4754880" cy="44005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①  생활 기록 CSV 업로드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5120640" y="1692000"/>
            <a:ext cx="6675120" cy="77457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웨어러블에서 내려받은 기록 파일 · 유효 기록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14일 미만이면 판정하지 않음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900000" y="2520000"/>
            <a:ext cx="4754880" cy="4403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②  위험 점수 산출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5120640" y="2520000"/>
            <a:ext cx="6675120" cy="7737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학습과 동일한 지표 계산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→ 검증된 모델로 예측 (0~1 점수)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914400" y="3348000"/>
            <a:ext cx="4754880" cy="44348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③  판단 근거 제시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5120640" y="3348000"/>
            <a:ext cx="6905456" cy="40011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정상군 평균과 가장 크게 다른 지표 3가지를 그래프로 비교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914400" y="4176000"/>
            <a:ext cx="4754880" cy="441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④  치매안심센터 연결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5120640" y="4176000"/>
            <a:ext cx="6675120" cy="77507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공공데이터포털 전국 317곳 연동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— 내 위치 기준 가까운 순, 지도 표시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914400" y="5004000"/>
            <a:ext cx="4754880" cy="44237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⑤  한계 고지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5120640" y="5004000"/>
            <a:ext cx="6675120" cy="78483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"진단이 아닌 참고용 · 표본 174명"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— 모든 결과 화면에 명시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 서비스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순서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868680" y="1716570"/>
            <a:ext cx="10607040" cy="442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샘플 업로드  →  정상/ 위험 예측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위험 점수 및 추정 이유 분석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		 · 근거: 활동/수면 변동성이 정상군 평균 대비 높음</a:t>
            </a:r>
            <a:endParaRPr b="1" i="0" sz="2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 "내 위치에서 가까운 센터 찾기"  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→  지도에 가까운 치매안심센터 5곳 + 전화번호</a:t>
            </a:r>
            <a:endParaRPr b="1" i="0" sz="25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 서비스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화면 ① — 업로드 → 위험 점수 → 판단 근거</a:t>
            </a:r>
            <a:endParaRPr/>
          </a:p>
        </p:txBody>
      </p:sp>
      <p:pic>
        <p:nvPicPr>
          <p:cNvPr id="290" name="Google Shape;2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14" y="1645920"/>
            <a:ext cx="555094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296" y="1645920"/>
            <a:ext cx="4900389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 서비스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화면 ② — 내 기록 추이 → 치매안심센터 안내</a:t>
            </a:r>
            <a:endParaRPr/>
          </a:p>
        </p:txBody>
      </p:sp>
      <p:pic>
        <p:nvPicPr>
          <p:cNvPr id="300" name="Google Shape;3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553" y="1645920"/>
            <a:ext cx="4744601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1914" y="1645920"/>
            <a:ext cx="4638532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데이터베이스 구축 — Oracle XE + SQLite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760720"/>
                <a:gridCol w="182880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테이블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marL="109728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TBL_RAW_ACTIVITY / SLEEP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원천 라이프로그 보관 (Oracle 스테이징)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각 12,183행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TBL_RAW_MMSE / LABEL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검사·진단 원천 보관 — MMSE는 학습 입력에서 제외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각 174행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TBL_DEMENTIA_CENTER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치매안심센터 공공데이터 — 서비스 지도 안내에 사용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317행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</a:rPr>
                        <a:t>uploads / upload_daily</a:t>
                      </a:r>
                    </a:p>
                  </a:txBody>
                  <a:tcPr marL="109728" marT="91440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서비스 업로드 자동 적재 (SQLite) — 재학습 재료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</a:rPr>
                        <a:t>실시간 누적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원천 보관(Oracle) · 서비스 조회(센터 데이터) · 신규 수집(업로드 적재) — 세 층으로 분리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 서비스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적재·재학습 파이프라인 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1248950" y="4882515"/>
            <a:ext cx="10607042" cy="1564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원칙: 확진 라벨 없는 데이터는 학습에 쓰지 않는다 </a:t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모델이 자기 예측을 정답처럼 배우는 데이터 오염 방지</a:t>
            </a:r>
            <a:endParaRPr b="1" i="0" sz="17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"데이터 표본 부족 문제의 한계는, 서비스가 돌수록 스스로 풀리는 구조"</a:t>
            </a:r>
            <a:endParaRPr b="1" i="0" sz="22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1148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기록 업로드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CSV 업로드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239572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278892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예측+자동 적재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예측과 동시에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익명 저장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77316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16636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확진 라벨 연결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기관이 검진 결과 입력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715060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754380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재학습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데이터만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174명과 결합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952804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992124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7F3EA"/>
          </a:solidFill>
          <a:ln cap="flat" cmpd="sng" w="25400">
            <a:solidFill>
              <a:srgbClr val="2E7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7D43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모델 교체</a:t>
            </a:r>
            <a:endParaRPr b="1" i="0" sz="1700" u="none" cap="none" strike="noStrike">
              <a:solidFill>
                <a:srgbClr val="2E7D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백업 후 교체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서비스 반영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2587752" y="3818034"/>
            <a:ext cx="7929438" cy="69532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CE8F8"/>
          </a:solidFill>
          <a:ln cap="flat" cmpd="sng" w="1905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서비스가 돌수록 반복 — 데이터 적재 및 모델 성능 향상</a:t>
            </a:r>
            <a:endParaRPr b="1" i="0" sz="16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0" y="0"/>
            <a:ext cx="12191700" cy="1464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06. 결론 및 확장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5일 동안 만든 것은 숫자가 아니라, 믿을 수 있는 절차입니다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914400" y="1691640"/>
            <a:ext cx="10607040" cy="492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확인한 것</a:t>
            </a:r>
            <a:endParaRPr b="1" i="0" sz="22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활동량 평균이 아니라 "생활 패턴의 불규칙함"이 위험군을 가른다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그 구분 능력은 우연이 아니다 (우연일 확률 0.6%)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1" i="0" sz="22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표본 174명(치매 12명), 한 지역(광주)·한 시기 데이터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— 일반화에는 더 큰 데이터 필요(임상 실험 부족)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경도인지장애 단독 조기 신호는 미확인 · 재현율 수치는 통계적으로 미확정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진짜 산출물은</a:t>
            </a:r>
            <a:endParaRPr b="1" i="0" sz="22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"시험 문제를 미리 본 셈"인 데이터 누수 실수를 스스로 찾아 고치고, 우연 여부까지 검증한 분석 절차</a:t>
            </a:r>
            <a:endParaRPr b="1" i="0" sz="2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병원·기관의 정식 데이터가 들어오면 코드 수정 없이 그대로 재학습·재검증 가능</a:t>
            </a:r>
            <a:endParaRPr b="1" i="0" sz="2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06. 결론 및 확장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스크리닝에서 끝나지 않는다 — 2단계 로드맵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914400" y="2058228"/>
            <a:ext cx="10903352" cy="3854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(이번 구현)  —  스크리닝</a:t>
            </a:r>
            <a:endParaRPr b="1" i="0" sz="23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생활 기록 업로드 → 위험 신호 확인 → 치매안심센터 연결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4281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(사업 확장 방향)  —  웨어러블 연계 모니터링</a:t>
            </a:r>
            <a:endParaRPr b="1" i="0" sz="23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위험군 판정자가 웨어러블을 계속 착용, 악화 시점을 놓치지 않고 재안내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 적재·재학습 루프는 이번에 구현 완료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			— 검진 결과가 연결될수록 모델이 계속 좋아지는 구조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요양기관·치매안심센터 제휴, 개인/기관용 구독형 대시보드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것: 더 큰 정식 데이터 · 나이/성별/학력 정보 · 실제 발병 여부를 따라가는 추적 검증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914400" y="2651760"/>
            <a:ext cx="1033272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1" i="0" sz="7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929639" y="4546240"/>
            <a:ext cx="10332720" cy="519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FD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  |  팀 찾아조</a:t>
            </a:r>
            <a:endParaRPr b="1" i="0" sz="2800" u="none" cap="none" strike="noStrike">
              <a:solidFill>
                <a:srgbClr val="BFD4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/>
  <ep:Paragraphs>1</ep:Paragraphs>
  <ep:Slides>23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ep:HeadingPairs>
  <ep:TitlesOfParts>
    <vt:vector size="2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cp:lastModifiedBy>fid0109</cp:lastModifiedBy>
  <dcterms:modified xsi:type="dcterms:W3CDTF">2026-08-19T00:43:47.081</dcterms:modified>
  <cp:revision>1</cp:revision>
  <cp:version>1000.0000.01</cp:version>
</cp:coreProperties>
</file>