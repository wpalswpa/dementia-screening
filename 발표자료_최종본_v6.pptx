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>
  <a:tblStyle styleId="{3DE3693A-EF05-4C50-91A9-67FE5D2D02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56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latin typeface="맑은 고딕"/>
              </a:rPr>
              <a:t>안녕하세요, 찾아조입니다. 저희는 병원 검사 없이 웨어러블 생활 기록만으로 치매 위험 신호를 걸러내는 스크리닝 서비스를 만들었습니다.</a:t>
            </a: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5" name="Google Shape;95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15" name="Google Shape;11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latin typeface="맑은 고딕"/>
              </a:rPr>
              <a:t>치매(알츠하이머병)는 단순 노화가 아니라 실제 사망원인 6위 질환입니다. 당뇨병, 고혈압보다 높습니다.</a:t>
            </a:r>
            <a:endParaRPr/>
          </a:p>
        </p:txBody>
      </p:sp>
      <p:sp>
        <p:nvSpPr>
          <p:cNvPr id="116" name="Google Shape;11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latin typeface="맑은 고딕"/>
              </a:rPr>
              <a:t>다른 만성질환은 관리가 되며 증가세가 둔화되는 동안, 알츠하이머병 사망률만 10년 새 175% 급증했습니다. 왜 하필 지금, 왜 하필 치매인가에 대한 답입니다.</a:t>
            </a:r>
            <a:endParaRPr/>
          </a:p>
        </p:txBody>
      </p:sp>
      <p:sp>
        <p:nvSpPr>
          <p:cNvPr id="126" name="Google Shape;12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35" name="Google Shape;135;p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latin typeface="맑은 고딕"/>
              </a:rPr>
              <a:t>고령·여성·농촌·독거·저학력일수록 유병률이 높습니다. 정기 검진에 의존하는 현재 체계는 정작 고위험군을 놓치기 쉽습니다. 여기가 저희 프로젝트의 출발점입니다.</a:t>
            </a:r>
            <a:endParaRPr/>
          </a:p>
        </p:txBody>
      </p:sp>
      <p:sp>
        <p:nvSpPr>
          <p:cNvPr id="147" name="Google Shape;14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57" name="Google Shape;157;p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166" name="Google Shape;1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latin typeface="맑은 고딕"/>
              </a:rPr>
              <a:t>핵심 설계 결정 하나: MMSE 점수는 의사가 진단 라벨을 매길 때 쓴 검사라, 입력에 넣으면 정답을 보고 정답을 맞히는 셈입니다. 병원 검사 없이 걸러낸다는 취지에 맞게 활동·수면 기록만 씁니다.</a:t>
            </a:r>
            <a:endParaRPr/>
          </a:p>
        </p:txBody>
      </p:sp>
      <p:sp>
        <p:nvSpPr>
          <p:cNvPr id="167" name="Google Shape;16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76" name="Google Shape;176;p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185" name="Google Shape;185;p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204" name="Google Shape;20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latin typeface="맑은 고딕"/>
              </a:rPr>
              <a:t>저희도 처음에 의외였고, 그래서 숨기지 않고 그대로 보여드립니다. 이 반전이 분석의 방향을 바꿨습니다.</a:t>
            </a:r>
            <a:endParaRPr/>
          </a:p>
        </p:txBody>
      </p:sp>
      <p:sp>
        <p:nvSpPr>
          <p:cNvPr id="205" name="Google Shape;20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225" name="Google Shape;22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latin typeface="맑은 고딕"/>
              </a:rPr>
              <a:t>질문 대비: 정확도가 베이스라인보다 낮은 이유 — 무조건 정상 찍는 모델은 위험군을 한 명도 못 잡습니다. 스크리닝 도구로는 무의미합니다.</a:t>
            </a:r>
            <a:endParaRPr/>
          </a:p>
        </p:txBody>
      </p:sp>
      <p:sp>
        <p:nvSpPr>
          <p:cNvPr id="226" name="Google Shape;22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15" name="Google Shape;215;p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236" name="Google Shape;23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latin typeface="맑은 고딕"/>
              </a:rPr>
              <a:t>게이트 질문 대비: 검증의 목적은 무엇을 주장해도 되는지 정하는 것이었고, 정확히 그렇게 작동했습니다. 검증 결과가 실제로 서비스 문구를 바꿨습니다.</a:t>
            </a:r>
            <a:endParaRPr/>
          </a:p>
        </p:txBody>
      </p:sp>
      <p:sp>
        <p:nvSpPr>
          <p:cNvPr id="237" name="Google Shape;23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46" name="Google Shape;246;p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57" name="Google Shape;257;p1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76" name="Google Shape;276;p1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85" name="Google Shape;285;p1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295" name="Google Shape;295;p1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</a:ln>
        </p:spPr>
      </p:sp>
      <p:sp>
        <p:nvSpPr>
          <p:cNvPr id="305" name="Google Shape;30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latin typeface="맑은 고딕"/>
              </a:rPr>
              <a:t>상용화 관점 질문 대비: 업로드가 일회성으로 사라지지 않고 DB에 쌓이며, 검진 확진 결과가 연결된 데이터만 재학습에 씁니다. 라벨 없이 학습하면 모델이 자기 예측을 정답처럼 배우는 오염이 생기기 때문입니다. 전체 루프(적재→라벨→재학습→모델 교체)를 실제로 구현하고 테스트까지 마쳤습니다.</a:t>
            </a:r>
            <a:endParaRPr lang="en-US">
              <a:latin typeface="맑은 고딕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latin typeface="맑은 고딕"/>
              </a:rPr>
              <a:t>[적재 상세 — 구체적으로 어떻게 저장되냐는 질문 대비]</a:t>
            </a:r>
            <a:endParaRPr lang="en-US">
              <a:latin typeface="맑은 고딕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>
                <a:latin typeface="맑은 고딕"/>
              </a:rPr>
              <a:t>예측 API가 응답을 돌려주기 직전에 자동 실행: ① uuid로 무작위 12자리 익명 ID 발급(개인 식별 정보 없음) ② uploads 테이블에 요약 1행(시각/일수/위험점수/판정, 확진 라벨 자리는 NULL로 시작) ③ upload_daily 테이블에 하루 기록=1행씩(58일치면 58행, 날짜/걸음수/수면효율 등 22개 컬럼 원본 그대로) ④ 한 트랜잭션으로 커밋, ID는 응답에 담아 반환(검진 결과 연결 시 사용). DB는 SQLite 파일(data/service.db) 하나 — 설치 불필요. 적재 실패해도 예측 응답은 정상(부가 기능). 확인은 /uploads/stats API 또는 DB 파일 직접 조회.</a:t>
            </a:r>
            <a:endParaRPr/>
          </a:p>
        </p:txBody>
      </p:sp>
      <p:sp>
        <p:nvSpPr>
          <p:cNvPr id="306" name="Google Shape;30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25" name="Google Shape;325;p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34" name="Google Shape;334;p2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43" name="Google Shape;343;p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40080" y="1874519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FD4F0"/>
                </a:solidFill>
                <a:latin typeface="맑은 고딕"/>
                <a:ea typeface="맑은 고딕"/>
              </a:rPr>
              <a:t>웨어러블 라이프로그 데이터 분석 기반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23774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치매 위험 조기 스크리닝 서비스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0080" y="3520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BFD4F0"/>
                </a:solidFill>
                <a:latin typeface="맑은 고딕"/>
                <a:ea typeface="맑은 고딕"/>
              </a:rPr>
              <a:t>활동·수면 기록만으로 치매 위험 신호를 걸러내, 병원에 가볼 이유를 먼저 알려주는 서비스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0080" y="489204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</a:rPr>
              <a:t>팀  찾아조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" y="54406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FD4F0"/>
                </a:solidFill>
                <a:latin typeface="맑은 고딕"/>
                <a:ea typeface="맑은 고딕"/>
              </a:rPr>
              <a:t>이제민(팀장·총괄) · 조성기(전처리·모델링) · 박용민(데이터 수집) · 정상천(통계·시각화)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515600" cy="29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400" b="1">
                <a:solidFill>
                  <a:srgbClr val="2a78d6"/>
                </a:solidFill>
                <a:latin typeface="맑은 고딕"/>
                <a:ea typeface="맑은 고딕"/>
              </a:rPr>
              <a:t>SCHEDULE</a:t>
            </a:r>
            <a:endParaRPr sz="1400" b="1">
              <a:solidFill>
                <a:srgbClr val="2a78d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104281"/>
                </a:solidFill>
                <a:latin typeface="맑은 고딕"/>
                <a:ea typeface="맑은 고딕"/>
              </a:rPr>
              <a:t>프로젝트 일정</a:t>
            </a:r>
            <a:endParaRPr sz="3000" b="1">
              <a:solidFill>
                <a:srgbClr val="104281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2</a:t>
            </a:r>
            <a:endParaRPr sz="1200" b="0">
              <a:solidFill>
                <a:srgbClr val="666666"/>
              </a:solidFill>
              <a:latin typeface="맑은 고딕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565340"/>
          <a:ext cx="10698480" cy="431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17520"/>
                <a:gridCol w="5486400"/>
              </a:tblGrid>
              <a:tr h="1079128">
                <a:tc>
                  <a:txBody>
                    <a:bodyPr vert="horz" lIns="109728" tIns="109728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</a:rPr>
                        <a:t>1일차  8/13(목)</a:t>
                      </a:r>
                      <a:endParaRPr sz="1500" b="1">
                        <a:solidFill>
                          <a:srgbClr val="104281"/>
                        </a:solidFill>
                        <a:latin typeface="맑은 고딕"/>
                      </a:endParaRPr>
                    </a:p>
                  </a:txBody>
                  <a:tcPr marL="109728" marR="91440" marT="109728">
                    <a:solidFill>
                      <a:srgbClr val="eef3fb"/>
                    </a:solidFill>
                  </a:tcPr>
                </a:tc>
                <a:tc>
                  <a:txBody>
                    <a:bodyPr vert="horz" lIns="109728" tIns="109728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데이터 수집·전처리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109728">
                    <a:solidFill>
                      <a:srgbClr val="ffffff"/>
                    </a:solidFill>
                  </a:tcPr>
                </a:tc>
                <a:tc>
                  <a:txBody>
                    <a:bodyPr vert="horz" lIns="109728" tIns="109728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AI Hub 데이터 확보·구조 확인, 라이프로그 정제, 사람 단위 지표 생성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109728">
                    <a:solidFill>
                      <a:srgbClr val="ffffff"/>
                    </a:solidFill>
                  </a:tcPr>
                </a:tc>
              </a:tr>
              <a:tr h="1079128">
                <a:tc>
                  <a:txBody>
                    <a:bodyPr vert="horz" lIns="109728" tIns="109728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</a:rPr>
                        <a:t>2일차  8/14(금)</a:t>
                      </a:r>
                      <a:endParaRPr sz="1500" b="1">
                        <a:solidFill>
                          <a:srgbClr val="104281"/>
                        </a:solidFill>
                        <a:latin typeface="맑은 고딕"/>
                      </a:endParaRPr>
                    </a:p>
                  </a:txBody>
                  <a:tcPr marL="109728" marR="91440" marT="109728">
                    <a:solidFill>
                      <a:srgbClr val="eef3fb"/>
                    </a:solidFill>
                  </a:tcPr>
                </a:tc>
                <a:tc>
                  <a:txBody>
                    <a:bodyPr vert="horz" lIns="109728" tIns="109728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분석 및 해석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109728">
                    <a:solidFill>
                      <a:srgbClr val="ffffff"/>
                    </a:solidFill>
                  </a:tcPr>
                </a:tc>
                <a:tc>
                  <a:txBody>
                    <a:bodyPr vert="horz" lIns="109728" tIns="109728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모델 학습·비교, Q4·Q5 검증, 결과 해석 확정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109728">
                    <a:solidFill>
                      <a:srgbClr val="ffffff"/>
                    </a:solidFill>
                  </a:tcPr>
                </a:tc>
              </a:tr>
              <a:tr h="1079128">
                <a:tc>
                  <a:txBody>
                    <a:bodyPr vert="horz" lIns="109728" tIns="109728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</a:rPr>
                        <a:t>3일차  8/18(화)</a:t>
                      </a:r>
                      <a:endParaRPr sz="1500" b="1">
                        <a:solidFill>
                          <a:srgbClr val="104281"/>
                        </a:solidFill>
                        <a:latin typeface="맑은 고딕"/>
                      </a:endParaRPr>
                    </a:p>
                  </a:txBody>
                  <a:tcPr marL="109728" marR="91440" marT="109728">
                    <a:solidFill>
                      <a:srgbClr val="eef3fb"/>
                    </a:solidFill>
                  </a:tcPr>
                </a:tc>
                <a:tc>
                  <a:txBody>
                    <a:bodyPr vert="horz" lIns="109728" tIns="109728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서비스 기획·DB 구축·구현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109728">
                    <a:solidFill>
                      <a:srgbClr val="ffffff"/>
                    </a:solidFill>
                  </a:tcPr>
                </a:tc>
                <a:tc>
                  <a:txBody>
                    <a:bodyPr vert="horz" lIns="109728" tIns="109728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FastAPI 서비스 구현, 치매안심센터 연동, Oracle 적재, 발표자료 제작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109728">
                    <a:solidFill>
                      <a:srgbClr val="ffffff"/>
                    </a:solidFill>
                  </a:tcPr>
                </a:tc>
              </a:tr>
              <a:tr h="1079128">
                <a:tc>
                  <a:txBody>
                    <a:bodyPr vert="horz" lIns="109728" tIns="109728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</a:rPr>
                        <a:t>4일차  8/19(수)</a:t>
                      </a:r>
                      <a:endParaRPr sz="1500" b="1">
                        <a:solidFill>
                          <a:srgbClr val="104281"/>
                        </a:solidFill>
                        <a:latin typeface="맑은 고딕"/>
                      </a:endParaRPr>
                    </a:p>
                  </a:txBody>
                  <a:tcPr marL="109728" marR="91440" marT="109728">
                    <a:solidFill>
                      <a:srgbClr val="eef3fb"/>
                    </a:solidFill>
                  </a:tcPr>
                </a:tc>
                <a:tc>
                  <a:txBody>
                    <a:bodyPr vert="horz" lIns="109728" tIns="109728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완성 및 발표 준비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109728">
                    <a:solidFill>
                      <a:srgbClr val="ffffff"/>
                    </a:solidFill>
                  </a:tcPr>
                </a:tc>
                <a:tc>
                  <a:txBody>
                    <a:bodyPr vert="horz" lIns="109728" tIns="109728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발표자료 완성, 대본·예상 질의응답 정리, 시연 리허설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515600" cy="29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400" b="1">
                <a:solidFill>
                  <a:srgbClr val="2a78d6"/>
                </a:solidFill>
                <a:latin typeface="맑은 고딕"/>
                <a:ea typeface="맑은 고딕"/>
              </a:rPr>
              <a:t>TEAM</a:t>
            </a:r>
            <a:endParaRPr sz="1400" b="1">
              <a:solidFill>
                <a:srgbClr val="2a78d6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104281"/>
                </a:solidFill>
                <a:latin typeface="맑은 고딕"/>
                <a:ea typeface="맑은 고딕"/>
              </a:rPr>
              <a:t>팀원 소개 및 업무 분장 — 찾아조</a:t>
            </a:r>
            <a:endParaRPr sz="3000" b="1">
              <a:solidFill>
                <a:srgbClr val="104281"/>
              </a:solidFill>
              <a:latin typeface="맑은 고딕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743200"/>
                <a:gridCol w="6400800"/>
              </a:tblGrid>
              <a:tr h="658368"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이름</a:t>
                      </a:r>
                      <a:endParaRPr sz="150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109728" marR="91440" marT="91440">
                    <a:solidFill>
                      <a:srgbClr val="104281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담당 역할</a:t>
                      </a:r>
                      <a:endParaRPr sz="150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109728" marR="91440" marT="91440">
                    <a:solidFill>
                      <a:srgbClr val="104281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주요 수행 업무</a:t>
                      </a:r>
                      <a:endParaRPr sz="150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109728" marR="91440" marT="91440">
                    <a:solidFill>
                      <a:srgbClr val="104281"/>
                    </a:solidFill>
                  </a:tcPr>
                </a:tc>
              </a:tr>
              <a:tr h="658368"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</a:rPr>
                        <a:t>이제민</a:t>
                      </a:r>
                      <a:endParaRPr sz="1500" b="1">
                        <a:solidFill>
                          <a:srgbClr val="104281"/>
                        </a:solidFill>
                        <a:latin typeface="맑은 고딕"/>
                      </a:endParaRPr>
                    </a:p>
                  </a:txBody>
                  <a:tcPr marL="109728" marR="91440" marT="91440">
                    <a:solidFill>
                      <a:srgbClr val="eef3fb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팀장 · 총괄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일정 관리, 산출물 취합, 검증 방향 결정, 발표 총괄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</a:rPr>
                        <a:t>조성기</a:t>
                      </a:r>
                      <a:endParaRPr sz="1500" b="1">
                        <a:solidFill>
                          <a:srgbClr val="104281"/>
                        </a:solidFill>
                        <a:latin typeface="맑은 고딕"/>
                      </a:endParaRPr>
                    </a:p>
                  </a:txBody>
                  <a:tcPr marL="109728" marR="91440" marT="91440">
                    <a:solidFill>
                      <a:srgbClr val="eef3fb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전처리 및 모델링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라이프로그 정제, 피처 설계, 모델 학습·비교, Q4·Q5 검증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</a:rPr>
                        <a:t>박용민</a:t>
                      </a:r>
                      <a:endParaRPr sz="1500" b="1">
                        <a:solidFill>
                          <a:srgbClr val="104281"/>
                        </a:solidFill>
                        <a:latin typeface="맑은 고딕"/>
                      </a:endParaRPr>
                    </a:p>
                  </a:txBody>
                  <a:tcPr marL="109728" marR="91440" marT="91440">
                    <a:solidFill>
                      <a:srgbClr val="eef3fb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데이터 수집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AI Hub 데이터 확보, 공공데이터(치매안심센터) 연동, 추가 데이터 조사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</a:rPr>
                        <a:t>정상천</a:t>
                      </a:r>
                      <a:endParaRPr sz="1500" b="1">
                        <a:solidFill>
                          <a:srgbClr val="104281"/>
                        </a:solidFill>
                        <a:latin typeface="맑은 고딕"/>
                      </a:endParaRPr>
                    </a:p>
                  </a:txBody>
                  <a:tcPr marL="109728" marR="91440" marT="91440">
                    <a:solidFill>
                      <a:srgbClr val="eef3fb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통계 및 시각화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5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문제인식 통계 시각화, 분석 그래프, 발표자료 제작</a:t>
                      </a:r>
                      <a:endParaRPr sz="1500" b="1">
                        <a:solidFill>
                          <a:srgbClr val="202020"/>
                        </a:solidFill>
                        <a:latin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394960"/>
            <a:ext cx="1051560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300" b="0">
                <a:solidFill>
                  <a:srgbClr val="666666"/>
                </a:solidFill>
                <a:latin typeface="맑은 고딕"/>
                <a:ea typeface="맑은 고딕"/>
              </a:rPr>
              <a:t>주 담당은 있지만 서비스 점검·발표 준비는 전원이 함께 수행</a:t>
            </a:r>
            <a:endParaRPr sz="1300" b="0">
              <a:solidFill>
                <a:srgbClr val="666666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3</a:t>
            </a:r>
            <a:endParaRPr sz="1200" b="0">
              <a:solidFill>
                <a:srgbClr val="666666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502920" y="292608"/>
            <a:ext cx="10515600" cy="33411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CONTENTS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502920" y="621792"/>
            <a:ext cx="11155680" cy="54785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발표 순서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021080" y="1625140"/>
            <a:ext cx="9601200" cy="39223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01  문제의식 — 왜 치매인가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524000" y="2009188"/>
            <a:ext cx="9144000" cy="33797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다른 만성질환과 비교</a:t>
            </a:r>
            <a:r>
              <a:rPr lang="ko-KR" altLang="en-US" sz="1600" b="1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 및 질병 양상 통계분석</a:t>
            </a:r>
            <a:endParaRPr lang="ko-KR" altLang="en-US" sz="1600" b="1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021080" y="2429812"/>
            <a:ext cx="9601200" cy="393603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02  데이터와 분석 질문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524000" y="2813860"/>
            <a:ext cx="9144000" cy="33699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AI Hub 웨어러블 라이프로그 174명, Q1~Q5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021080" y="3234484"/>
            <a:ext cx="9601200" cy="39261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03  분석 결과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524000" y="3618531"/>
            <a:ext cx="9144000" cy="338359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핵심 발견: 활동량이 아니라 '패턴의 불규칙함'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1021080" y="4039155"/>
            <a:ext cx="9601200" cy="39398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04  검증 — </a:t>
            </a:r>
            <a:r>
              <a:rPr lang="ko-KR" alt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분석 질문에 대한 답변</a:t>
            </a:r>
            <a:endParaRPr lang="ko-KR" alt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524000" y="4423204"/>
            <a:ext cx="9144000" cy="337371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치매를 </a:t>
            </a:r>
            <a:r>
              <a:rPr lang="ko-KR" altLang="en-US" sz="1600" b="1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제외했을 때의 정확도</a:t>
            </a:r>
            <a:r>
              <a:rPr lang="en-US" sz="1600" b="1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 / 우연은 아닌가</a:t>
            </a:r>
            <a:endParaRPr lang="en-US" sz="1600" b="1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021080" y="4843828"/>
            <a:ext cx="9601200" cy="39299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05  서비스 시연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524000" y="5227876"/>
            <a:ext cx="9144000" cy="33873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업로드 → 위험 점수</a:t>
            </a:r>
            <a:r>
              <a:rPr lang="ko-KR" altLang="en-US" sz="1600" b="1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 및 결과 분석</a:t>
            </a:r>
            <a:r>
              <a:rPr lang="en-US" sz="1600" b="1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 → 치매안심센터 지도 안내</a:t>
            </a:r>
            <a:endParaRPr lang="en-US" sz="1600" b="1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1021080" y="5648499"/>
            <a:ext cx="9601200" cy="39436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06  결론과 한계, 확장 방향</a:t>
            </a:r>
            <a:endParaRPr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1475720" y="6446520"/>
            <a:ext cx="640080" cy="26668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02920" y="292608"/>
            <a:ext cx="10515600" cy="33411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01. 문제의식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502920" y="621792"/>
            <a:ext cx="11155680" cy="54785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치매는 국내 사망원인 6위 — </a:t>
            </a:r>
            <a:r>
              <a:rPr lang="ko-KR" alt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만성질환 중 </a:t>
            </a:r>
            <a:r>
              <a:rPr lang="en-US" altLang="ko-KR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2</a:t>
            </a:r>
            <a:r>
              <a:rPr lang="ko-KR" alt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위</a:t>
            </a:r>
            <a:endParaRPr lang="ko-KR" altLang="en-US" sz="3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121" name="Google Shape;121;p3" descr="ppt_3_death_rank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222641" y="1554480"/>
            <a:ext cx="9716237" cy="4937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 txBox="1"/>
          <p:nvPr/>
        </p:nvSpPr>
        <p:spPr>
          <a:xfrm>
            <a:off x="11475720" y="6446520"/>
            <a:ext cx="640080" cy="26668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01. 문제의식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지난 10년, 주요 만성질환 중 유일하게 급증 — +175%</a:t>
            </a:r>
            <a:endParaRPr/>
          </a:p>
        </p:txBody>
      </p:sp>
      <p:pic>
        <p:nvPicPr>
          <p:cNvPr descr="ppt_4_change_rate.png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2641" y="1554480"/>
            <a:ext cx="9716237" cy="4937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맑은 고딕"/>
                <a:ea typeface="맑은 고딕"/>
                <a:cs typeface="Malgun Gothic"/>
                <a:sym typeface="Malgun Gothic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01. 문제의식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가장 오래, 가장 비싸게 관리해야 하는 질환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502920" y="6192000"/>
            <a:ext cx="111556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맑은 고딕"/>
                <a:ea typeface="맑은 고딕"/>
                <a:cs typeface="Malgun Gothic"/>
                <a:sym typeface="Malgun Gothic"/>
              </a:rPr>
              <a:t>1인당 연 내원일수 1위(37일) · 1인당 진료비 374만 원 — 당뇨병의 4~6배</a:t>
            </a:r>
            <a:endParaRPr/>
          </a:p>
        </p:txBody>
      </p:sp>
      <p:pic>
        <p:nvPicPr>
          <p:cNvPr descr="ppt_5_visit_days.png"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331" y="1645920"/>
            <a:ext cx="5016137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pt_5_cost.png" id="142" name="Google Shape;1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4491" y="1645920"/>
            <a:ext cx="5016137" cy="4389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맑은 고딕"/>
                <a:ea typeface="맑은 고딕"/>
                <a:cs typeface="Malgun Gothic"/>
                <a:sym typeface="Malgun Gothic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01. 문제의식</a:t>
            </a:r>
            <a:endParaRPr sz="1600" b="1" i="0" u="none" strike="noStrike" cap="none">
              <a:solidFill>
                <a:srgbClr val="2a78d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환자는 늘고, 위험은 균등하지 않다</a:t>
            </a:r>
            <a:endParaRPr sz="3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152" name="Google Shape;152;p6" descr="07_risk_factors_by_demographic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2907393" y="1169670"/>
            <a:ext cx="6376909" cy="485581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 txBox="1"/>
          <p:nvPr/>
        </p:nvSpPr>
        <p:spPr>
          <a:xfrm>
            <a:off x="502920" y="6192000"/>
            <a:ext cx="11155680" cy="38787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ff0000"/>
                </a:solidFill>
                <a:latin typeface="맑은 고딕"/>
                <a:ea typeface="맑은 고딕"/>
                <a:cs typeface="맑은 고딕"/>
                <a:sym typeface="맑은 고딕"/>
              </a:rPr>
              <a:t>병원 검진이 어려운 환경일수록 </a:t>
            </a:r>
            <a:r>
              <a:rPr lang="ko-KR" altLang="en-US" sz="2000" b="1" i="0" u="none" strike="noStrike" cap="none">
                <a:solidFill>
                  <a:srgbClr val="ff0000"/>
                </a:solidFill>
                <a:latin typeface="맑은 고딕"/>
                <a:ea typeface="맑은 고딕"/>
                <a:cs typeface="맑은 고딕"/>
                <a:sym typeface="맑은 고딕"/>
              </a:rPr>
              <a:t>발병 위험이 높음</a:t>
            </a:r>
            <a:endParaRPr lang="ko-KR" altLang="en-US" sz="2000" b="1" i="0" u="none" strike="noStrike" cap="none">
              <a:solidFill>
                <a:srgbClr val="ff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54" name="Google Shape;154;p6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8</a:t>
            </a:r>
            <a:endParaRPr sz="1200" b="0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01. 문제의식</a:t>
            </a:r>
            <a:endParaRPr sz="1600" b="1" i="0" u="none" strike="noStrike" cap="none">
              <a:solidFill>
                <a:srgbClr val="2a78d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우리의 접근 — 병원에 가기 전, 생활 기록으로 먼저 찾</a:t>
            </a:r>
            <a:r>
              <a:rPr lang="ko-KR" alt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도록</a:t>
            </a:r>
            <a:endParaRPr lang="ko-KR" altLang="en-US" sz="3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62" name="Google Shape;162;p7"/>
          <p:cNvSpPr txBox="1"/>
          <p:nvPr/>
        </p:nvSpPr>
        <p:spPr>
          <a:xfrm>
            <a:off x="1066647" y="1808009"/>
            <a:ext cx="10058401" cy="4467061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경도인지장애(MCI) — 기억력은 떨어졌지만 아직 혼자 일상생활이 가능한, 치매 바로 전 단계</a:t>
            </a:r>
            <a:endParaRPr lang="en-US" sz="23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23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이 단계에서 발견해야 진행을 늦출 수 있다 (연 10~15%가 치매로 진행)</a:t>
            </a:r>
            <a:endParaRPr lang="en-US" sz="23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23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그러나 병원 검진이 어려운 사람일수록 발견이 늦다</a:t>
            </a:r>
            <a:endParaRPr lang="en-US" sz="23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19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→ 웨어러블이 자동으로 쌓는 활동·수면 기록만으로 위험 신호를 잡아내,</a:t>
            </a:r>
            <a:endParaRPr lang="en-US" sz="23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   "병원에 가볼 이유가 있는지"를 먼저 알려주는 </a:t>
            </a:r>
            <a:r>
              <a:rPr lang="ko-KR" altLang="en-US" sz="23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조기 발견 모델 개발</a:t>
            </a:r>
            <a:endParaRPr lang="ko-KR" altLang="en-US" sz="23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19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ff0000"/>
                </a:solidFill>
                <a:latin typeface="맑은 고딕"/>
                <a:ea typeface="맑은 고딕"/>
                <a:cs typeface="맑은 고딕"/>
                <a:sym typeface="맑은 고딕"/>
              </a:rPr>
              <a:t>진단이 아</a:t>
            </a:r>
            <a:r>
              <a:rPr lang="ko-KR" altLang="en-US" sz="2000" b="1" i="0" u="none" strike="noStrike" cap="none">
                <a:solidFill>
                  <a:srgbClr val="ff0000"/>
                </a:solidFill>
                <a:latin typeface="맑은 고딕"/>
                <a:ea typeface="맑은 고딕"/>
                <a:cs typeface="맑은 고딕"/>
                <a:sym typeface="맑은 고딕"/>
              </a:rPr>
              <a:t>닌</a:t>
            </a:r>
            <a:r>
              <a:rPr lang="en-US" sz="2000" b="1" i="0" u="none" strike="noStrike" cap="none">
                <a:solidFill>
                  <a:srgbClr val="ff0000"/>
                </a:solidFill>
                <a:latin typeface="맑은 고딕"/>
                <a:ea typeface="맑은 고딕"/>
                <a:cs typeface="맑은 고딕"/>
                <a:sym typeface="맑은 고딕"/>
              </a:rPr>
              <a:t> 스크리닝 — 진단·치료는 전적으로 의료기관의 영역</a:t>
            </a:r>
            <a:endParaRPr lang="en-US" sz="2000" b="1" i="0" u="none" strike="noStrike" cap="none">
              <a:solidFill>
                <a:srgbClr val="ff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63" name="Google Shape;163;p7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9</a:t>
            </a:r>
            <a:endParaRPr sz="1200" b="0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02. 데이터와 분석 질문</a:t>
            </a:r>
            <a:endParaRPr/>
          </a:p>
        </p:txBody>
      </p:sp>
      <p:sp>
        <p:nvSpPr>
          <p:cNvPr id="171" name="Google Shape;171;p8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AI Hub 치매 고위험군 웨어러블 라이프로그</a:t>
            </a:r>
            <a:endParaRPr/>
          </a:p>
        </p:txBody>
      </p:sp>
      <p:graphicFrame>
        <p:nvGraphicFramePr>
          <p:cNvPr id="172" name="Google Shape;172;p8"/>
          <p:cNvGraphicFramePr/>
          <p:nvPr/>
        </p:nvGraphicFramePr>
        <p:xfrm>
          <a:off x="822960" y="16484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{3DE3693A-EF05-4C50-91A9-67FE5D2D02F8}</a:tableStyleId>
              </a:tblPr>
              <a:tblGrid>
                <a:gridCol w="2377450"/>
                <a:gridCol w="8138150"/>
              </a:tblGrid>
              <a:tr h="872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  <a:cs typeface="Malgun Gothic"/>
                          <a:sym typeface="Malgun Gothic"/>
                        </a:rPr>
                        <a:t>수집 도구</a:t>
                      </a:r>
                      <a:endParaRPr b="1" sz="2100" u="none" cap="none" strike="noStrike">
                        <a:solidFill>
                          <a:srgbClr val="10428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28025" marB="45725" marR="91450" marL="16460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  <a:cs typeface="Malgun Gothic"/>
                          <a:sym typeface="Malgun Gothic"/>
                        </a:rPr>
                        <a:t>Oura ring(반지형 웨어러블) — 일 단위 활동·수면 자동 기록</a:t>
                      </a:r>
                      <a:endParaRPr/>
                    </a:p>
                  </a:txBody>
                  <a:tcPr marT="128025" marB="45725" marR="91450" marL="164600" anchor="ctr">
                    <a:solidFill>
                      <a:srgbClr val="FFFFFF"/>
                    </a:solidFill>
                  </a:tcPr>
                </a:tc>
              </a:tr>
              <a:tr h="872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  <a:cs typeface="Malgun Gothic"/>
                          <a:sym typeface="Malgun Gothic"/>
                        </a:rPr>
                        <a:t>규모</a:t>
                      </a:r>
                      <a:endParaRPr/>
                    </a:p>
                  </a:txBody>
                  <a:tcPr marT="128025" marB="45725" marR="91450" marL="16460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  <a:cs typeface="Malgun Gothic"/>
                          <a:sym typeface="Malgun Gothic"/>
                        </a:rPr>
                        <a:t>174명 × 사람당 28~118일(평균 66일) = 11,499 사람×일 기록</a:t>
                      </a:r>
                      <a:endParaRPr b="1" sz="2100" u="none" cap="none" strike="noStrike">
                        <a:solidFill>
                          <a:srgbClr val="20202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28025" marB="45725" marR="91450" marL="164600" anchor="ctr">
                    <a:solidFill>
                      <a:srgbClr val="FFFFFF"/>
                    </a:solidFill>
                  </a:tcPr>
                </a:tc>
              </a:tr>
              <a:tr h="872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  <a:cs typeface="Malgun Gothic"/>
                          <a:sym typeface="Malgun Gothic"/>
                        </a:rPr>
                        <a:t>진단 라벨</a:t>
                      </a:r>
                      <a:endParaRPr/>
                    </a:p>
                  </a:txBody>
                  <a:tcPr marT="128025" marB="45725" marR="91450" marL="16460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  <a:cs typeface="Malgun Gothic"/>
                          <a:sym typeface="Malgun Gothic"/>
                        </a:rPr>
                        <a:t>정상(CN) 111명 · 경도인지장애(MCI) 51명 · 치매(Dem) 12명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  <a:cs typeface="Malgun Gothic"/>
                          <a:sym typeface="Malgun Gothic"/>
                        </a:rPr>
                        <a:t>— 의사 진단</a:t>
                      </a:r>
                      <a:endParaRPr b="1" sz="2100" u="none" cap="none" strike="noStrike">
                        <a:solidFill>
                          <a:srgbClr val="202020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128025" marB="45725" marR="91450" marL="164600" anchor="ctr">
                    <a:solidFill>
                      <a:srgbClr val="FFFFFF"/>
                    </a:solidFill>
                  </a:tcPr>
                </a:tc>
              </a:tr>
              <a:tr h="872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  <a:cs typeface="Malgun Gothic"/>
                          <a:sym typeface="Malgun Gothic"/>
                        </a:rPr>
                        <a:t>분류 대상</a:t>
                      </a:r>
                      <a:endParaRPr/>
                    </a:p>
                  </a:txBody>
                  <a:tcPr marT="128025" marB="45725" marR="91450" marL="16460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  <a:cs typeface="Malgun Gothic"/>
                          <a:sym typeface="Malgun Gothic"/>
                        </a:rPr>
                        <a:t>정상군 111명  vs  위험군(경도인지장애+치매) 63명</a:t>
                      </a:r>
                      <a:endParaRPr/>
                    </a:p>
                  </a:txBody>
                  <a:tcPr marT="128025" marB="45725" marR="91450" marL="164600" anchor="ctr">
                    <a:solidFill>
                      <a:srgbClr val="FFFFFF"/>
                    </a:solidFill>
                  </a:tcPr>
                </a:tc>
              </a:tr>
              <a:tr h="872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  <a:cs typeface="Malgun Gothic"/>
                          <a:sym typeface="Malgun Gothic"/>
                        </a:rPr>
                        <a:t>입력 제외</a:t>
                      </a:r>
                      <a:endParaRPr/>
                    </a:p>
                  </a:txBody>
                  <a:tcPr marT="128025" marB="45725" marR="91450" marL="164600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  <a:cs typeface="Malgun Gothic"/>
                          <a:sym typeface="Malgun Gothic"/>
                        </a:rPr>
                        <a:t>MMSE 검사 점수 — 진단에 이미 쓰인 정답이므로 제외 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  <a:cs typeface="Malgun Gothic"/>
                          <a:sym typeface="Malgun Gothic"/>
                        </a:rPr>
                        <a:t>(순환 논리 방지)</a:t>
                      </a:r>
                      <a:endParaRPr/>
                    </a:p>
                  </a:txBody>
                  <a:tcPr marT="128025" marB="45725" marR="91450" marL="1646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8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맑은 고딕"/>
                <a:ea typeface="맑은 고딕"/>
                <a:cs typeface="Malgun Gothic"/>
                <a:sym typeface="Malgun Gothic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02. 데이터와 분석 질문</a:t>
            </a:r>
            <a:endParaRPr sz="1600" b="1" i="0" u="none" strike="noStrike" cap="none">
              <a:solidFill>
                <a:srgbClr val="2a78d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하루 기록 11,499개를 '사람 단위 지표' 44개로 요약</a:t>
            </a:r>
            <a:endParaRPr sz="3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82" name="Google Shape;182;p9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11</a:t>
            </a:r>
            <a:endParaRPr sz="1200" b="0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82296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  <a:ea typeface="맑은 고딕"/>
              </a:rPr>
              <a:t>① 미착용 필터 — 반지를 3시간 이상 벗어둔 날은 그날 기록 전체를 제외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666666"/>
                </a:solidFill>
                <a:latin typeface="맑은 고딕"/>
                <a:ea typeface="맑은 고딕"/>
              </a:rPr>
              <a:t>     '걸음 0'이 실제가 아니라 가짜 값이기 때문 — 남기면 모델이 엉뚱한 패턴을 학습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  <a:ea typeface="맑은 고딕"/>
              </a:rPr>
              <a:t>② 매칭 — 흩어진 활동·수면·진단 파일을 사람(식별자) 기준으로 연결, 174명 전원 확인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666666"/>
                </a:solidFill>
                <a:latin typeface="맑은 고딕"/>
                <a:ea typeface="맑은 고딕"/>
              </a:rPr>
              <a:t>     세 파일이 따로 제공되어, 연결이 맞아야 라벨과 기록이 짝지어짐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  <a:ea typeface="맑은 고딕"/>
              </a:rPr>
              <a:t>③ 사람 단위 요약 — 사람마다 28~118일로 기록 길이가 달라, 지표별 평균 + 표준편차로 압축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666666"/>
                </a:solidFill>
                <a:latin typeface="맑은 고딕"/>
                <a:ea typeface="맑은 고딕"/>
              </a:rPr>
              <a:t>     평균 = 평소 수준, 표준편차 = 날마다의 들쭉날쭉함(변동성)</a:t>
            </a:r>
          </a:p>
          <a:p>
            <a:pPr>
              <a:spcAft>
                <a:spcPts val="200"/>
              </a:spcAft>
            </a:pPr>
            <a:r>
              <a:rPr sz="1700" b="1">
                <a:solidFill>
                  <a:srgbClr val="202020"/>
                </a:solidFill>
                <a:latin typeface="맑은 고딕"/>
                <a:ea typeface="맑은 고딕"/>
              </a:rPr>
              <a:t>④ 파생 지표 — 취침·기상 시각의 들쭉날쭉함(수면 리듬), 걸음 수 변동계수 생성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666666"/>
                </a:solidFill>
                <a:latin typeface="맑은 고딕"/>
                <a:ea typeface="맑은 고딕"/>
              </a:rPr>
              <a:t>     평균만으로는 '리듬이 무너지는 신호'를 못 봄 — 뒤의 분석에서 핵심 지표가 됨</a:t>
            </a:r>
          </a:p>
          <a:p>
            <a:pPr>
              <a:spcAft>
                <a:spcPts val="600"/>
              </a:spcAft>
            </a:pPr>
            <a:r>
              <a:rPr sz="1900" b="1">
                <a:solidFill>
                  <a:srgbClr val="104281"/>
                </a:solidFill>
                <a:latin typeface="맑은 고딕"/>
                <a:ea typeface="맑은 고딕"/>
              </a:rPr>
              <a:t>→ 174명 × 44개 지표 테이블 완성 — 이후 모든 분석·모델·서비스의 출발점</a:t>
            </a: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666666"/>
                </a:solidFill>
                <a:latin typeface="맑은 고딕"/>
                <a:ea typeface="맑은 고딕"/>
              </a:rPr>
              <a:t>전처리 기준은 전부 코드로 고정 — 같은 원본을 넣으면 누가 실행해도 같은 표가 나온다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02. 데이터와 분석 질문</a:t>
            </a:r>
            <a:endParaRPr b="1" i="0" sz="16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8" name="Google Shape;188;p10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Q1~Q5 — 검증을 통과해야 서비스로 간다</a:t>
            </a:r>
            <a:endParaRPr b="1" i="0" sz="30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11475719" y="6446520"/>
            <a:ext cx="65743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맑은 고딕"/>
                <a:ea typeface="맑은 고딕"/>
                <a:cs typeface="Malgun Gothic"/>
                <a:sym typeface="Malgun Gothic"/>
              </a:rPr>
              <a:t>12</a:t>
            </a:r>
            <a:endParaRPr b="0" i="0" sz="12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914400" y="1737360"/>
            <a:ext cx="914400" cy="394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Q1</a:t>
            </a:r>
            <a:endParaRPr b="1" i="0" sz="20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1920240" y="1755648"/>
            <a:ext cx="9692640" cy="3950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정상/경도인지장애/치매 그룹별로 활동량과 수면 패턴은 어떻게 다른가?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914400" y="2514600"/>
            <a:ext cx="914400" cy="388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Q2</a:t>
            </a:r>
            <a:endParaRPr b="1" i="0" sz="20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1920240" y="2532888"/>
            <a:ext cx="9692640" cy="389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병원 검사(MMSE) 없이 웨어러블 기록만으로 위험군 여부를 걸러낼 수 있는가?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10"/>
          <p:cNvSpPr txBox="1"/>
          <p:nvPr/>
        </p:nvSpPr>
        <p:spPr>
          <a:xfrm>
            <a:off x="914400" y="3291840"/>
            <a:ext cx="914400" cy="392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Q3</a:t>
            </a:r>
            <a:endParaRPr b="1" i="0" sz="20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1920240" y="3310128"/>
            <a:ext cx="969264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웨어러블 지표 중 위험군 판별에 가장 크게 기여하는 지표는 무엇인가?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914400" y="4069080"/>
            <a:ext cx="914400" cy="39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Q4</a:t>
            </a:r>
            <a:endParaRPr b="1" i="0" sz="20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1920240" y="4087368"/>
            <a:ext cx="9692640" cy="692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Q2·Q3의 신호는 치매를 제외한 정상군-경도인지장애군 비교에서도 유지되는가?   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맑은 고딕"/>
                <a:ea typeface="맑은 고딕"/>
                <a:cs typeface="Malgun Gothic"/>
                <a:sym typeface="Malgun Gothic"/>
              </a:rPr>
              <a:t>← 검증 게이트</a:t>
            </a:r>
            <a:endParaRPr b="1" i="0" sz="2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8" name="Google Shape;198;p10"/>
          <p:cNvSpPr txBox="1"/>
          <p:nvPr/>
        </p:nvSpPr>
        <p:spPr>
          <a:xfrm>
            <a:off x="914400" y="4846320"/>
            <a:ext cx="9144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Q5</a:t>
            </a:r>
            <a:endParaRPr b="1" i="0" sz="20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10"/>
          <p:cNvSpPr txBox="1"/>
          <p:nvPr/>
        </p:nvSpPr>
        <p:spPr>
          <a:xfrm>
            <a:off x="1920240" y="4864607"/>
            <a:ext cx="9692640" cy="696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Q2에서 얻는 성능 개선은 우연이 아니라 통계적으로 의미 있는 수준인가?   </a:t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맑은 고딕"/>
                <a:ea typeface="맑은 고딕"/>
                <a:cs typeface="Malgun Gothic"/>
                <a:sym typeface="Malgun Gothic"/>
              </a:rPr>
              <a:t>← 검증 게이트</a:t>
            </a:r>
            <a:endParaRPr b="1" i="0" sz="2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914400" y="5760720"/>
            <a:ext cx="10515600" cy="3714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666666"/>
                </a:solidFill>
                <a:latin typeface="맑은 고딕"/>
                <a:ea typeface="맑은 고딕"/>
                <a:cs typeface="Malgun Gothic"/>
                <a:sym typeface="Malgun Gothic"/>
              </a:rPr>
              <a:t>원칙: Q4·Q5 검증 결과에 따라 서비스가 주장할 수 있는 범위를 규정할 것</a:t>
            </a:r>
            <a:endParaRPr b="1" i="0" sz="19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0" y="0"/>
            <a:ext cx="12191700" cy="146400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03. 분석 결과</a:t>
            </a:r>
            <a:endParaRPr/>
          </a:p>
        </p:txBody>
      </p:sp>
      <p:sp>
        <p:nvSpPr>
          <p:cNvPr id="209" name="Google Shape;209;p11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Q1 · 첫 번째 반전 — 걸음수는 위험군이 오히려 많다</a:t>
            </a:r>
            <a:endParaRPr/>
          </a:p>
        </p:txBody>
      </p:sp>
      <p:pic>
        <p:nvPicPr>
          <p:cNvPr descr="01_activity_by_group.png" id="210" name="Google Shape;2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664208"/>
            <a:ext cx="5669280" cy="453542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 txBox="1"/>
          <p:nvPr/>
        </p:nvSpPr>
        <p:spPr>
          <a:xfrm>
            <a:off x="6675120" y="201168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666666"/>
                </a:solidFill>
                <a:latin typeface="맑은 고딕"/>
                <a:ea typeface="맑은 고딕"/>
                <a:cs typeface="Malgun Gothic"/>
                <a:sym typeface="Malgun Gothic"/>
              </a:rPr>
              <a:t>일평균 걸음수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C44E52"/>
                </a:solidFill>
                <a:latin typeface="맑은 고딕"/>
                <a:ea typeface="맑은 고딕"/>
                <a:cs typeface="Malgun Gothic"/>
                <a:sym typeface="Malgun Gothic"/>
              </a:rPr>
              <a:t>정상 10,635  &lt;  경도인지장애 11,383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1" i="0" sz="2100" u="none" cap="none" strike="noStrike">
              <a:solidFill>
                <a:srgbClr val="C44E52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"활동량이 줄면 위험군"이라는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단순한 가설은 성립하지 않았다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1" i="0" sz="19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→ 평균이 아니라,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   "날마다 얼마나 들쭉날쭉한가"로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   시선을 돌리게 된 계기</a:t>
            </a:r>
            <a:endParaRPr/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666666"/>
                </a:solidFill>
                <a:latin typeface="맑은 고딕"/>
                <a:ea typeface="맑은 고딕"/>
              </a:rPr>
              <a:t>수면효율은 정상 81.8 &gt; 경도 80.3 &gt; 치매 79.1%로 완만히 감소 — 평균 차이는 크지 않다</a:t>
            </a:r>
          </a:p>
        </p:txBody>
      </p:sp>
      <p:sp>
        <p:nvSpPr>
          <p:cNvPr id="212" name="Google Shape;212;p11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맑은 고딕"/>
                <a:ea typeface="맑은 고딕"/>
                <a:cs typeface="Malgun Gothic"/>
                <a:sym typeface="Malgun Gothic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03. 분석 결과</a:t>
            </a:r>
            <a:endParaRPr/>
          </a:p>
        </p:txBody>
      </p:sp>
      <p:sp>
        <p:nvSpPr>
          <p:cNvPr id="230" name="Google Shape;230;p13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Q2 · 걸러낼 수 있는가 — 랜덤포레스트 vs 로지스틱 회귀</a:t>
            </a:r>
            <a:endParaRPr/>
          </a:p>
        </p:txBody>
      </p:sp>
      <p:sp>
        <p:nvSpPr>
          <p:cNvPr id="231" name="Google Shape;231;p13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맑은 고딕"/>
                <a:ea typeface="맑은 고딕"/>
                <a:cs typeface="Malgun Gothic"/>
                <a:sym typeface="Malgun Gothic"/>
              </a:rPr>
              <a:t>14</a:t>
            </a:r>
            <a:endParaRPr/>
          </a:p>
        </p:txBody>
      </p:sp>
      <p:sp>
        <p:nvSpPr>
          <p:cNvPr id="234" name="TextBox 233"/>
          <p:cNvSpPr txBox="1"/>
          <p:nvPr/>
        </p:nvSpPr>
        <p:spPr>
          <a:xfrm>
            <a:off x="6355080" y="164592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  <a:ea typeface="맑은 고딕"/>
              </a:rPr>
              <a:t>어떻게 측정했나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202020"/>
                </a:solidFill>
                <a:latin typeface="맑은 고딕"/>
                <a:ea typeface="맑은 고딕"/>
              </a:rPr>
              <a:t>데이터를 50번 다르게 나눠(5조각×10회) 반복 평가한 평균 — 한 번의 운에 좌우되지 않게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  <a:ea typeface="맑은 고딕"/>
              </a:rPr>
              <a:t>왜 두 모델을 비교했나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202020"/>
                </a:solidFill>
                <a:latin typeface="맑은 고딕"/>
                <a:ea typeface="맑은 고딕"/>
              </a:rPr>
              <a:t>174명 소표본에서 복잡한 모델은 우연한 잡음까지 외울 위험 → 단순한 로지스틱 회귀와 같은 조건에서 비교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  <a:ea typeface="맑은 고딕"/>
              </a:rPr>
              <a:t>주요 결과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202020"/>
                </a:solidFill>
                <a:latin typeface="맑은 고딕"/>
                <a:ea typeface="맑은 고딕"/>
              </a:rPr>
              <a:t>로지스틱 회귀가 모든 지표 우위 — 특히 재현율 38.7 → 52.7%(+14%p)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C00000"/>
                </a:solidFill>
                <a:latin typeface="맑은 고딕"/>
                <a:ea typeface="맑은 고딕"/>
              </a:rPr>
              <a:t>해석 — 위험군 2명 중 1명 이상 탐지</a:t>
            </a:r>
          </a:p>
          <a:p>
            <a:pPr>
              <a:spcAft>
                <a:spcPts val="0"/>
              </a:spcAft>
            </a:pPr>
            <a:r>
              <a:rPr sz="1450" b="1">
                <a:solidFill>
                  <a:srgbClr val="202020"/>
                </a:solidFill>
                <a:latin typeface="맑은 고딕"/>
                <a:ea typeface="맑은 고딕"/>
              </a:rPr>
              <a:t>스크리닝에서는 정확도보다 '위험군을 놓치지 않는 능력'(재현율·AUC)이 핵심 — 놓치면 병원 갈 기회 자체를 잃기 때문</a:t>
            </a:r>
          </a:p>
        </p:txBody>
      </p:sp>
      <p:pic>
        <p:nvPicPr>
          <p:cNvPr id="235" name="Picture 234" descr="ppt_model_comp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612669"/>
            <a:ext cx="5669280" cy="46385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03. 분석 결과</a:t>
            </a:r>
            <a:endParaRPr/>
          </a:p>
        </p:txBody>
      </p:sp>
      <p:sp>
        <p:nvSpPr>
          <p:cNvPr id="219" name="Google Shape;219;p12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Q3 · 핵심 신호는 '생활 패턴의 불규칙함'</a:t>
            </a:r>
            <a:endParaRPr lang="en-US" sz="3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220" name="Google Shape;220;p12" descr="04_feature_importance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804672" y="1554480"/>
            <a:ext cx="5705856" cy="4754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2"/>
          <p:cNvSpPr txBox="1"/>
          <p:nvPr/>
        </p:nvSpPr>
        <p:spPr>
          <a:xfrm>
            <a:off x="6692348" y="2462212"/>
            <a:ext cx="5103412" cy="293941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50번 반복 검증에서 가장 안정적으로 뽑힌 지표</a:t>
            </a:r>
            <a:endParaRPr lang="en-US" sz="1800" b="1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17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1위  저강도 활동 시간의 변동성 (50/50회)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2위  수면 중 뒤척임의 변동성 (48/50회)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17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인지기능이 흔들리면, 매일 비슷하게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자고 움직이는 '일상 루틴 유지 능력'이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먼저 무너진다는 해석과 일치 (상관관계)</a:t>
            </a:r>
            <a:endParaRPr/>
          </a:p>
        </p:txBody>
      </p:sp>
      <p:sp>
        <p:nvSpPr>
          <p:cNvPr id="222" name="Google Shape;222;p12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15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04. 검증</a:t>
            </a:r>
            <a:endParaRPr sz="1600" b="1" i="0" u="none" strike="noStrike" cap="none">
              <a:solidFill>
                <a:srgbClr val="2a78d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41" name="Google Shape;241;p14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Q4 — 치매 12명을 빼도 신호가 남는가?  →  아니오</a:t>
            </a:r>
            <a:endParaRPr sz="3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43" name="Google Shape;243;p14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16</a:t>
            </a:r>
            <a:endParaRPr sz="1200" b="0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44" name="TextBox 243"/>
          <p:cNvSpPr txBox="1"/>
          <p:nvPr/>
        </p:nvSpPr>
        <p:spPr>
          <a:xfrm>
            <a:off x="822960" y="15544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  <a:ea typeface="맑은 고딕"/>
              </a:rPr>
              <a:t>출발점이 된 의심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202020"/>
                </a:solidFill>
                <a:latin typeface="맑은 고딕"/>
                <a:ea typeface="맑은 고딕"/>
              </a:rPr>
              <a:t>"Q2의 성능, 사실은 이미 증상이 뚜렷한 치매 12명 덕분 아닐까?"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  <a:ea typeface="맑은 고딕"/>
              </a:rPr>
              <a:t>검증 방법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  <a:ea typeface="맑은 고딕"/>
              </a:rPr>
              <a:t>치매 12명을 완전히 제외하고, 정상 111명 vs 경도인지장애 51명만으로 같은 방식 재검증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  <a:ea typeface="맑은 고딕"/>
              </a:rPr>
              <a:t>결과 — 세 번 시도, 모두 같은 결론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202020"/>
                </a:solidFill>
                <a:latin typeface="맑은 고딕"/>
                <a:ea typeface="맑은 고딕"/>
              </a:rPr>
              <a:t>정확도 55.3% — '전부 정상'이라 답하는 기준선 68.5%에도 미달 (지표 추가·모델 교체에도 동일)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C00000"/>
                </a:solidFill>
                <a:latin typeface="맑은 고딕"/>
                <a:ea typeface="맑은 고딕"/>
              </a:rPr>
              <a:t>경도인지장애 '단독' 조기 신호는 현재 데이터로는 찾지 못했다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2A78D6"/>
                </a:solidFill>
                <a:latin typeface="맑은 고딕"/>
                <a:ea typeface="맑은 고딕"/>
              </a:rPr>
              <a:t>검증이 실제로 한 일 — 서비스 주장 범위를 바꿨다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202020"/>
                </a:solidFill>
                <a:latin typeface="맑은 고딕"/>
                <a:ea typeface="맑은 고딕"/>
              </a:rPr>
              <a:t>· "경도인지장애를 조기 진단한다"  →  사용 금지</a:t>
            </a:r>
          </a:p>
          <a:p>
            <a:pPr>
              <a:spcAft>
                <a:spcPts val="0"/>
              </a:spcAft>
            </a:pPr>
            <a:r>
              <a:rPr sz="1500" b="1">
                <a:solidFill>
                  <a:srgbClr val="202020"/>
                </a:solidFill>
                <a:latin typeface="맑은 고딕"/>
                <a:ea typeface="맑은 고딕"/>
              </a:rPr>
              <a:t>· "위험군(경도인지장애+치매)을 걸러 검진으로 안내한다"  →  이 범위만 주장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04. 검증</a:t>
            </a:r>
            <a:endParaRPr sz="1600" b="1" i="0" u="none" strike="noStrike" cap="none">
              <a:solidFill>
                <a:srgbClr val="2a78d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502920" y="621792"/>
            <a:ext cx="11689080" cy="100505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Q5 — 우연은 아닌가?  →  구분 능력은 </a:t>
            </a:r>
            <a:r>
              <a:rPr lang="ko-KR" alt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검증 완료</a:t>
            </a: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 </a:t>
            </a:r>
            <a:endParaRPr lang="en-US" sz="3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(우연일 확률 0.6%)</a:t>
            </a:r>
            <a:endParaRPr lang="en-US" sz="3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pic>
        <p:nvPicPr>
          <p:cNvPr id="251" name="Google Shape;251;p15" descr="11_permutation_test.png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640080" y="2144684"/>
            <a:ext cx="6949440" cy="284295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5"/>
          <p:cNvSpPr txBox="1"/>
          <p:nvPr/>
        </p:nvSpPr>
        <p:spPr>
          <a:xfrm>
            <a:off x="7772400" y="1828800"/>
            <a:ext cx="4023360" cy="350329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정답(진단 결과)을 일부러 뒤섞은 가짜 데이터 500개와 비교</a:t>
            </a:r>
            <a:endParaRPr lang="en-US" sz="1800" b="1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1700" b="1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정확도  p = 0.006</a:t>
            </a:r>
            <a:endParaRPr lang="en-US" sz="21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→ 우연히 나올 확률 0.6%. 통과</a:t>
            </a:r>
            <a:endParaRPr lang="en-US" sz="18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17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100" b="1" i="0" u="none" strike="noStrike" cap="none">
                <a:solidFill>
                  <a:srgbClr val="c44e52"/>
                </a:solidFill>
                <a:latin typeface="맑은 고딕"/>
                <a:ea typeface="맑은 고딕"/>
                <a:cs typeface="맑은 고딕"/>
                <a:sym typeface="맑은 고딕"/>
              </a:rPr>
              <a:t>재현율  p = 0.132</a:t>
            </a:r>
            <a:endParaRPr lang="en-US" sz="2100" b="1" i="0" u="none" strike="noStrike" cap="none">
              <a:solidFill>
                <a:srgbClr val="c44e52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→ 통계적으로 단정 불가.</a:t>
            </a:r>
            <a:endParaRPr lang="en-US" sz="18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→ 그래서 "52.7%를 잡아낸다"고</a:t>
            </a:r>
            <a:endParaRPr lang="en-US" sz="18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18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   수치를 못박지 않는다</a:t>
            </a:r>
            <a:endParaRPr sz="18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53" name="Google Shape;253;p15"/>
          <p:cNvSpPr txBox="1"/>
          <p:nvPr/>
        </p:nvSpPr>
        <p:spPr>
          <a:xfrm>
            <a:off x="822960" y="6192000"/>
            <a:ext cx="10607040" cy="38787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ff0000"/>
                </a:solidFill>
                <a:latin typeface="맑은 고딕"/>
                <a:ea typeface="맑은 고딕"/>
                <a:cs typeface="맑은 고딕"/>
                <a:sym typeface="맑은 고딕"/>
              </a:rPr>
              <a:t>숫자를 좋게 만드는 대신, 말할 수 있는 것과 없는 것을 정확히 </a:t>
            </a:r>
            <a:r>
              <a:rPr lang="ko-KR" altLang="en-US" sz="2000" b="1" i="0" u="none" strike="noStrike" cap="none">
                <a:solidFill>
                  <a:srgbClr val="ff0000"/>
                </a:solidFill>
                <a:latin typeface="맑은 고딕"/>
                <a:ea typeface="맑은 고딕"/>
                <a:cs typeface="맑은 고딕"/>
                <a:sym typeface="맑은 고딕"/>
              </a:rPr>
              <a:t>구분</a:t>
            </a:r>
            <a:endParaRPr lang="ko-KR" altLang="en-US" sz="2000" b="1" i="0" u="none" strike="noStrike" cap="none">
              <a:solidFill>
                <a:srgbClr val="ff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54" name="Google Shape;254;p15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17</a:t>
            </a:r>
            <a:endParaRPr sz="1200" b="0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515600" cy="29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400" b="1">
                <a:solidFill>
                  <a:srgbClr val="2a78d6"/>
                </a:solidFill>
                <a:latin typeface="맑은 고딕"/>
                <a:ea typeface="맑은 고딕"/>
              </a:rPr>
              <a:t>05. 서비스</a:t>
            </a:r>
            <a:endParaRPr sz="1400" b="1">
              <a:solidFill>
                <a:srgbClr val="2a78d6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104281"/>
                </a:solidFill>
                <a:latin typeface="맑은 고딕"/>
                <a:ea typeface="맑은 고딕"/>
              </a:rPr>
              <a:t>분석</a:t>
            </a:r>
            <a:r>
              <a:rPr lang="ko-KR" altLang="en-US" sz="3000" b="1">
                <a:solidFill>
                  <a:srgbClr val="104281"/>
                </a:solidFill>
                <a:latin typeface="맑은 고딕"/>
                <a:ea typeface="맑은 고딕"/>
              </a:rPr>
              <a:t> 결과 및 결론</a:t>
            </a:r>
            <a:endParaRPr lang="ko-KR" altLang="en-US" sz="3000" b="1">
              <a:solidFill>
                <a:srgbClr val="10428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108813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566160"/>
                <a:gridCol w="3657600"/>
              </a:tblGrid>
              <a:tr h="658368"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분석·검증 결과</a:t>
                      </a:r>
                      <a:endParaRPr sz="1400" b="1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104281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도출된 필요성</a:t>
                      </a:r>
                      <a:endParaRPr sz="1400" b="1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104281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서비스 기능</a:t>
                      </a:r>
                      <a:endParaRPr sz="1400" b="1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104281"/>
                    </a:solidFill>
                  </a:tcPr>
                </a:tc>
              </a:tr>
              <a:tr h="658368"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</a:rPr>
                        <a:t>생활 패턴의 불규칙함이</a:t>
                      </a:r>
                      <a:endParaRPr sz="1400" b="1">
                        <a:solidFill>
                          <a:srgbClr val="104281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>
                          <a:latin typeface="맑은 고딕"/>
                          <a:ea typeface="맑은 고딕"/>
                        </a:rPr>
                        <a:t>위험군을 가른다 (Q3)</a:t>
                      </a:r>
                      <a:endParaRPr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eef3fb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병원 밖 일상 기록으로</a:t>
                      </a:r>
                      <a:endParaRPr sz="1400" b="1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>
                          <a:latin typeface="맑은 고딕"/>
                          <a:ea typeface="맑은 고딕"/>
                        </a:rPr>
                        <a:t>위험 신호 감지 가능</a:t>
                      </a:r>
                      <a:endParaRPr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웨어러블 기록 업로드</a:t>
                      </a:r>
                      <a:endParaRPr sz="1400" b="1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>
                          <a:latin typeface="맑은 고딕"/>
                          <a:ea typeface="맑은 고딕"/>
                        </a:rPr>
                        <a:t>→ 위험 점수·근거 제시</a:t>
                      </a:r>
                      <a:endParaRPr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</a:rPr>
                        <a:t>경도인지장애 단독 신호는</a:t>
                      </a:r>
                      <a:endParaRPr sz="1400" b="1">
                        <a:solidFill>
                          <a:srgbClr val="104281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>
                          <a:latin typeface="맑은 고딕"/>
                          <a:ea typeface="맑은 고딕"/>
                        </a:rPr>
                        <a:t>미확인 (Q4)</a:t>
                      </a:r>
                      <a:endParaRPr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eef3fb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진단이 아닌 '위험군</a:t>
                      </a:r>
                      <a:endParaRPr sz="1400" b="1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>
                          <a:latin typeface="맑은 고딕"/>
                          <a:ea typeface="맑은 고딕"/>
                        </a:rPr>
                        <a:t>스크리닝'으로 범위 한정</a:t>
                      </a:r>
                      <a:endParaRPr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참고용 판정 + 한계 고지를</a:t>
                      </a:r>
                      <a:endParaRPr sz="1400" b="1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>
                          <a:latin typeface="맑은 고딕"/>
                          <a:ea typeface="맑은 고딕"/>
                        </a:rPr>
                        <a:t>모든 화면에 명시</a:t>
                      </a:r>
                      <a:endParaRPr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</a:rPr>
                        <a:t>위험군 구분 능력은</a:t>
                      </a:r>
                      <a:endParaRPr sz="1400" b="1">
                        <a:solidFill>
                          <a:srgbClr val="104281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>
                          <a:latin typeface="맑은 고딕"/>
                          <a:ea typeface="맑은 고딕"/>
                        </a:rPr>
                        <a:t>통계적으로 유효 (Q5)</a:t>
                      </a:r>
                      <a:endParaRPr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eef3fb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걸러낸 위험군을 검진으로</a:t>
                      </a:r>
                      <a:endParaRPr sz="1400" b="1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>
                          <a:latin typeface="맑은 고딕"/>
                          <a:ea typeface="맑은 고딕"/>
                        </a:rPr>
                        <a:t>연결할 통로 필요</a:t>
                      </a:r>
                      <a:endParaRPr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치매안심센터 지도 안내</a:t>
                      </a:r>
                      <a:endParaRPr sz="1400" b="1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lvl="0">
                        <a:defRPr/>
                      </a:pPr>
                      <a:r>
                        <a:rPr>
                          <a:latin typeface="맑은 고딕"/>
                          <a:ea typeface="맑은 고딕"/>
                        </a:rPr>
                        <a:t>(전국 317곳 공공데이터)</a:t>
                      </a:r>
                      <a:endParaRPr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349240"/>
            <a:ext cx="10972800" cy="678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700" b="1">
                <a:solidFill>
                  <a:srgbClr val="104281"/>
                </a:solidFill>
                <a:latin typeface="맑은 고딕"/>
                <a:ea typeface="맑은 고딕"/>
              </a:rPr>
              <a:t>"생활 패턴의 불규칙함이 위험 신호임을 확인했고, 이를 활용해 위험군을 조기에 걸러</a:t>
            </a:r>
            <a:endParaRPr sz="1700" b="1">
              <a:solidFill>
                <a:srgbClr val="104281"/>
              </a:solidFill>
              <a:latin typeface="맑은 고딕"/>
              <a:ea typeface="맑은 고딕"/>
            </a:endParaRPr>
          </a:p>
          <a:p>
            <a:pPr algn="l">
              <a:spcAft>
                <a:spcPts val="600"/>
              </a:spcAft>
              <a:defRPr/>
            </a:pPr>
            <a:r>
              <a:rPr sz="1700" b="1">
                <a:solidFill>
                  <a:srgbClr val="104281"/>
                </a:solidFill>
                <a:latin typeface="맑은 고딕"/>
                <a:ea typeface="맑은 고딕"/>
              </a:rPr>
              <a:t>  병원 검진으로 연결하는 스크리닝 서비스를 기획하였다"</a:t>
            </a:r>
            <a:endParaRPr sz="1700" b="1">
              <a:solidFill>
                <a:srgbClr val="104281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18</a:t>
            </a:r>
            <a:endParaRPr sz="1200" b="0">
              <a:solidFill>
                <a:srgbClr val="666666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05. 서비스</a:t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웹 스크리닝 서비스(FastAPI) </a:t>
            </a:r>
            <a:endParaRPr lang="en-US" sz="3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2" name="Google Shape;262;p16"/>
          <p:cNvSpPr txBox="1"/>
          <p:nvPr/>
        </p:nvSpPr>
        <p:spPr>
          <a:xfrm>
            <a:off x="900000" y="1691640"/>
            <a:ext cx="4754880" cy="44005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①  생활 기록 CSV 업로드</a:t>
            </a:r>
            <a:endParaRPr sz="23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3" name="Google Shape;263;p16"/>
          <p:cNvSpPr txBox="1"/>
          <p:nvPr/>
        </p:nvSpPr>
        <p:spPr>
          <a:xfrm>
            <a:off x="5120640" y="1692000"/>
            <a:ext cx="6675120" cy="774573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웨어러블에서 내려받은 기록 파일 · 유효 기록 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14일 미만이면 판정하지 않음</a:t>
            </a:r>
            <a:endParaRPr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900000" y="2520000"/>
            <a:ext cx="4754880" cy="4403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②  위험 점수 산출</a:t>
            </a:r>
            <a:endParaRPr sz="23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5" name="Google Shape;265;p16"/>
          <p:cNvSpPr txBox="1"/>
          <p:nvPr/>
        </p:nvSpPr>
        <p:spPr>
          <a:xfrm>
            <a:off x="5120640" y="2520000"/>
            <a:ext cx="6675120" cy="7737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학습과 동일한 지표 계산 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		→ 검증된 모델로 예측 (0~1 점수)</a:t>
            </a:r>
            <a:endParaRPr/>
          </a:p>
        </p:txBody>
      </p:sp>
      <p:sp>
        <p:nvSpPr>
          <p:cNvPr id="266" name="Google Shape;266;p16"/>
          <p:cNvSpPr txBox="1"/>
          <p:nvPr/>
        </p:nvSpPr>
        <p:spPr>
          <a:xfrm>
            <a:off x="914400" y="3348000"/>
            <a:ext cx="4754880" cy="443484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③  판단 근거 제시</a:t>
            </a:r>
            <a:endParaRPr sz="23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5120640" y="3348000"/>
            <a:ext cx="6905456" cy="40011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정상군 평균과 가장 크게 다른 지표 3가지를 그래프로 비교</a:t>
            </a:r>
            <a:endParaRPr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914400" y="4176000"/>
            <a:ext cx="4754880" cy="441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④  치매안심센터 연결</a:t>
            </a:r>
            <a:endParaRPr sz="23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5120640" y="4176000"/>
            <a:ext cx="6675120" cy="77507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공공데이터포털 전국 317곳 연동 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		— 내 위치 기준 가까운 순, 지도 표시</a:t>
            </a:r>
            <a:endParaRPr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914400" y="5004000"/>
            <a:ext cx="4754880" cy="44237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⑤  한계 고지</a:t>
            </a:r>
            <a:endParaRPr sz="23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5120640" y="5004000"/>
            <a:ext cx="6675120" cy="115675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"진단이 아닌 참고용 · 표본 174명" 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		— 모든 결과 화면에 명시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altLang="ko-KR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(</a:t>
            </a:r>
            <a:r>
              <a:rPr lang="ko-KR" alt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추후 데이터 적재를 통한 모델 성능 향상 가능</a:t>
            </a:r>
            <a:r>
              <a:rPr lang="en-US" altLang="ko-KR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)</a:t>
            </a:r>
            <a:endParaRPr lang="en-US" altLang="ko-KR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19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05. 서비스</a:t>
            </a:r>
            <a:endParaRPr b="1" i="0" sz="16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p17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시연 순서</a:t>
            </a:r>
            <a:endParaRPr b="1" i="0" sz="30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1" name="Google Shape;281;p17"/>
          <p:cNvSpPr txBox="1"/>
          <p:nvPr/>
        </p:nvSpPr>
        <p:spPr>
          <a:xfrm>
            <a:off x="868680" y="1716570"/>
            <a:ext cx="10607040" cy="4425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1" i="0" sz="26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1. 샘플 업로드  →  정상/ 위험 예측</a:t>
            </a:r>
            <a:endParaRPr b="1" i="0" sz="26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1" i="0" sz="26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2. 위험 점수 및 추정 이유 분석</a:t>
            </a:r>
            <a:endParaRPr b="1" i="0" sz="26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66666"/>
                </a:solidFill>
                <a:latin typeface="맑은 고딕"/>
                <a:ea typeface="맑은 고딕"/>
                <a:cs typeface="Malgun Gothic"/>
                <a:sym typeface="Malgun Gothic"/>
              </a:rPr>
              <a:t>    		 · 근거: 활동/수면 변동성이 정상군 평균 대비 높음</a:t>
            </a:r>
            <a:endParaRPr b="1" i="0" sz="22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1" i="0" sz="21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3.  "내 위치에서 가까운 센터 찾기"  </a:t>
            </a:r>
            <a:endParaRPr b="1" i="0" sz="26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		→  지도에 가까운 치매안심센터 5곳 + 전화번호</a:t>
            </a:r>
            <a:endParaRPr b="1" i="0" sz="25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1" i="0" sz="20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1" i="0" sz="20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맑은 고딕"/>
                <a:ea typeface="맑은 고딕"/>
                <a:cs typeface="Malgun Gothic"/>
                <a:sym typeface="Malgun Gothic"/>
              </a:rPr>
              <a:t>20</a:t>
            </a:r>
            <a:endParaRPr b="0" i="0" sz="12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05. 서비스</a:t>
            </a:r>
            <a:endParaRPr/>
          </a:p>
        </p:txBody>
      </p:sp>
      <p:sp>
        <p:nvSpPr>
          <p:cNvPr id="289" name="Google Shape;289;p18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시연 화면 ① — 업로드 → 위험 점수 → 판단 근거</a:t>
            </a:r>
            <a:endParaRPr/>
          </a:p>
        </p:txBody>
      </p:sp>
      <p:pic>
        <p:nvPicPr>
          <p:cNvPr id="290" name="Google Shape;2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0314" y="1645920"/>
            <a:ext cx="555094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1296" y="1645920"/>
            <a:ext cx="4900389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8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맑은 고딕"/>
                <a:ea typeface="맑은 고딕"/>
                <a:cs typeface="Malgun Gothic"/>
                <a:sym typeface="Malgun Gothic"/>
              </a:rPr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502920" y="29260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05. 서비스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502920" y="621792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시연 화면 ② — 내 기록 추이 → 치매안심센터 안내</a:t>
            </a:r>
            <a:endParaRPr/>
          </a:p>
        </p:txBody>
      </p:sp>
      <p:pic>
        <p:nvPicPr>
          <p:cNvPr id="300" name="Google Shape;3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1553" y="1645920"/>
            <a:ext cx="4744601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1914" y="1645920"/>
            <a:ext cx="4638532" cy="438912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9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맑은 고딕"/>
                <a:ea typeface="맑은 고딕"/>
                <a:cs typeface="Malgun Gothic"/>
                <a:sym typeface="Malgun Gothic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515600" cy="296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400" b="1">
                <a:solidFill>
                  <a:srgbClr val="2a78d6"/>
                </a:solidFill>
                <a:latin typeface="맑은 고딕"/>
                <a:ea typeface="맑은 고딕"/>
              </a:rPr>
              <a:t>05. 서비스</a:t>
            </a:r>
            <a:endParaRPr sz="1400" b="1">
              <a:solidFill>
                <a:srgbClr val="2a78d6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3000" b="1">
                <a:solidFill>
                  <a:srgbClr val="104281"/>
                </a:solidFill>
                <a:latin typeface="맑은 고딕"/>
                <a:ea typeface="맑은 고딕"/>
              </a:rPr>
              <a:t>데이터베이스 구축 — Oracle XE + SQLite</a:t>
            </a:r>
            <a:endParaRPr sz="3000" b="1">
              <a:solidFill>
                <a:srgbClr val="104281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760720"/>
                <a:gridCol w="1828800"/>
              </a:tblGrid>
              <a:tr h="658368"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endParaRPr sz="1400" b="1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104281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  <a:endParaRPr sz="1400" b="1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104281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104281"/>
                    </a:solidFill>
                  </a:tcPr>
                </a:tc>
              </a:tr>
              <a:tr h="658368"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</a:rPr>
                        <a:t>TBL_RAW_ACTIVITY / SLEEP</a:t>
                      </a:r>
                      <a:endParaRPr sz="1400" b="1">
                        <a:solidFill>
                          <a:srgbClr val="10428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eef3fb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원천 라이프로그 보관 (Oracle 스테이징)</a:t>
                      </a:r>
                      <a:endParaRPr sz="1400" b="1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각 12,183행</a:t>
                      </a:r>
                      <a:endParaRPr sz="1400" b="1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</a:rPr>
                        <a:t>TBL_RAW_MMSE / LABEL</a:t>
                      </a:r>
                      <a:endParaRPr sz="1400" b="1">
                        <a:solidFill>
                          <a:srgbClr val="10428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eef3fb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검사·진단 원천 보관 — MMSE는 학습 입력에서 제외</a:t>
                      </a:r>
                      <a:endParaRPr sz="1400" b="1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각 174행</a:t>
                      </a:r>
                      <a:endParaRPr sz="1400" b="1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</a:rPr>
                        <a:t>TBL_DEMENTIA_CENTER</a:t>
                      </a:r>
                      <a:endParaRPr sz="1400" b="1">
                        <a:solidFill>
                          <a:srgbClr val="10428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eef3fb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치매안심센터 공공데이터 — 서비스 지도 안내에 사용</a:t>
                      </a:r>
                      <a:endParaRPr sz="1400" b="1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317행</a:t>
                      </a:r>
                      <a:endParaRPr sz="1400" b="1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104281"/>
                          </a:solidFill>
                          <a:latin typeface="맑은 고딕"/>
                          <a:ea typeface="맑은 고딕"/>
                        </a:rPr>
                        <a:t>uploads / upload_daily</a:t>
                      </a:r>
                      <a:endParaRPr sz="1400" b="1">
                        <a:solidFill>
                          <a:srgbClr val="10428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eef3fb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서비스 업로드 자동 적재 (SQLite) — 재학습 재료</a:t>
                      </a:r>
                      <a:endParaRPr sz="1400" b="1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  <a:tc>
                  <a:txBody>
                    <a:bodyPr vert="horz" lIns="109728" tIns="91440" rIns="91440" bIns="45720" anchor="t" anchorCtr="0"/>
                    <a:p>
                      <a:pPr lvl="0">
                        <a:defRPr/>
                      </a:pPr>
                      <a:r>
                        <a:rPr sz="1400" b="1">
                          <a:solidFill>
                            <a:srgbClr val="202020"/>
                          </a:solidFill>
                          <a:latin typeface="맑은 고딕"/>
                          <a:ea typeface="맑은 고딕"/>
                        </a:rPr>
                        <a:t>실시간 누적</a:t>
                      </a:r>
                      <a:endParaRPr sz="1400" b="1">
                        <a:solidFill>
                          <a:srgbClr val="20202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109728" marR="91440" marT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394960"/>
            <a:ext cx="109728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/>
            </a:pPr>
            <a:r>
              <a:rPr sz="1600" b="1">
                <a:solidFill>
                  <a:srgbClr val="104281"/>
                </a:solidFill>
                <a:latin typeface="맑은 고딕"/>
                <a:ea typeface="맑은 고딕"/>
              </a:rPr>
              <a:t>원천 보관(Oracle) · 서비스 조회(센터 데이터) · 신규 수집(업로드 적재) — 세 층으로 분리 구축</a:t>
            </a:r>
            <a:endParaRPr sz="1600" b="1">
              <a:solidFill>
                <a:srgbClr val="104281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/>
            </a:pPr>
            <a:r>
              <a:rPr sz="1200" b="0">
                <a:solidFill>
                  <a:srgbClr val="666666"/>
                </a:solidFill>
                <a:latin typeface="맑은 고딕"/>
                <a:ea typeface="맑은 고딕"/>
              </a:rPr>
              <a:t>23</a:t>
            </a:r>
            <a:endParaRPr sz="1200" b="0">
              <a:solidFill>
                <a:srgbClr val="666666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05. 서비스</a:t>
            </a:r>
            <a:endParaRPr b="1" i="0" sz="16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적재·재학습 파이프라인 </a:t>
            </a:r>
            <a:endParaRPr b="1" i="0" sz="30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0" name="Google Shape;310;p20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66666"/>
                </a:solidFill>
                <a:latin typeface="맑은 고딕"/>
                <a:ea typeface="맑은 고딕"/>
                <a:cs typeface="Malgun Gothic"/>
                <a:sym typeface="Malgun Gothic"/>
              </a:rPr>
              <a:t>24</a:t>
            </a:r>
            <a:endParaRPr b="0" i="0" sz="1200" u="none" cap="none" strike="noStrike">
              <a:solidFill>
                <a:srgbClr val="66666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1248950" y="4882515"/>
            <a:ext cx="10607042" cy="15640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원칙: 확진 라벨 없는 데이터는 학습에 쓰지 않는다 </a:t>
            </a:r>
            <a:endParaRPr b="1" i="0" sz="19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— 모델이 자기 예측을 정답처럼 배우는 데이터 오염 방지</a:t>
            </a:r>
            <a:endParaRPr b="1" i="0" sz="17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1" i="0" sz="17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A78D6"/>
                </a:solidFill>
                <a:latin typeface="맑은 고딕"/>
                <a:ea typeface="맑은 고딕"/>
                <a:cs typeface="Malgun Gothic"/>
                <a:sym typeface="Malgun Gothic"/>
              </a:rPr>
              <a:t>"데이터 표본 부족 문제의 한계는, 서비스가 돌수록 스스로 풀리는 구조"</a:t>
            </a:r>
            <a:endParaRPr b="1" i="0" sz="2200" u="none" cap="none" strike="noStrike">
              <a:solidFill>
                <a:srgbClr val="2A78D6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411480" y="2148840"/>
            <a:ext cx="1975104" cy="1371600"/>
          </a:xfrm>
          <a:prstGeom prst="roundRect">
            <a:avLst>
              <a:gd fmla="val 16667" name="adj"/>
            </a:avLst>
          </a:prstGeom>
          <a:solidFill>
            <a:srgbClr val="EEF3FB"/>
          </a:solidFill>
          <a:ln cap="flat" cmpd="sng" w="25400">
            <a:solidFill>
              <a:srgbClr val="2A78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① 기록 업로드</a:t>
            </a:r>
            <a:endParaRPr b="1" i="0" sz="17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사용자가 CSV 업로드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2395728" y="2606040"/>
            <a:ext cx="384048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3C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2788920" y="2148840"/>
            <a:ext cx="1975104" cy="1371600"/>
          </a:xfrm>
          <a:prstGeom prst="roundRect">
            <a:avLst>
              <a:gd fmla="val 16667" name="adj"/>
            </a:avLst>
          </a:prstGeom>
          <a:solidFill>
            <a:srgbClr val="EEF3FB"/>
          </a:solidFill>
          <a:ln cap="flat" cmpd="sng" w="25400">
            <a:solidFill>
              <a:srgbClr val="2A78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② 예측+자동 적재</a:t>
            </a:r>
            <a:endParaRPr b="1" i="0" sz="17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예측과 동시에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DB 익명 저장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4773168" y="2606040"/>
            <a:ext cx="384048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3C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5166360" y="2148840"/>
            <a:ext cx="1975104" cy="1371600"/>
          </a:xfrm>
          <a:prstGeom prst="roundRect">
            <a:avLst>
              <a:gd fmla="val 16667" name="adj"/>
            </a:avLst>
          </a:prstGeom>
          <a:solidFill>
            <a:srgbClr val="EEF3FB"/>
          </a:solidFill>
          <a:ln cap="flat" cmpd="sng" w="25400">
            <a:solidFill>
              <a:srgbClr val="2A78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③ 확진 라벨 연결</a:t>
            </a:r>
            <a:endParaRPr b="1" i="0" sz="17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기관이 검진 결과 입력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7150608" y="2606040"/>
            <a:ext cx="384048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3C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7543800" y="2148840"/>
            <a:ext cx="1975104" cy="1371600"/>
          </a:xfrm>
          <a:prstGeom prst="roundRect">
            <a:avLst>
              <a:gd fmla="val 16667" name="adj"/>
            </a:avLst>
          </a:prstGeom>
          <a:solidFill>
            <a:srgbClr val="EEF3FB"/>
          </a:solidFill>
          <a:ln cap="flat" cmpd="sng" w="25400">
            <a:solidFill>
              <a:srgbClr val="2A78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④ 재학습</a:t>
            </a:r>
            <a:endParaRPr b="1" i="0" sz="17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라벨 데이터만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기존 174명과 결합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9528048" y="2606040"/>
            <a:ext cx="384048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9C3C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1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9921240" y="2148840"/>
            <a:ext cx="1975104" cy="1371600"/>
          </a:xfrm>
          <a:prstGeom prst="roundRect">
            <a:avLst>
              <a:gd fmla="val 16667" name="adj"/>
            </a:avLst>
          </a:prstGeom>
          <a:solidFill>
            <a:srgbClr val="E7F3EA"/>
          </a:solidFill>
          <a:ln cap="flat" cmpd="sng" w="25400">
            <a:solidFill>
              <a:srgbClr val="2E7D4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54850" spcFirstLastPara="1" rIns="548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2E7D43"/>
                </a:solidFill>
                <a:latin typeface="맑은 고딕"/>
                <a:ea typeface="맑은 고딕"/>
                <a:cs typeface="Malgun Gothic"/>
                <a:sym typeface="Malgun Gothic"/>
              </a:rPr>
              <a:t>⑤ 모델 교체</a:t>
            </a:r>
            <a:endParaRPr b="1" i="0" sz="1700" u="none" cap="none" strike="noStrike">
              <a:solidFill>
                <a:srgbClr val="2E7D43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백업 후 교체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202020"/>
                </a:solidFill>
                <a:latin typeface="맑은 고딕"/>
                <a:ea typeface="맑은 고딕"/>
                <a:cs typeface="Malgun Gothic"/>
                <a:sym typeface="Malgun Gothic"/>
              </a:rPr>
              <a:t>→ 서비스 반영</a:t>
            </a:r>
            <a:endParaRPr b="1" i="0" sz="1400" u="none" cap="none" strike="noStrike">
              <a:solidFill>
                <a:srgbClr val="20202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2587752" y="3818034"/>
            <a:ext cx="7929438" cy="695324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DCE8F8"/>
          </a:solidFill>
          <a:ln cap="flat" cmpd="sng" w="19050">
            <a:solidFill>
              <a:srgbClr val="2A78D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4281"/>
                </a:solidFill>
                <a:latin typeface="맑은 고딕"/>
                <a:ea typeface="맑은 고딕"/>
                <a:cs typeface="Malgun Gothic"/>
                <a:sym typeface="Malgun Gothic"/>
              </a:rPr>
              <a:t>서비스가 돌수록 반복 — 데이터 적재 및 모델 성능 향상</a:t>
            </a:r>
            <a:endParaRPr b="1" i="0" sz="1600" u="none" cap="none" strike="noStrike">
              <a:solidFill>
                <a:srgbClr val="10428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0" y="0"/>
            <a:ext cx="12191700" cy="146400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06. 결론 및 확장</a:t>
            </a:r>
            <a:endParaRPr sz="1600" b="1" i="0" u="none" strike="noStrike" cap="none">
              <a:solidFill>
                <a:srgbClr val="2a78d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숫자가 아</a:t>
            </a:r>
            <a:r>
              <a:rPr lang="ko-KR" alt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닌</a:t>
            </a: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, </a:t>
            </a:r>
            <a:r>
              <a:rPr lang="ko-KR" alt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신뢰 가능한</a:t>
            </a: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 절차</a:t>
            </a:r>
            <a:r>
              <a:rPr lang="ko-KR" alt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를 만들었습니다</a:t>
            </a:r>
            <a:endParaRPr lang="ko-KR" altLang="en-US" sz="3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914400" y="1691640"/>
            <a:ext cx="10607040" cy="500251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확인한 것</a:t>
            </a:r>
            <a:endParaRPr lang="en-US" sz="2200" b="1" i="0" u="none" strike="noStrike" cap="none">
              <a:solidFill>
                <a:srgbClr val="2a78d6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· 활동량 평균이 아니라 "생활 패턴의 불규칙함"이 위험군을 가른다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· 그 구분 능력은 우연이 아니다 (우연일 확률 0.6%)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18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2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한계</a:t>
            </a:r>
            <a:endParaRPr lang="en-US" sz="2200" b="1" i="0" u="none" strike="noStrike" cap="none">
              <a:solidFill>
                <a:srgbClr val="2a78d6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· 표본 174명(치매 12명), 한 지역·</a:t>
            </a:r>
            <a:r>
              <a:rPr lang="ko-KR" alt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일시적인</a:t>
            </a: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 데이터 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		— 일반화에는 더 큰 데이터 필요(임상 실험</a:t>
            </a:r>
            <a:r>
              <a:rPr lang="ko-KR" alt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 절차</a:t>
            </a: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 부족)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· 경도인지장애 단독 조기 신호는 미확인 · 재현율 수치는 통계적으로 미확정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18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2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그래서 진짜 산출물은</a:t>
            </a:r>
            <a:endParaRPr lang="en-US" sz="2200" b="1" i="0" u="none" strike="noStrike" cap="none">
              <a:solidFill>
                <a:srgbClr val="2a78d6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· "시험 문제를 미리 본 셈"인 데이터 누수 실수를 스스로 찾아 고치고, </a:t>
            </a:r>
            <a:endParaRPr lang="en-US" sz="2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우연 여부까지 검증한 분석 절차</a:t>
            </a:r>
            <a:endParaRPr lang="en-US" sz="2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· 병원·기관의 정식 데이터가 들어오면 그대로 재학습·재검증 가능</a:t>
            </a:r>
            <a:endParaRPr lang="en-US" sz="2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25</a:t>
            </a:r>
            <a:endParaRPr sz="1200" b="0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wrap="square" lIns="91424" tIns="45700" rIns="91424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 txBox="1"/>
          <p:nvPr/>
        </p:nvSpPr>
        <p:spPr>
          <a:xfrm>
            <a:off x="502920" y="292608"/>
            <a:ext cx="10515600" cy="3341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 i="0" u="none" strike="noStrike" cap="none">
                <a:solidFill>
                  <a:srgbClr val="2a78d6"/>
                </a:solidFill>
                <a:latin typeface="맑은 고딕"/>
                <a:ea typeface="맑은 고딕"/>
                <a:cs typeface="맑은 고딕"/>
                <a:sym typeface="맑은 고딕"/>
              </a:rPr>
              <a:t>06. 결론 및 확장</a:t>
            </a:r>
            <a:endParaRPr sz="1600" b="1" i="0" u="none" strike="noStrike" cap="none">
              <a:solidFill>
                <a:srgbClr val="2a78d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338" name="Google Shape;338;p22"/>
          <p:cNvSpPr txBox="1"/>
          <p:nvPr/>
        </p:nvSpPr>
        <p:spPr>
          <a:xfrm>
            <a:off x="502920" y="621792"/>
            <a:ext cx="11155680" cy="54787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스크리닝에서 끝나지 않는다 — 2단계 로드맵</a:t>
            </a:r>
            <a:endParaRPr sz="30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914400" y="2058228"/>
            <a:ext cx="10903352" cy="385489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1단계 (이번 구현)  —  스크리닝</a:t>
            </a:r>
            <a:endParaRPr lang="en-US" sz="23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생활 기록 업로드 → 위험 신호 확인 → 치매안심센터 연결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18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300" b="1" i="0" u="none" strike="noStrike" cap="none">
                <a:solidFill>
                  <a:srgbClr val="104281"/>
                </a:solidFill>
                <a:latin typeface="맑은 고딕"/>
                <a:ea typeface="맑은 고딕"/>
                <a:cs typeface="맑은 고딕"/>
                <a:sym typeface="맑은 고딕"/>
              </a:rPr>
              <a:t>2단계 (사업 확장 방향)  —  웨어러블 연계 모니터링</a:t>
            </a:r>
            <a:endParaRPr lang="en-US" sz="2300" b="1" i="0" u="none" strike="noStrike" cap="none">
              <a:solidFill>
                <a:srgbClr val="104281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· 위험군 판정자가 웨어러블을 계속 착용, 악화 시점을 놓치지 않고 재안</a:t>
            </a:r>
            <a:r>
              <a:rPr lang="ko-KR" alt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내</a:t>
            </a:r>
            <a:endParaRPr lang="ko-KR" alt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· 데이터 적재·재학습 루프는 이번에 구현 완료 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			— 검진 결과가 연결될수록 모델이 계속 좋아지는 구조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202020"/>
                </a:solidFill>
                <a:latin typeface="맑은 고딕"/>
                <a:ea typeface="맑은 고딕"/>
                <a:cs typeface="맑은 고딕"/>
                <a:sym typeface="맑은 고딕"/>
              </a:rPr>
              <a:t>· 요양기관·치매안심센터 제휴, 개인/기관용 구독형 대시보드</a:t>
            </a:r>
            <a:endParaRPr lang="en-US" sz="20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endParaRPr sz="1800" b="1" i="0" u="none" strike="noStrike" cap="none">
              <a:solidFill>
                <a:srgbClr val="202020"/>
              </a:solidFill>
              <a:latin typeface="맑은 고딕"/>
              <a:ea typeface="맑은 고딕"/>
              <a:cs typeface="맑은 고딕"/>
              <a:sym typeface="맑은 고딕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  <a:defRPr/>
            </a:pPr>
            <a:r>
              <a:rPr lang="en-US" sz="2000" b="1" i="0" u="none" strike="noStrike" cap="none">
                <a:solidFill>
                  <a:srgbClr val="ff0000"/>
                </a:solidFill>
                <a:latin typeface="맑은 고딕"/>
                <a:ea typeface="맑은 고딕"/>
                <a:cs typeface="맑은 고딕"/>
                <a:sym typeface="맑은 고딕"/>
              </a:rPr>
              <a:t>필요한 것: 더 큰 정식 데이터 · 나이/성별/학력 정보 · 실제 발병 여부를 따라가는 추적 검증</a:t>
            </a:r>
            <a:endParaRPr sz="2000" b="1" i="0" u="none" strike="noStrike" cap="none">
              <a:solidFill>
                <a:srgbClr val="ff0000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11475720" y="6446520"/>
            <a:ext cx="640080" cy="266700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i="0" u="none" strike="noStrike" cap="none">
                <a:solidFill>
                  <a:srgbClr val="666666"/>
                </a:solidFill>
                <a:latin typeface="맑은 고딕"/>
                <a:ea typeface="맑은 고딕"/>
                <a:cs typeface="맑은 고딕"/>
                <a:sym typeface="맑은 고딕"/>
              </a:rPr>
              <a:t>26</a:t>
            </a:r>
            <a:endParaRPr sz="1200" b="0" i="0" u="none" strike="noStrike" cap="none">
              <a:solidFill>
                <a:srgbClr val="666666"/>
              </a:solidFill>
              <a:latin typeface="맑은 고딕"/>
              <a:ea typeface="맑은 고딕"/>
              <a:cs typeface="맑은 고딕"/>
              <a:sym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latin typeface="맑은 고딕"/>
                <a:ea typeface="맑은 고딕"/>
              </a:rP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914400" y="2651760"/>
            <a:ext cx="10332720" cy="12230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0" u="none" cap="none" strike="noStrike">
                <a:solidFill>
                  <a:srgbClr val="FFFFFF"/>
                </a:solidFill>
                <a:latin typeface="맑은 고딕"/>
                <a:ea typeface="맑은 고딕"/>
                <a:cs typeface="Malgun Gothic"/>
                <a:sym typeface="Malgun Gothic"/>
              </a:rPr>
              <a:t>감사합니다</a:t>
            </a:r>
            <a:endParaRPr b="1" i="0" sz="74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929639" y="4546240"/>
            <a:ext cx="10332720" cy="5191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BFD4F0"/>
                </a:solidFill>
                <a:latin typeface="맑은 고딕"/>
                <a:ea typeface="맑은 고딕"/>
                <a:cs typeface="Malgun Gothic"/>
                <a:sym typeface="Malgun Gothic"/>
              </a:rPr>
              <a:t>Q&amp;A  |  팀 찾아조</a:t>
            </a:r>
            <a:endParaRPr b="1" i="0" sz="2800" u="none" cap="none" strike="noStrike">
              <a:solidFill>
                <a:srgbClr val="BFD4F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</ep:Words>
  <ep:PresentationFormat/>
  <ep:Paragraphs>3</ep:Paragraphs>
  <ep:Slides>27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ep:HeadingPairs>
  <ep:TitlesOfParts>
    <vt:vector size="2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cp:lastModifiedBy>fid0109</cp:lastModifiedBy>
  <dcterms:modified xsi:type="dcterms:W3CDTF">2026-08-19T01:41:09.319</dcterms:modified>
  <cp:revision>8</cp:revision>
  <cp:version>1000.0000.01</cp:version>
</cp:coreProperties>
</file>