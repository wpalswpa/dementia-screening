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75" r:id="rId27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6" r:id="rId28"/>
    <p:sldId id="277" r:id="rId29"/>
    <p:sldId id="278" r:id="rId30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9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안녕하세요, 찾아조입니다. 저희는 병원 검사 없이 웨어러블 생활 기록만으로 치매 위험 신호를 걸러내는 스크리닝 서비스를 만들었습니다.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치매(알츠하이머병)는 단순 노화가 아니라 실제 사망원인 6위 질환입니다. 당뇨병, 고혈압보다 높습니다.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다른 만성질환은 관리가 되며 증가세가 둔화되는 동안, 알츠하이머병 사망률만 10년 새 175% 급증했습니다. 왜 하필 지금, 왜 하필 치매인가에 대한 답입니다.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고령·여성·농촌·독거·저학력일수록 유병률이 높습니다. 정기 검진에 의존하는 현재 체계는 정작 고위험군을 놓치기 쉽습니다. 여기가 저희 프로젝트의 출발점입니다.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설계 결정 하나: MMSE 점수는 의사가 진단 라벨을 매길 때 쓴 검사라, 입력에 넣으면 정답을 보고 정답을 맞히는 셈입니다. 병원 검사 없이 걸러낸다는 취지에 맞게 활동·수면 기록만 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저희도 처음에 의외였고, 그래서 숨기지 않고 그대로 보여드립니다. 이 반전이 분석의 방향을 바꿨습니다.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대비: 정확도가 베이스라인보다 낮은 이유 — 무조건 정상 찍는 모델은 위험군을 한 명도 못 잡습니다. 스크리닝 도구로는 무의미합니다.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게이트 질문 대비: 검증의 목적은 무엇을 주장해도 되는지 정하는 것이었고, 정확히 그렇게 작동했습니다. 검증 결과가 실제로 서비스 문구를 바꿨습니다.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상용화 관점 질문 대비: 업로드가 일회성으로 사라지지 않고 DB에 쌓이며, 검진 확진 결과가 연결된 데이터만 재학습에 씁니다. 라벨 없이 학습하면 모델이 자기 예측을 정답처럼 배우는 오염이 생기기 때문입니다. 전체 루프(적재→라벨→재학습→모델 교체)를 실제로 구현하고 테스트까지 마쳤습니다.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맑은 고딕"/>
              </a:rPr>
              <a:t>치매 위험 조기 스크리닝 서비스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BFD4F0"/>
                </a:solidFill>
                <a:latin typeface="맑은 고딕"/>
              </a:rPr>
              <a:t>웨어러블 생활 기록만으로, 병원에 가볼 이유를 먼저 알려주는 서비스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팀 찾아조  |  이제민(팀장·총괄) · 조성기(데이터) · 박용민(모델링) · 정상천(서비스·발표)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발표 순서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002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02020"/>
                </a:solidFill>
                <a:latin typeface="맑은 고딕"/>
              </a:rPr>
              <a:t>01  문제의식 — 왜 치매인가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98424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66666"/>
                </a:solidFill>
                <a:latin typeface="맑은 고딕"/>
              </a:rPr>
              <a:t>다른 만성질환과 비교해도 유독 심각한 질환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0487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02020"/>
                </a:solidFill>
                <a:latin typeface="맑은 고딕"/>
              </a:rPr>
              <a:t>02  데이터와 분석 질문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788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66666"/>
                </a:solidFill>
                <a:latin typeface="맑은 고딕"/>
              </a:rPr>
              <a:t>AI Hub 웨어러블 라이프로그 174명, Q1~Q6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954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02020"/>
                </a:solidFill>
                <a:latin typeface="맑은 고딕"/>
              </a:rPr>
              <a:t>03  분석 결과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593591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66666"/>
                </a:solidFill>
                <a:latin typeface="맑은 고딕"/>
              </a:rPr>
              <a:t>핵심 발견: 활동량이 아니라 '패턴의 불규칙함'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014215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02020"/>
                </a:solidFill>
                <a:latin typeface="맑은 고딕"/>
              </a:rPr>
              <a:t>04  검증 — 스스로에게 던진 두 가지 질문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4398264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66666"/>
                </a:solidFill>
                <a:latin typeface="맑은 고딕"/>
              </a:rPr>
              <a:t>치매를 빼도 남는가 / 우연은 아닌가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81888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02020"/>
                </a:solidFill>
                <a:latin typeface="맑은 고딕"/>
              </a:rPr>
              <a:t>05  서비스 시연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5202936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66666"/>
                </a:solidFill>
                <a:latin typeface="맑은 고딕"/>
              </a:rPr>
              <a:t>업로드 → 위험 점수 → 치매안심센터 지도 안내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62355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02020"/>
                </a:solidFill>
                <a:latin typeface="맑은 고딕"/>
              </a:rPr>
              <a:t>06  결론과 한계, 확장 방향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01. 문제의식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치매는 국내 사망원인 6위 — 당뇨병보다 높다</a:t>
            </a:r>
          </a:p>
        </p:txBody>
      </p:sp>
      <p:pic>
        <p:nvPicPr>
          <p:cNvPr id="5" name="Picture 4" descr="00_1_cause_of_death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745" y="1463040"/>
            <a:ext cx="711203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01. 문제의식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지난 10년, 주요 만성질환 중 유일하게 급증 — +175%</a:t>
            </a:r>
          </a:p>
        </p:txBody>
      </p:sp>
      <p:pic>
        <p:nvPicPr>
          <p:cNvPr id="5" name="Picture 4" descr="00_3_chronic_disease_mortality_change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745" y="1463040"/>
            <a:ext cx="711203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01. 문제의식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가장 오래, 가장 비싸게 관리해야 하는 질환</a:t>
            </a:r>
          </a:p>
        </p:txBody>
      </p:sp>
      <p:pic>
        <p:nvPicPr>
          <p:cNvPr id="5" name="Picture 4" descr="00_4_visit_day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95103"/>
            <a:ext cx="5760720" cy="4073634"/>
          </a:xfrm>
          <a:prstGeom prst="rect">
            <a:avLst/>
          </a:prstGeom>
        </p:spPr>
      </p:pic>
      <p:pic>
        <p:nvPicPr>
          <p:cNvPr id="6" name="Picture 5" descr="00_5_medical_cost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95103"/>
            <a:ext cx="5760720" cy="40736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C44E52"/>
                </a:solidFill>
                <a:latin typeface="맑은 고딕"/>
              </a:rPr>
              <a:t>1인당 연 내원일수 1위(37일) · 1인당 진료비 374만 원 — 당뇨병의 4~6배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01. 문제의식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환자는 늘고, 위험은 균등하지 않다</a:t>
            </a:r>
          </a:p>
        </p:txBody>
      </p:sp>
      <p:pic>
        <p:nvPicPr>
          <p:cNvPr id="5" name="Picture 4" descr="07_risk_factors_by_dem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664" y="1463040"/>
            <a:ext cx="6004192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12648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C44E52"/>
                </a:solidFill>
                <a:latin typeface="맑은 고딕"/>
              </a:rPr>
              <a:t>무학 21.3% vs 대졸 1.4% — 병원 검진이 어려운 사람일수록 위험이 높은 역설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01. 문제의식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우리의 접근 — 병원에 가기 전, 생활 기록으로 먼저 거른다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  <a:latin typeface="맑은 고딕"/>
              </a:rPr>
              <a:t>경도인지장애(MCI) — 기억력은 떨어졌지만 아직 혼자 일상생활이 가능한, 치매 바로 전 단계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  <a:latin typeface="맑은 고딕"/>
              </a:rPr>
              <a:t>이 단계에서 발견해야 진행을 늦출 수 있다 (연 10~15%가 치매로 진행)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  <a:latin typeface="맑은 고딕"/>
              </a:rPr>
              <a:t>그러나 병원 검진이 어려운 사람일수록 발견이 늦다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04281"/>
                </a:solidFill>
                <a:latin typeface="맑은 고딕"/>
              </a:rPr>
              <a:t>→ 웨어러블이 자동으로 쌓는 활동·수면 기록만으로 위험 신호를 걸러내,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04281"/>
                </a:solidFill>
                <a:latin typeface="맑은 고딕"/>
              </a:rPr>
              <a:t>   "병원에 가볼 이유가 있는지"를 먼저 알려주는 스크리닝 도구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66666"/>
                </a:solidFill>
                <a:latin typeface="맑은 고딕"/>
              </a:rPr>
              <a:t>진단이 아니라 스크리닝 — 진단·치료는 전적으로 의료기관의 영역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02. 데이터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AI Hub 치매 고위험군 웨어러블 라이프로그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737360"/>
          <a:ext cx="10515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8321040"/>
              </a:tblGrid>
              <a:tr h="76809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4281"/>
                          </a:solidFill>
                          <a:latin typeface="맑은 고딕"/>
                        </a:rPr>
                        <a:t>수집 도구</a:t>
                      </a:r>
                    </a:p>
                  </a:txBody>
                  <a:tcPr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맑은 고딕"/>
                        </a:rPr>
                        <a:t>Oura ring(반지형 웨어러블) — 일 단위 활동·수면 자동 기록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4281"/>
                          </a:solidFill>
                          <a:latin typeface="맑은 고딕"/>
                        </a:rPr>
                        <a:t>규모</a:t>
                      </a:r>
                    </a:p>
                  </a:txBody>
                  <a:tcPr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맑은 고딕"/>
                        </a:rPr>
                        <a:t>174명 × 사람당 28~118일 (평균 66일) = 11,499 사람×일 기록 (정제 후 기준)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4281"/>
                          </a:solidFill>
                          <a:latin typeface="맑은 고딕"/>
                        </a:rPr>
                        <a:t>진단 라벨</a:t>
                      </a:r>
                    </a:p>
                  </a:txBody>
                  <a:tcPr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맑은 고딕"/>
                        </a:rPr>
                        <a:t>정상(CN) 111명 · 경도인지장애(MCI) 51명 · 치매(Dem) 12명 — 의사 진단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4281"/>
                          </a:solidFill>
                          <a:latin typeface="맑은 고딕"/>
                        </a:rPr>
                        <a:t>분류 대상</a:t>
                      </a:r>
                    </a:p>
                  </a:txBody>
                  <a:tcPr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맑은 고딕"/>
                        </a:rPr>
                        <a:t>정상군  vs  위험군(경도인지장애+치매 63명)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4281"/>
                          </a:solidFill>
                          <a:latin typeface="맑은 고딕"/>
                        </a:rPr>
                        <a:t>입력 제외</a:t>
                      </a:r>
                    </a:p>
                  </a:txBody>
                  <a:tcPr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맑은 고딕"/>
                        </a:rPr>
                        <a:t>MMSE(병원에서 하는 간단한 인지 문답 검사, 30점 만점) — 진단에 이미 쓰인 '정답'이라 입력에서 제외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02. 전처리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하루 기록 11,499개를 '사람 단위 지표' 44개로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  <a:latin typeface="맑은 고딕"/>
              </a:rPr>
              <a:t>① 신뢰 필터 — 반지 미착용이 긴 날(180분 이상)은 그날 기록 전체를 제외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  <a:latin typeface="맑은 고딕"/>
              </a:rPr>
              <a:t>② 매칭 — 활동·수면 기록을 사람 기준으로 진단 결과와 연결 (174명 전원 확인)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  <a:latin typeface="맑은 고딕"/>
              </a:rPr>
              <a:t>③ 요약 — 사람 1명당 28~118일 기록을 지표별 평균(수준) + 표준편차(들쭉날쭉함)로 압축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04281"/>
                </a:solidFill>
                <a:latin typeface="맑은 고딕"/>
              </a:rPr>
              <a:t>→ 174명 × 44개 지표 테이블 완성 — 이후 모든 분석·모델·서비스가 이 표 하나에서 출발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66666"/>
                </a:solidFill>
                <a:latin typeface="맑은 고딕"/>
              </a:rPr>
              <a:t>전처리 기준은 전부 코드로 고정 — 같은 원본을 넣으면 누가 실행해도 같은 표가 나온다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02. 분석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Q1~Q6 — 검증을 통과해야 서비스로 간다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A78D6"/>
                </a:solidFill>
                <a:latin typeface="맑은 고딕"/>
              </a:rPr>
              <a:t>Q1·Q2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737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맑은 고딕"/>
              </a:rPr>
              <a:t>진단군별로 활동량·수면 패턴이 다른가?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50591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A78D6"/>
                </a:solidFill>
                <a:latin typeface="맑은 고딕"/>
              </a:rPr>
              <a:t>Q3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450591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맑은 고딕"/>
              </a:rPr>
              <a:t>병원 검사 없이 생활 기록만으로 위험군을 걸러낼 수 있는가?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63824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A78D6"/>
                </a:solidFill>
                <a:latin typeface="맑은 고딕"/>
              </a:rPr>
              <a:t>Q4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163824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맑은 고딕"/>
              </a:rPr>
              <a:t>어떤 생활 지표가 판별에 가장 크게 기여하는가?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77056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A78D6"/>
                </a:solidFill>
                <a:latin typeface="맑은 고딕"/>
              </a:rPr>
              <a:t>Q5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877056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02020"/>
                </a:solidFill>
                <a:latin typeface="맑은 고딕"/>
              </a:rPr>
              <a:t>그 신호는 치매를 빼고 경도인지장애만 남겨도 유지되는가?  ← 검증 게이트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590288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A78D6"/>
                </a:solidFill>
                <a:latin typeface="맑은 고딕"/>
              </a:rPr>
              <a:t>Q6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459028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02020"/>
                </a:solidFill>
                <a:latin typeface="맑은 고딕"/>
              </a:rPr>
              <a:t>그 성능은 우연이 아니라 통계적으로 의미 있는 수준인가?  ← 검증 게이트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486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66666"/>
                </a:solidFill>
                <a:latin typeface="맑은 고딕"/>
              </a:rPr>
              <a:t>계획서 원칙: Q5·Q6 검증 결과에 따라 서비스가 주장할 수 있는 범위를 정한다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03. 분석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첫 번째 반전 — 걸음수는 위험군이 오히려 많다</a:t>
            </a:r>
          </a:p>
        </p:txBody>
      </p:sp>
      <p:pic>
        <p:nvPicPr>
          <p:cNvPr id="5" name="Picture 4" descr="01_activity_by_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64208"/>
            <a:ext cx="5669280" cy="45354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7512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66666"/>
                </a:solidFill>
                <a:latin typeface="맑은 고딕"/>
              </a:rPr>
              <a:t>일평균 걸음수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C44E52"/>
                </a:solidFill>
                <a:latin typeface="맑은 고딕"/>
              </a:rPr>
              <a:t>정상 10,635  &lt;  경도인지장애 11,383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맑은 고딕"/>
              </a:rPr>
              <a:t>"활동량이 줄면 위험군"이라는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맑은 고딕"/>
              </a:rPr>
              <a:t>단순한 가설은 성립하지 않았다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104281"/>
                </a:solidFill>
                <a:latin typeface="맑은 고딕"/>
              </a:rPr>
              <a:t>→ 평균이 아니라,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104281"/>
                </a:solidFill>
                <a:latin typeface="맑은 고딕"/>
              </a:rPr>
              <a:t>   "날마다 얼마나 들쭉날쭉한가"로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104281"/>
                </a:solidFill>
                <a:latin typeface="맑은 고딕"/>
              </a:rPr>
              <a:t>   시선을 돌리게 된 계기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03. 분석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핵심 신호는 '생활 패턴의 불규칙함'이었다</a:t>
            </a:r>
          </a:p>
        </p:txBody>
      </p:sp>
      <p:pic>
        <p:nvPicPr>
          <p:cNvPr id="5" name="Picture 4" descr="04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554480"/>
            <a:ext cx="5705856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66666"/>
                </a:solidFill>
                <a:latin typeface="맑은 고딕"/>
              </a:rPr>
              <a:t>50번 반복 검증에서 가장 안정적으로 뽑힌 지표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202020"/>
                </a:solidFill>
                <a:latin typeface="맑은 고딕"/>
              </a:rPr>
              <a:t>1위  저강도 활동 시간의 변동성 (50/50회)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202020"/>
                </a:solidFill>
                <a:latin typeface="맑은 고딕"/>
              </a:rPr>
              <a:t>2위  수면 중 뒤척임의 변동성 (48/50회)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맑은 고딕"/>
              </a:rPr>
              <a:t>인지기능이 흔들리면, 매일 비슷하게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맑은 고딕"/>
              </a:rPr>
              <a:t>자고 움직이는 '일상 루틴 유지 능력'이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맑은 고딕"/>
              </a:rPr>
              <a:t>먼저 무너진다는 해석과 일치 (상관관계)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03. 분석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모델 성능 — 데이터를 50번 다르게 나눠 반복 시험한 평균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107289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2228"/>
                <a:gridCol w="2245577"/>
                <a:gridCol w="2245577"/>
                <a:gridCol w="2245578"/>
              </a:tblGrid>
              <a:tr h="594360">
                <a:tc>
                  <a:txBody>
                    <a:bodyPr/>
                    <a:lstStyle/>
                    <a:p/>
                  </a:txBody>
                  <a:tcPr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정확도</a:t>
                      </a:r>
                    </a:p>
                  </a:txBody>
                  <a:tcPr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위험군을 찾아낸 비율</a:t>
                      </a:r>
                    </a:p>
                  </a:txBody>
                  <a:tcPr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구분 능력 점수</a:t>
                      </a:r>
                    </a:p>
                  </a:txBody>
                  <a:tcPr>
                    <a:solidFill>
                      <a:srgbClr val="10428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맑은 고딕"/>
                        </a:rPr>
                        <a:t>아무 분석 없이 전부 "정상" 응답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맑은 고딕"/>
                        </a:rPr>
                        <a:t>63.8%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맑은 고딕"/>
                        </a:rPr>
                        <a:t>0%  (전원 놓침)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맑은 고딕"/>
                        </a:rPr>
                        <a:t>0.5 (동전 던지기)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맑은 고딕"/>
                        </a:rPr>
                        <a:t>복잡한 모델 (랜덤포레스트, 교체 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맑은 고딕"/>
                        </a:rPr>
                        <a:t>58.0%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맑은 고딕"/>
                        </a:rPr>
                        <a:t>38.7%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맑은 고딕"/>
                        </a:rPr>
                        <a:t>0.549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C44E52"/>
                          </a:solidFill>
                          <a:latin typeface="맑은 고딕"/>
                        </a:rPr>
                        <a:t>단순한 모델 (로지스틱 회귀, 최종 채택)</a:t>
                      </a:r>
                    </a:p>
                  </a:txBody>
                  <a:tcPr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C44E52"/>
                          </a:solidFill>
                          <a:latin typeface="맑은 고딕"/>
                        </a:rPr>
                        <a:t>60.2%</a:t>
                      </a:r>
                    </a:p>
                  </a:txBody>
                  <a:tcPr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C44E52"/>
                          </a:solidFill>
                          <a:latin typeface="맑은 고딕"/>
                        </a:rPr>
                        <a:t>52.7%</a:t>
                      </a:r>
                    </a:p>
                  </a:txBody>
                  <a:tcPr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C44E52"/>
                          </a:solidFill>
                          <a:latin typeface="맑은 고딕"/>
                        </a:rPr>
                        <a:t>0.601</a:t>
                      </a:r>
                    </a:p>
                  </a:txBody>
                  <a:tcPr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44805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4281"/>
                </a:solidFill>
                <a:latin typeface="맑은 고딕"/>
              </a:rPr>
              <a:t>스크리닝의 선택: 정확도 3.6%p를 내주고, 위험군의 절반 이상(52.7%)을 잡는다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02020"/>
                </a:solidFill>
                <a:latin typeface="맑은 고딕"/>
              </a:rPr>
              <a:t>· 위험군을 놓치면 → 병원 갈 기회 상실  /  정상인을 안내하면 → 무료 검진 한 번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02020"/>
                </a:solidFill>
                <a:latin typeface="맑은 고딕"/>
              </a:rPr>
              <a:t>· 로지스틱 회귀: 생활 지표마다 중요도를 매겨 점수를 합산 → "위험군일 확률 몇 %"로 답하는 가장 기본적인 예측 모델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02020"/>
                </a:solidFill>
                <a:latin typeface="맑은 고딕"/>
              </a:rPr>
              <a:t>· 랜덤포레스트: 예/아니오 질문을 이어가는 판단 나무 수백 그루의 다수결 — 유연하지만 작은 데이터에선 잡음까지 외운다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02020"/>
                </a:solidFill>
                <a:latin typeface="맑은 고딕"/>
              </a:rPr>
              <a:t>· 구분 능력 점수(AUC): 0.5면 동전 던지기, 1이면 완벽 — 의료 스크리닝의 표준 지표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02020"/>
                </a:solidFill>
                <a:latin typeface="맑은 고딕"/>
              </a:rPr>
              <a:t>· 174명의 작은 데이터에선 복잡한 모델보다 단순한 모델이 더 안정적이었다 — 3종 비교로 확인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04. 검증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Q5 — 치매 12명을 빼도 신호가 남는가?  →  아니오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맑은 고딕"/>
              </a:rPr>
              <a:t>치매를 완전히 제외하고 정상 111명 vs 경도인지장애 51명만으로 재검증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맑은 고딕"/>
              </a:rPr>
              <a:t>· 기존 44개 지표 → 정확도 55.3% (전부 "정상"이라 답하는 기준선 68.5%에도 미달)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맑은 고딕"/>
              </a:rPr>
              <a:t>· 시계열 지표 추가 → 여전히 미달   · 모델을 바꿔도 → 동일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C44E52"/>
                </a:solidFill>
                <a:latin typeface="맑은 고딕"/>
              </a:rPr>
              <a:t>세 번 시도, 같은 결론: 경도인지장애 '단독' 조기 신호는 현재 데이터로는 못 찾았다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04281"/>
                </a:solidFill>
                <a:latin typeface="맑은 고딕"/>
              </a:rPr>
              <a:t>검증이 실제로 한 일 — 서비스 주장 범위를 바꿨다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맑은 고딕"/>
              </a:rPr>
              <a:t>· "경도인지장애를 조기 진단한다"  →  사용 금지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맑은 고딕"/>
              </a:rPr>
              <a:t>· "위험군(경도인지장애+치매)을 걸러 검진으로 안내한다"  →  이 범위만 주장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04. 검증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Q6 — 우연은 아닌가?  →  구분 능력은 진짜다 (우연일 확률 0.6%)</a:t>
            </a:r>
          </a:p>
        </p:txBody>
      </p:sp>
      <p:pic>
        <p:nvPicPr>
          <p:cNvPr id="5" name="Picture 4" descr="11_permutation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44684"/>
            <a:ext cx="6949440" cy="2842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828800"/>
            <a:ext cx="4023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66666"/>
                </a:solidFill>
                <a:latin typeface="맑은 고딕"/>
              </a:rPr>
              <a:t>정답(진단 결과)을 일부러 뒤섞은 가짜 데이터 500개와 비교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104281"/>
                </a:solidFill>
                <a:latin typeface="맑은 고딕"/>
              </a:rPr>
              <a:t>정확도  p = 0.006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02020"/>
                </a:solidFill>
                <a:latin typeface="맑은 고딕"/>
              </a:rPr>
              <a:t>→ 우연히 나올 확률 0.6%. 통과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C44E52"/>
                </a:solidFill>
                <a:latin typeface="맑은 고딕"/>
              </a:rPr>
              <a:t>재현율  p = 0.132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02020"/>
                </a:solidFill>
                <a:latin typeface="맑은 고딕"/>
              </a:rPr>
              <a:t>→ 통계적으로 단정 불가.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02020"/>
                </a:solidFill>
                <a:latin typeface="맑은 고딕"/>
              </a:rPr>
              <a:t>→ 그래서 "52.7%를 잡아낸다"고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02020"/>
                </a:solidFill>
                <a:latin typeface="맑은 고딕"/>
              </a:rPr>
              <a:t>   수치를 못박지 않는다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0644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04281"/>
                </a:solidFill>
                <a:latin typeface="맑은 고딕"/>
              </a:rPr>
              <a:t>숫자를 좋게 만드는 대신, 말할 수 있는 것과 없는 것을 정확히 갈랐습니다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05. 서비스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웹 스크리닝 서비스(FastAPI) — 업로드에서 안내까지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4281"/>
                </a:solidFill>
                <a:latin typeface="맑은 고딕"/>
              </a:rPr>
              <a:t>①  생활 기록 CSV 업로드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719072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02020"/>
                </a:solidFill>
                <a:latin typeface="맑은 고딕"/>
              </a:rPr>
              <a:t>웨어러블에서 내려받은 기록 파일 · 유효 기록 14일 미만이면 판정하지 않음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3288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4281"/>
                </a:solidFill>
                <a:latin typeface="맑은 고딕"/>
              </a:rPr>
              <a:t>②  위험 점수 산출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256032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02020"/>
                </a:solidFill>
                <a:latin typeface="맑은 고딕"/>
              </a:rPr>
              <a:t>학습과 동일한 지표 계산 → 검증된 모델로 예측 (0~1 점수)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74136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4281"/>
                </a:solidFill>
                <a:latin typeface="맑은 고딕"/>
              </a:rPr>
              <a:t>③  판단 근거 제시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3401568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02020"/>
                </a:solidFill>
                <a:latin typeface="맑은 고딕"/>
              </a:rPr>
              <a:t>정상군 평균과 가장 크게 다른 지표 3가지를 그래프로 비교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15384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4281"/>
                </a:solidFill>
                <a:latin typeface="맑은 고딕"/>
              </a:rPr>
              <a:t>④  치매안심센터 연결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4242816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02020"/>
                </a:solidFill>
                <a:latin typeface="맑은 고딕"/>
              </a:rPr>
              <a:t>공공데이터포털 전국 317곳 연동 — 내 위치 기준 가까운 순, 지도 표시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5663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4281"/>
                </a:solidFill>
                <a:latin typeface="맑은 고딕"/>
              </a:rPr>
              <a:t>⑤  한계 고지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5084064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02020"/>
                </a:solidFill>
                <a:latin typeface="맑은 고딕"/>
              </a:rPr>
              <a:t>"진단이 아닌 참고용 · 표본 174명" — 모든 결과 화면에 명시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43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</a:rPr>
              <a:t>모델 파일만 갈아끼우면 서비스가 그대로 새 모델을 쓰는 구조 — 데이터가 좋아지면 즉시 반영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05. 서비스 시연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시연 순서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202020"/>
                </a:solidFill>
                <a:latin typeface="맑은 고딕"/>
              </a:rPr>
              <a:t>1.  정상군 샘플 업로드  →  위험 점수 0.29, "뚜렷한 위험 신호 없음"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202020"/>
                </a:solidFill>
                <a:latin typeface="맑은 고딕"/>
              </a:rPr>
              <a:t>2.  위험군 샘플 업로드  →  위험 점수 0.644, "위험군 추정"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66666"/>
                </a:solidFill>
                <a:latin typeface="맑은 고딕"/>
              </a:rPr>
              <a:t>     · 근거: 활동/수면 변동성이 정상군 평균 대비 높음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202020"/>
                </a:solidFill>
                <a:latin typeface="맑은 고딕"/>
              </a:rPr>
              <a:t>3.  "내 위치에서 가까운 센터 찾기"  →  지도에 가까운 치매안심센터 5곳 + 전화번호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</a:rPr>
              <a:t>다음 두 페이지가 실제 서비스 화면 — 발표에서는 라이브 시연을 우선하고, 시연이 어려우면 화면으로 대체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05. 서비스 시연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시연 화면 ① — 업로드 → 위험 점수 → 판단 근거</a:t>
            </a:r>
          </a:p>
        </p:txBody>
      </p:sp>
      <p:pic>
        <p:nvPicPr>
          <p:cNvPr id="10" name="Picture 10"/>
          <p:cNvPicPr/>
          <p:nvPr/>
        </p:nvPicPr>
        <p:blipFill>
          <a:blip r:embed="rId2"/>
          <a:stretch>
            <a:fillRect/>
          </a:stretch>
        </p:blipFill>
        <p:spPr>
          <a:xfrm>
            <a:off x="710314" y="1645920"/>
            <a:ext cx="5550942" cy="4114800"/>
          </a:xfrm>
          <a:prstGeom prst="rect">
            <a:avLst/>
          </a:prstGeom>
        </p:spPr>
      </p:pic>
      <p:pic>
        <p:nvPicPr>
          <p:cNvPr id="11" name="Picture 11"/>
          <p:cNvPicPr/>
          <p:nvPr/>
        </p:nvPicPr>
        <p:blipFill>
          <a:blip r:embed="rId3"/>
          <a:stretch>
            <a:fillRect/>
          </a:stretch>
        </p:blipFill>
        <p:spPr>
          <a:xfrm>
            <a:off x="6581296" y="1645920"/>
            <a:ext cx="4900389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05. 서비스 시연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시연 화면 ② — 내 기록 추이 → 치매안심센터 안내</a:t>
            </a:r>
          </a:p>
        </p:txBody>
      </p:sp>
      <p:pic>
        <p:nvPicPr>
          <p:cNvPr id="10" name="Picture 10"/>
          <p:cNvPicPr/>
          <p:nvPr/>
        </p:nvPicPr>
        <p:blipFill>
          <a:blip r:embed="rId2"/>
          <a:stretch>
            <a:fillRect/>
          </a:stretch>
        </p:blipFill>
        <p:spPr>
          <a:xfrm>
            <a:off x="1221553" y="1645920"/>
            <a:ext cx="4744601" cy="4389120"/>
          </a:xfrm>
          <a:prstGeom prst="rect">
            <a:avLst/>
          </a:prstGeom>
        </p:spPr>
      </p:pic>
      <p:pic>
        <p:nvPicPr>
          <p:cNvPr id="11" name="Picture 11"/>
          <p:cNvPicPr/>
          <p:nvPr/>
        </p:nvPicPr>
        <p:blipFill>
          <a:blip r:embed="rId3"/>
          <a:stretch>
            <a:fillRect/>
          </a:stretch>
        </p:blipFill>
        <p:spPr>
          <a:xfrm>
            <a:off x="6331914" y="1645920"/>
            <a:ext cx="4638532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06. 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5일 동안 만든 것은 숫자가 아니라, 믿을 수 있는 절차입니다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A78D6"/>
                </a:solidFill>
                <a:latin typeface="맑은 고딕"/>
              </a:rPr>
              <a:t>확인한 것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맑은 고딕"/>
              </a:rPr>
              <a:t>· 활동량 평균이 아니라 "생활 패턴의 불규칙함"이 위험군을 가른다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맑은 고딕"/>
              </a:rPr>
              <a:t>· 그 구분 능력은 우연이 아니다 (우연일 확률 0.6%)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2A78D6"/>
                </a:solidFill>
                <a:latin typeface="맑은 고딕"/>
              </a:rPr>
              <a:t>한계 — 숨기지 않고 명시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맑은 고딕"/>
              </a:rPr>
              <a:t>· 표본 174명(치매 12명), 한 지역(광주)·한 시기 데이터 — 일반화에는 더 큰 데이터 필요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맑은 고딕"/>
              </a:rPr>
              <a:t>· 경도인지장애 단독 조기 신호는 미확인 · 재현율 수치는 통계적으로 미확정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2A78D6"/>
                </a:solidFill>
                <a:latin typeface="맑은 고딕"/>
              </a:rPr>
              <a:t>그래서 진짜 산출물은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04281"/>
                </a:solidFill>
                <a:latin typeface="맑은 고딕"/>
              </a:rPr>
              <a:t>· "시험 문제를 미리 본 셈"인 데이터 누수 실수를 스스로 찾아 고치고, 우연 여부까지 검증한 분석 절차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04281"/>
                </a:solidFill>
                <a:latin typeface="맑은 고딕"/>
              </a:rPr>
              <a:t>· 병원·기관의 정식 데이터가 들어오면 코드 수정 없이 그대로 재학습·재검증 가능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06. 확장 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스크리닝에서 끝나지 않는다 — 2단계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04281"/>
                </a:solidFill>
                <a:latin typeface="맑은 고딕"/>
              </a:rPr>
              <a:t>1단계 (이번 구현)  —  스크리닝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맑은 고딕"/>
              </a:rPr>
              <a:t>생활 기록 업로드 → 위험 신호 확인 → 치매안심센터 연결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104281"/>
                </a:solidFill>
                <a:latin typeface="맑은 고딕"/>
              </a:rPr>
              <a:t>2단계 (사업 확장 방향)  —  웨어러블 연계 모니터링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맑은 고딕"/>
              </a:rPr>
              <a:t>· 위험군 판정자가 웨어러블을 계속 착용, 악화 시점을 놓치지 않고 재안내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맑은 고딕"/>
              </a:rPr>
              <a:t>· 데이터 적재·재학습 루프는 이번에 구현 완료 — 검진 결과가 연결될수록 모델이 계속 좋아지는 구조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맑은 고딕"/>
              </a:rPr>
              <a:t>· 요양기관·치매안심센터 제휴, 개인/기관용 구독형 대시보드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66666"/>
                </a:solidFill>
                <a:latin typeface="맑은 고딕"/>
              </a:rPr>
              <a:t>필요한 것: 더 큰 정식 데이터 · 나이/성별/학력 정보 · 실제 발병 여부를 따라가는 추적 검증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BFD4F0"/>
                </a:solidFill>
                <a:latin typeface="맑은 고딕"/>
              </a:rPr>
              <a:t>Q&amp;A  |  팀 찾아조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05. 서비스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업로드는 사라지지 않는다 — 적재·재학습 파이프라인 (구현 완료)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04281"/>
                </a:solidFill>
                <a:latin typeface="맑은 고딕"/>
              </a:rPr>
              <a:t>①  업로드 자동 적재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719072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02020"/>
                </a:solidFill>
                <a:latin typeface="맑은 고딕"/>
              </a:rPr>
              <a:t>예측과 동시에 DB에 익명 저장 — 일 단위 기록 + 예측 결과 (개인 식별 정보 없음)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04281"/>
                </a:solidFill>
                <a:latin typeface="맑은 고딕"/>
              </a:rPr>
              <a:t>②  검진 결과 연결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496312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02020"/>
                </a:solidFill>
                <a:latin typeface="맑은 고딕"/>
              </a:rPr>
              <a:t>위험군 안내를 받고 검진한 사용자의 확진 결과를 기관이 입력 (API 구현)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04281"/>
                </a:solidFill>
                <a:latin typeface="맑은 고딕"/>
              </a:rPr>
              <a:t>③  재학습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273552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02020"/>
                </a:solidFill>
                <a:latin typeface="맑은 고딕"/>
              </a:rPr>
              <a:t>확진 라벨이 붙은 데이터만 기존 174명과 결합 — 같은 무누수 검증 절차로 재학습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04281"/>
                </a:solidFill>
                <a:latin typeface="맑은 고딕"/>
              </a:rPr>
              <a:t>④  모델 교체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4050792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02020"/>
                </a:solidFill>
                <a:latin typeface="맑은 고딕"/>
              </a:rPr>
              <a:t>기존 모델 자동 백업 후 교체 → 서비스 재시작만 하면 새 모델 적용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02020"/>
                </a:solidFill>
                <a:latin typeface="맑은 고딕"/>
              </a:rPr>
              <a:t>원칙: 확진 라벨 없는 데이터는 학습에 쓰지 않는다 — 모델이 자기 예측을 정답처럼 배우는 오염 방지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2A78D6"/>
                </a:solidFill>
                <a:latin typeface="맑은 고딕"/>
              </a:rPr>
              <a:t>"지금 174명이라는 한계는, 서비스가 돌수록 스스로 풀리는 구조입니다"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